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3"/>
  </p:notesMasterIdLst>
  <p:sldIdLst>
    <p:sldId id="257" r:id="rId2"/>
    <p:sldId id="415" r:id="rId3"/>
    <p:sldId id="429" r:id="rId4"/>
    <p:sldId id="397" r:id="rId5"/>
    <p:sldId id="430" r:id="rId6"/>
    <p:sldId id="431"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6" r:id="rId20"/>
    <p:sldId id="419" r:id="rId21"/>
    <p:sldId id="420" r:id="rId22"/>
    <p:sldId id="421" r:id="rId23"/>
    <p:sldId id="447" r:id="rId24"/>
    <p:sldId id="448" r:id="rId25"/>
    <p:sldId id="449" r:id="rId26"/>
    <p:sldId id="450" r:id="rId27"/>
    <p:sldId id="451" r:id="rId28"/>
    <p:sldId id="422" r:id="rId29"/>
    <p:sldId id="423" r:id="rId30"/>
    <p:sldId id="424" r:id="rId31"/>
    <p:sldId id="42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ou min yuan" initials="zmy" lastIdx="2" clrIdx="0">
    <p:extLst>
      <p:ext uri="{19B8F6BF-5375-455C-9EA6-DF929625EA0E}">
        <p15:presenceInfo xmlns:p15="http://schemas.microsoft.com/office/powerpoint/2012/main" userId="a5ff18600d6f3b0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D78"/>
    <a:srgbClr val="FFFC00"/>
    <a:srgbClr val="E9E84B"/>
    <a:srgbClr val="E1E94E"/>
    <a:srgbClr val="E8E36C"/>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82785" autoAdjust="0"/>
  </p:normalViewPr>
  <p:slideViewPr>
    <p:cSldViewPr snapToGrid="0">
      <p:cViewPr varScale="1">
        <p:scale>
          <a:sx n="104" d="100"/>
          <a:sy n="104" d="100"/>
        </p:scale>
        <p:origin x="872" y="19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6" d="100"/>
          <a:sy n="86" d="100"/>
        </p:scale>
        <p:origin x="3928"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6:57.888"/>
    </inkml:context>
    <inkml:brush xml:id="br0">
      <inkml:brushProperty name="width" value="0.1" units="cm"/>
      <inkml:brushProperty name="height" value="0.1" units="cm"/>
      <inkml:brushProperty name="color" value="#AE198D"/>
      <inkml:brushProperty name="inkEffects" value="galaxy"/>
      <inkml:brushProperty name="anchorX" value="-24003.69727"/>
      <inkml:brushProperty name="anchorY" value="-15864.7207"/>
      <inkml:brushProperty name="scaleFactor" value="0.5"/>
    </inkml:brush>
  </inkml:definitions>
  <inkml:trace contextRef="#ctx0" brushRef="#br0">169 197 24575,'29'0'0,"5"0"0,10 0 0,28 0 0,-25 0 0,14 0 0,-35 0 0,-4-1 0,-2-1 0,-1 0 0,0 0 0,-1 2 0,1 0 0,-1 0 0,-2 0 0,-2 0 0,-2 0 0,-2-1 0,-1-1 0,0 0 0,-1 0 0,0 2 0,-2-2 0,1 1 0,-1-2 0,1 0 0,2 1 0,-2 0 0,0-1 0,-1 1 0,1 0 0,0 0 0,1 2 0,1 0 0,0 0 0,1 0 0,1 0 0,-1 0 0,2 0 0,-1-1 0,3-1 0,2 0 0,1 0 0,2 2 0,0 0 0,-2 0 0,-1 0 0,0 0 0,-2 0 0,1 0 0,-1 0 0,-4 0 0,-4 0 0,-6 0 0,-7 0 0,-14 0 0,-16 0 0,-16 0 0,-10 0 0,2 0 0,7 0 0,7-2 0,7-1 0,8-1 0,6-1 0,7 0 0,3 0 0,3 1 0,2 0 0,0 2 0,0 0 0,1 0 0,0-1 0,-2-1 0,-2 0 0,-2 1 0,-2 0 0,-2 1 0,-1 1 0,-4 1 0,-1-1 0,-2-2 0,-1 1 0,0 0 0,4-1 0,-2 2 0,2-3 0,1 1 0,1 0 0,6 0 0,2 0 0,1 0 0,0 0 0,0 0 0,1 0 0,0 1 0,1 0 0,2 2 0,2-2 0,3 0 0,0-1 0,5-1 0,5 2 0,12 1 0,14 1 0,11 0 0,8 0 0,2 0 0,-4 0 0,-2 0 0,-6 0 0,-4 0 0,-6 0 0,-6 0 0,-3 0 0,-2 0 0,0 0 0,0 0 0,-1-1 0,4-2 0,-1-1 0,4-2 0,-1 0 0,-2 1 0,-1 0 0,-2 1 0,-1 2 0,-1 0 0,-2 2 0,-2 0 0,-1 0 0,2 0 0,1 0 0,2 0 0,2 0 0,0 0 0,-1 0 0,1 0 0,-2 0 0,-2 0 0,-3 0 0,-2 0 0,-2 0 0,0 0 0,0 0 0,2 0 0,0 0 0,2 0 0,2 0 0,3 0 0,0 0 0,-1 0 0,0 0 0,-4 0 0,-4 2 0,-4 1 0,-3 3 0,-1 2 0,-1 1 0,-6 2 0,-6 0 0,-8 3 0,-3 0 0,1 1 0,2 1 0,1-1 0,2-2 0,-1-1 0,0-3 0,2-3 0,1-1 0,-1-2 0,1-1 0,-2 0 0,-1-2 0,0 0 0,1 0 0,0 0 0,1 0 0,1 0 0,0 0 0,-4 0 0,0-2 0,1 0 0,1 0 0,3-1 0,0 0 0,1 0 0,-1-1 0,-1 3 0,-2 0 0,-1-1 0,1 0 0,-6 0 0,-3 1 0,-9 0 0,-6 1 0,0 0 0,1 0 0,7 0 0,7 0 0,5 0 0,5 0 0,3 0 0,4 0 0,4 0 0,1 0 0,1 0 0,-1 0 0,0 0 0,0 0 0,-2 0 0,-1 0 0,-1 0 0,-4 0 0,0 0 0,-1 0 0,2 0 0,4 0 0,3 2 0,3 1 0,2 2 0,0 1 0,0 1 0,0-2 0,0 1 0,0 0 0,0 0 0,0 0 0,0 1 0,0-2 0,0-1 0,0 0 0,0-1 0,0 1 0,0-1 0,1 1 0,1-1 0,0 1 0,2-2 0,0 0 0,1-2 0,2 0 0,3 0 0,4 0 0,5-2 0,5-2 0,4-2 0,1-3 0,1 2 0,-3-1 0,-2 0 0,-4 2 0,-2 1 0,0-1 0,1 1 0,1-3 0,1 0 0,0 0 0,-2 1 0,-2 2 0,1 1 0,0 0 0,-1 1 0,4-1 0,0 2 0,2 0 0,3 2 0,1 0 0,5 0 0,4 0 0,2 0 0,0 0 0,-1 0 0,-7 0 0,-5 0 0,-4 0 0,-3 0 0,-1 0 0,-3 0 0,-2 0 0,-4 0 0,-2 0 0,1 0 0,0 0 0,1 0 0,0 0 0,-1 0 0,-3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21.159"/>
    </inkml:context>
    <inkml:brush xml:id="br0">
      <inkml:brushProperty name="width" value="0.1" units="cm"/>
      <inkml:brushProperty name="height" value="0.1" units="cm"/>
      <inkml:brushProperty name="color" value="#AE198D"/>
      <inkml:brushProperty name="inkEffects" value="galaxy"/>
      <inkml:brushProperty name="anchorX" value="-7960.04053"/>
      <inkml:brushProperty name="anchorY" value="-11059.38477"/>
      <inkml:brushProperty name="scaleFactor" value="0.5"/>
    </inkml:brush>
  </inkml:definitions>
  <inkml:trace contextRef="#ctx0" brushRef="#br0">1 0 24575,'59'0'0,"36"0"0,-29 0 0,4 0 0,7 0 0,-2 0 0,-9 0 0,-4 0 0,30 0 0,-34 0 0,-19 0 0,-10 0 0,2 0 0,-7 0 0,-3 0 0,-4 0 0,-1 2 0,0 0 0,4 0 0,9 0 0,11-2 0,11 0 0,4 0 0,0 0 0,-5 0 0,-9 0 0,-5 0 0,-5 0 0,-2 0 0,0 0 0,-2 0 0,-1 0 0,0 0 0,-1 0 0,-1 0 0,0 0 0,-1 0 0,-1 0 0,1 0 0,3 0 0,5 0 0,4 0 0,1 0 0,-2 0 0,-2 0 0,1 0 0,1 0 0,4 0 0,1 0 0,-1 0 0,0 0 0,-4 0 0,-2 0 0,-2 0 0,-4 0 0,-2 0 0,-2 0 0,1 0 0,4 0 0,4 0 0,1 0 0,-4 0 0,-2 0 0,-5 0 0,0 0 0,3 0 0,5 0 0,6 0 0,6 0 0,5 0 0,-2 0 0,-1 0 0,-3 0 0,-3 0 0,-1 0 0,-3 0 0,-2 0 0,-5 0 0,-4 0 0,-4 0 0,-2 2 0,0 0 0,0 0 0,4 0 0,2-2 0,4 0 0,3 0 0,0 0 0,0 0 0,-1 0 0,-4 0 0,-1 0 0,-1 0 0,-4 0 0,-2 0 0,-6 1 0,-3 1 0,-2 0 0,-1 0 0,-1-2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18.149"/>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30 92 24575,'61'0'0,"-1"1"0,-8 2 0,2 1 0,37 2 0,4 1 0,-21 1 0,-4 1 0,-5 0 0,-2 1 0,-7-2 0,-3 1 0,43 7 0,-13-1 0,-5 0 0,-16-3 0,-18-3 0,-11-1 0,-8-3 0,-4 0 0,-4-1 0,-4 0 0,-1 0 0,0 0 0,3 0 0,3-1 0,5 1 0,1-2 0,-3 1 0,-2-3 0,-3 0 0,-3 0 0,-3 0 0,-2 0 0,1 0 0,0 0 0,1-1 0,1-2 0,2-2 0,2-1 0,3-1 0,0 1 0,1 1 0,-1 0 0,-3 2 0,-4 0 0,-2 1 0,-4 0 0,1 0 0,-1-2 0,1-2 0,0-2 0,2-1 0,3-4 0,1-4 0,5-6 0,8-10 0,7-2 0,1 2 0,-3 8 0,-10 10 0,-10 8 0,-9 3 0,-11 3 0,-7 5 0,-6 3 0,-7 6 0,-9 4 0,-11-1 0,-3-1 0,3-5 0,8-5 0,9-3 0,7-2 0,4 0 0,1 0 0,2 0 0,1 0 0,3 0 0,1 0 0,0 0 0,1 0 0,0 0 0,-1-2 0,0 0 0,0-2 0,0 0 0,0 2 0,0 0 0,-4 2 0,-4 0 0,-5 0 0,-5 0 0,-1 0 0,1 0 0,3 0 0,3 0 0,0 0 0,3 0 0,0 0 0,2 0 0,2 0 0,-1 0 0,1 0 0,0 0 0,1 0 0,2 0 0,2 0 0,-2 0 0,0 0 0,-4 0 0,-5 0 0,-5 0 0,-9 0 0,-6 5 0,-2 4 0,3 3 0,3 1 0,3-4 0,3-2 0,3-3 0,3-2 0,5-1 0,1-1 0,2 0 0,-1 0 0,-3 0 0,-1 0 0,-5 0 0,1 0 0,-1 0 0,1 0 0,2 0 0,2 1 0,6 1 0,3 0 0,6 0 0,3 1 0,3-1 0,1 0 0,1-1 0,1 0 0,0 1 0,12 0 0,10 0 0,18-5 0,3-4 0,4-4 0,-3-3 0,1 2 0,5 1 0,4 3 0,5 4 0,6 2 0,3 2 0,-4 0 0,-5 0 0,-8 0 0,-8 0 0,-10 0 0,-7 0 0,-4 0 0,-3 0 0,-2 0 0,-2 0 0,-2 0 0,-2 0 0,0 2 0,2 2 0,4 1 0,6 1 0,4 1 0,2 0 0,0 0 0,-2 0 0,-1 0 0,-2-1 0,-2-2 0,-2-2 0,-2-2 0,0 2 0,-1 0 0,-1 0 0,-2 0 0,-1 0 0,-2 0 0,1 1 0,2 1 0,3-1 0,5 1 0,3 1 0,3-1 0,0 0 0,-2 0 0,-3 1 0,-3-1 0,-4 0 0,0-1 0,-2 0 0,1-2 0,1-1 0,0 0 0,2 0 0,0 0 0,1 0 0,-3 0 0,-2 0 0,-2 0 0,-1 0 0,1 0 0,2 2 0,2 0 0,1 0 0,0 0 0,-2-2 0,-2 1 0,-4 1 0,-1 0 0,-3 0 0,-1-2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25.589"/>
    </inkml:context>
    <inkml:brush xml:id="br0">
      <inkml:brushProperty name="width" value="0.1" units="cm"/>
      <inkml:brushProperty name="height" value="0.1" units="cm"/>
      <inkml:brushProperty name="color" value="#AE198D"/>
      <inkml:brushProperty name="inkEffects" value="galaxy"/>
      <inkml:brushProperty name="anchorX" value="-17572.79688"/>
      <inkml:brushProperty name="anchorY" value="-21528.66992"/>
      <inkml:brushProperty name="scaleFactor" value="0.5"/>
    </inkml:brush>
  </inkml:definitions>
  <inkml:trace contextRef="#ctx0" brushRef="#br0">0 1 24575,'15'0'0,"4"0"0,7 0 0,5 0 0,1 0 0,-2 0 0,-5 0 0,2 0 0,-3 0 0,-4 0 0,-3 0 0,-6 0 0,-2 0 0,0 0 0,-2 0 0,-1 0 0,-1 0 0,1 0 0,-1 0 0,0 0 0,1 0 0,0 0 0,0 0 0,2 0 0,1 0 0,3 0 0,4 0 0,5 0 0,3 0 0,4 0 0,1 0 0,-4 0 0,-2 0 0,-4 0 0,1 0 0,1 0 0,2 0 0,1 0 0,2 0 0,-1 0 0,1 0 0,-2 0 0,-3 0 0,-3 0 0,-2 0 0,-1 0 0,-3 0 0,-1 0 0,-2 0 0,3 0 0,2 1 0,1 3 0,1 1 0,3 0 0,2-1 0,3-2 0,2 0 0,0-1 0,-1 0 0,0 2 0,-2-1 0,0 0 0,-1 0 0,1 0 0,2 0 0,1 1 0,2-1 0,3 0 0,3 2 0,4-1 0,4 1 0,-1 1 0,-3-1 0,-5 1 0,-8-3 0,-2 0 0,-2-2 0,-3 0 0,0 2 0,-1 0 0,-1 0 0,0 0 0,2-2 0,4 0 0,6 0 0,6 0 0,1 0 0,-1 0 0,-5 0 0,-4 0 0,-2 0 0,-5 0 0,-3 0 0,-3 0 0,0 0 0,1 0 0,5 0 0,10 0 0,6 0 0,3-2 0,-3-1 0,-7-1 0,-4 0 0,-2 2 0,-4 0 0,-1 2 0,1-1 0,-1-1 0,1 0 0,4 0 0,2 0 0,3-2 0,5-1 0,6-1 0,6-1 0,6 2 0,1-1 0,-3 1 0,-7 3 0,-8 0 0,-6 2 0,-1-1 0,-2-1 0,0-1 0,1 2 0,0 1 0,2 0 0,-3 0 0,-2 0 0,-2 0 0,-3 0 0,0 0 0,0 0 0,1 0 0,2 0 0,1 0 0,2 0 0,-3 0 0,-1 0 0,-5 0 0,-2 0 0,-4 0 0,-1 0 0,0 0 0,-2 0 0,1 0 0,0 0 0,0 0 0,0 0 0,1 0 0,0 0 0,3 0 0,1 0 0,0 0 0,0 0 0,-1 0 0,1 0 0,0 0 0,-2 0 0,-2 0 0,-3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26.623"/>
    </inkml:context>
    <inkml:brush xml:id="br0">
      <inkml:brushProperty name="width" value="0.1" units="cm"/>
      <inkml:brushProperty name="height" value="0.1" units="cm"/>
      <inkml:brushProperty name="color" value="#AE198D"/>
      <inkml:brushProperty name="inkEffects" value="galaxy"/>
      <inkml:brushProperty name="anchorX" value="-27207.70703"/>
      <inkml:brushProperty name="anchorY" value="-31917.2832"/>
      <inkml:brushProperty name="scaleFactor" value="0.5"/>
    </inkml:brush>
  </inkml:definitions>
  <inkml:trace contextRef="#ctx0" brushRef="#br0">1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28.045"/>
    </inkml:context>
    <inkml:brush xml:id="br0">
      <inkml:brushProperty name="width" value="0.1" units="cm"/>
      <inkml:brushProperty name="height" value="0.1" units="cm"/>
      <inkml:brushProperty name="color" value="#AE198D"/>
      <inkml:brushProperty name="inkEffects" value="galaxy"/>
      <inkml:brushProperty name="anchorX" value="-34928.48828"/>
      <inkml:brushProperty name="anchorY" value="-42300.71094"/>
      <inkml:brushProperty name="scaleFactor" value="0.5"/>
    </inkml:brush>
  </inkml:definitions>
  <inkml:trace contextRef="#ctx0" brushRef="#br0">1 10 24575,'24'0'0,"9"0"0,11 0 0,9-3 0,-1 1 0,-6-1 0,-11 2 0,-10 1 0,-9 0 0,-4 0 0,-1 0 0,-1 0 0,0 0 0,2 0 0,2 0 0,6 0 0,6 0 0,2 0 0,-1 0 0,-5 0 0,-3 0 0,-3 0 0,0 0 0,0 0 0,0 0 0,0 0 0,0 0 0,1 0 0,-1 0 0,0 0 0,0 0 0,0 2 0,1 0 0,2 0 0,0 1 0,-1-1 0,-1 0 0,-1 0 0,-3-1 0,-2-1 0,-1 2 0,0 0 0,0 0 0,-1-1 0,-2-1 0,0 0 0,2 0 0,3 2 0,5 0 0,2 0 0,-1 0 0,1-2 0,-3 2 0,-2 0 0,-5 0 0,-4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2:34:55.487"/>
    </inkml:context>
    <inkml:brush xml:id="br0">
      <inkml:brushProperty name="width" value="0.1" units="cm"/>
      <inkml:brushProperty name="height" value="0.1" units="cm"/>
      <inkml:brushProperty name="color" value="#AE198D"/>
      <inkml:brushProperty name="inkEffects" value="galaxy"/>
      <inkml:brushProperty name="anchorX" value="-43686.47266"/>
      <inkml:brushProperty name="anchorY" value="-52713.67188"/>
      <inkml:brushProperty name="scaleFactor" value="0.5"/>
    </inkml:brush>
  </inkml:definitions>
  <inkml:trace contextRef="#ctx0" brushRef="#br0">1 0 24575,'18'0'0,"3"0"0,1 0 0,8 0 0,0 0 0,5 0 0,5 0 0,1 0 0,2 0 0,-6 0 0,-7 0 0,-7 0 0,-5 0 0,-2 0 0,0 0 0,0 0 0,0 0 0,0 0 0,-3 0 0,-1 0 0,-2 0 0,0 0 0,0 0 0,2 0 0,2 0 0,0 0 0,0 0 0,-1 0 0,0 0 0,1 0 0,-1 0 0,2 0 0,3 0 0,2 0 0,2 0 0,1 0 0,0 0 0,-1 0 0,1 0 0,0 0 0,1 0 0,0 0 0,-1 0 0,-1 0 0,-1 0 0,-1 0 0,-1 0 0,-2 0 0,-1 0 0,0 0 0,0 0 0,0 0 0,1 0 0,-1 0 0,0 0 0,-1 0 0,-1 0 0,0 0 0,0 0 0,0 0 0,-1 0 0,-2 0 0,-3 0 0,0 0 0,-1 0 0,0 0 0,1 0 0,-1 0 0,2 0 0,0 0 0,1 0 0,-1 0 0,1 0 0,1 0 0,-1 0 0,1 0 0,-1 0 0,0 0 0,0 0 0,0 0 0,-1 0 0,1 0 0,-1 0 0,0 0 0,-2 0 0,2 0 0,0 0 0,0 0 0,0 0 0,0 0 0,0 0 0,0 0 0,0 0 0,0 0 0,1 0 0,-1 0 0,-1 0 0,0 0 0,0 0 0,-1 0 0,1 0 0,1 0 0,-1 0 0,-1 0 0,-1 0 0,0 0 0,0 0 0,1 0 0,-2 0 0,1 0 0,0 0 0,-2 0 0,0 2 0,0 0 0,0 0 0,0 1 0,-1 0 0,-1 0 0,-2 3 0,0-2 0,0-2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7:30.466"/>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11 96 24575,'16'0'0,"0"0"0,-1 0 0,0 0 0,0-2 0,-2 0 0,-2 0 0,-3 1 0,-2 0 0,0 0 0,-1-1 0,1 1 0,3 0 0,2 1 0,7 0 0,11 0 0,16 0 0,13 0 0,9 0 0,2 0 0,-5 0 0,-3 0 0,-9 0 0,-11 0 0,-10 0 0,-10 0 0,-4 0 0,-4 0 0,-1 0 0,-2 0 0,0 0 0,0 0 0,3 0 0,0 0 0,6 0 0,5 0 0,5 1 0,5 2 0,1-1 0,3 1 0,1 0 0,-1 1 0,-3-1 0,-2-1 0,0-1 0,-1-1 0,-3 0 0,-1 1 0,-1 1 0,-1 0 0,2 0 0,-2 0 0,3-1 0,2 2 0,-2 0 0,1-1 0,1 1 0,0 1 0,2 0 0,1 2 0,2-1 0,2 0 0,2 0 0,6-1 0,8-2 0,8-1 0,7-1 0,0 0 0,-2 0 0,-4 0 0,-6 0 0,-6 0 0,-6 0 0,-7 0 0,-8 0 0,-4 0 0,0 0 0,5 0 0,5 0 0,7 0 0,6 0 0,6 0 0,8 0 0,8-2 0,5-2 0,3-3 0,3-2 0,4 0 0,5 0 0,-44 4 0,1 1 0,-2-1 0,1 1 0,42-5 0,-9 0 0,-11 2 0,-10 3 0,-15 1 0,-10 0 0,-3 1 0,-2-1 0,8-1 0,10-1 0,13 0 0,17-2 0,8 0 0,4-3 0,-8 1 0,-16 1 0,-16 4 0,-17 1 0,-10 2 0,-6 0 0,-4 1 0,-3 0 0,-3 0 0,-2 0 0,0 0 0,-1 2 0,0 2 0,-2 0 0,-1 2 0,0 0 0,0 0 0,-3 1 0,-4 1 0,-6 0 0,-5 1 0,-2 1 0,-1-1 0,-1 0 0,0-1 0,0-3 0,-1-2 0,-2-2 0,-6-1 0,-3 0 0,-3 0 0,-1-2 0,2-1 0,1-5 0,-1-3 0,1-1 0,-4-1 0,-2 2 0,-7 3 0,-14 2 0,-18 5 0,27 1 0,-2 0 0,-4-1 0,-2 2 0,-3 0 0,1 1 0,1 2 0,2 0 0,8 0 0,3 0 0,-36 3 0,21-4 0,19-3 0,12 0 0,2 0 0,-6 0 0,-15 2 0,-19 2 0,-16 5 0,39-4 0,-1 0 0,1 0 0,1 0 0,-37 4 0,18-4 0,19 0 0,14-1 0,13-2 0,6-1 0,3-1 0,1 2 0,0 0 0,1 0 0,0-1 0,-2-1 0,-1 0 0,-5 2 0,-3 1 0,-7 1 0,-7 1 0,-8 0 0,-4 2 0,-1-1 0,0-1 0,4-1 0,2-2 0,2-1 0,4-1 0,2 2 0,1 0 0,-1 0 0,-1 1 0,1 0 0,-1 1 0,-1 1 0,-3-1 0,-5 1 0,-5-1 0,-7 0 0,-5 1 0,-5-1 0,-1 1 0,-1-1 0,3 0 0,2-1 0,-1 0 0,0 0 0,-1-1 0,-1-1 0,-1-1 0,-1 0 0,3 0 0,2 0 0,5 0 0,7 0 0,7 0 0,10 0 0,8 0 0,4 0 0,3 0 0,2 0 0,1 0 0,1 0 0,1 0 0,1 0 0,0 0 0,2 0 0,1 0 0,1 0 0,0 0 0,1-2 0,-2 0 0,0-2 0,2-2 0,0 0 0,3-1 0,3-1 0,0 0 0,1 0 0,0-2 0,0 1 0,2-1 0,7 0 0,9-1 0,9 2 0,4 3 0,-1 3 0,-1 3 0,-3 0 0,1 0 0,-3 0 0,-2 0 0,-1 0 0,-3 0 0,-1 0 0,-2 0 0,0 0 0,2 0 0,3 0 0,4 0 0,4 0 0,2 2 0,1 3 0,-1 1 0,-2 2 0,-4 0 0,-4 0 0,-2 0 0,-2-2 0,1-1 0,0-2 0,0-1 0,0 0 0,1-2 0,3 0 0,4 0 0,1 0 0,3 0 0,2 0 0,7 0 0,3 0 0,0 2 0,-5 1 0,-8 1 0,-4-1 0,-5 1 0,-1-2 0,1 0 0,0-1 0,4-1 0,4 1 0,7 1 0,7 2 0,8 0 0,8-1 0,5-1 0,1-2 0,-3 0 0,-6 0 0,-7 0 0,-8 0 0,-5 0 0,-3 0 0,-3 0 0,1 0 0,-1 0 0,5 0 0,2 0 0,5 0 0,2 1 0,1 1 0,5 1 0,8-2 0,10 0 0,13-1 0,7 0 0,5 0 0,-1 0 0,-6 0 0,-6 0 0,-11 0 0,-10 0 0,-9 0 0,-7 0 0,-6 0 0,-3-2 0,-2 0 0,1-1 0,2-2 0,2 1 0,6-4 0,6 1 0,4-2 0,4-1 0,-1 1 0,1 0 0,-1 1 0,-2 1 0,-4 0 0,-6 2 0,-9 0 0,-6 2 0,-5 1 0,-2 0 0,2 0 0,0 0 0,2 0 0,2 1 0,4 1 0,4 0 0,7 0 0,7 0 0,2 0 0,0 0 0,-2 0 0,-6 0 0,-4 0 0,-3 0 0,-2 0 0,3 0 0,2 0 0,0 0 0,-2 0 0,-8 0 0,-5 0 0,-2 0 0,1 0 0,1 0 0,-1 0 0,-3 0 0,-5 0 0,-6 1 0,-4 1 0,-3 2 0,-2 2 0,-6 3 0,-11 3 0,-13 4 0,-10 2 0,-4 0 0,-2-2 0,1-4 0,2-5 0,1-4 0,4-4 0,4-3 0,3-4 0,3-1 0,5 0 0,2 2 0,1 0 0,-1-2 0,-2 1 0,-4-1 0,-10 0 0,-13 1 0,-13 0 0,-12-1 0,-8 2 0,-5 3 0,5 2 0,10 2 0,15 0 0,15 0 0,6 0 0,4 0 0,-4 0 0,-9 0 0,-9 0 0,-5 0 0,1 0 0,3 0 0,3 0 0,2 1 0,4 3 0,9 0 0,7-1 0,5-1 0,3-2 0,2 0 0,0 0 0,1 0 0,1 0 0,-1 0 0,0 0 0,0 0 0,0 0 0,0 0 0,0 0 0,0 0 0,2 0 0,2 0 0,0 0 0,-1 0 0,1 0 0,0 0 0,2 0 0,0 0 0,1 0 0,1 0 0,0 0 0,1 0 0,1 0 0,1 0 0,0 0 0,0 0 0,1 0 0,0 0 0,-1 0 0,0 0 0,-1 0 0,0 0 0,-1 0 0,-1 0 0,-1 0 0,-3 0 0,-2 0 0,-2 0 0,-2 0 0,-1 0 0,-3 0 0,1 0 0,0 0 0,-2 0 0,3 0 0,2 0 0,0 0 0,1 0 0,-2 0 0,-1-1 0,-2-1 0,-1-1 0,-1-2 0,0 0 0,0 0 0,1 2 0,4 1 0,3 0 0,7 2 0,3-2 0,2 1 0,3-1 0,1 1 0,-1 1 0,0-1 0,0 0 0,-2-1 0,-1-1 0,-1 0 0,-1 1 0,-2 1 0,1 1 0,1 0 0,3-2 0,5-1 0,3 0 0,5-2 0,9 2 0,11 1 0,5 1 0,3 0 0,-3-1 0,-5 0 0,-4 0 0,-3 2 0,-3-2 0,-1 0 0,-2-2 0,-3-1 0,-1 1 0,-2-2 0,0 1 0,-1 1 0,0 1 0,0 1 0,-2 0 0,1 2 0,0 0 0,0 0 0,0 0 0,1 0 0,1 0 0,0 0 0,1 0 0,1 0 0,1 0 0,0 0 0,0 0 0,0 0 0,1 0 0,-1 0 0,0 0 0,3 0 0,3 0 0,5 2 0,2 1 0,2 1 0,0 1 0,-2-2 0,-4-1 0,-2 0 0,-2-2 0,-3 0 0,-1 0 0,-3 0 0,-1 0 0,1 0 0,1 1 0,-1 1 0,3 2 0,-1 0 0,2 1 0,4 1 0,1-1 0,2-1 0,1 1 0,-1-1 0,1 1 0,1 0 0,-1 0 0,1 0 0,-2-2 0,2 1 0,2 1 0,2-2 0,3 2 0,1-1 0,2-2 0,-1-1 0,-2-1 0,0 0 0,0 1 0,0 1 0,5 0 0,2-1 0,1 0 0,0-1 0,-1 0 0,-1 0 0,-1 0 0,0 0 0,2 0 0,3 0 0,4 0 0,1 0 0,-2 0 0,-3 0 0,-1 0 0,4 0 0,7-2 0,5 0 0,1-1 0,-4 0 0,-8 1 0,-10-1 0,-8 2 0,-6 1 0,-4 0 0,-2 0 0,-2 0 0,1 0 0,1 0 0,2 0 0,2 0 0,0 0 0,0 0 0,2 0 0,2 0 0,3 0 0,2 0 0,0 0 0,2 0 0,1 0 0,2 0 0,1 0 0,2 0 0,2 0 0,-1 0 0,-1 0 0,-5 0 0,-6 0 0,-4 0 0,-2 0 0,-2 0 0,-3 0 0,-2 0 0,-3 0 0,-1 0 0,3 0 0,2 0 0,3 0 0,2 0 0,1 1 0,-1 2 0,-3 0 0,-3 2 0,-5-1 0,-1 1 0,-2 0 0,0-1 0,-3 2 0,-5 2 0,-8 1 0,-11 3 0,-5-1 0,-6-1 0,-4-2 0,-2-4 0,-3-1 0,6-2 0,8-1 0,7 0 0,7 0 0,4-1 0,3-2 0,0 0 0,2-1 0,1 0 0,1 2 0,1 1 0,0 0 0,2 1 0,-1 0 0,1 0 0,0-1 0,0 0 0,-1-1 0,1 1 0,0 0 0,1 1 0,-1 0 0,1 0 0,0 0 0,0 0 0,0 0 0,-1 0 0,0 0 0,-1 0 0,0 0 0,0 0 0,-1 0 0,0 0 0,-1 0 0,1 0 0,1 0 0,0 0 0,1 0 0,-1 0 0,-12 9 0,11-7 0,-8 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7:56.546"/>
    </inkml:context>
    <inkml:brush xml:id="br0">
      <inkml:brushProperty name="width" value="0.1" units="cm"/>
      <inkml:brushProperty name="height" value="0.1" units="cm"/>
      <inkml:brushProperty name="color" value="#AE198D"/>
      <inkml:brushProperty name="inkEffects" value="galaxy"/>
      <inkml:brushProperty name="anchorX" value="-16024.00586"/>
      <inkml:brushProperty name="anchorY" value="-13797.43457"/>
      <inkml:brushProperty name="scaleFactor" value="0.5"/>
    </inkml:brush>
  </inkml:definitions>
  <inkml:trace contextRef="#ctx0" brushRef="#br0">95 124 24575,'24'-3'0,"16"-1"0,22 4 0,18 0 0,7 0 0,-1 0 0,-14 0 0,-16 0 0,-17 0 0,-15 0 0,-5 0 0,-5 0 0,-4 0 0,0 0 0,-1 0 0,2 0 0,3 0 0,1 0 0,0 0 0,2 0 0,7-1 0,11-2 0,10 1 0,7-2 0,-3 1 0,-6 1 0,-8 0 0,-3 2 0,3 0 0,7 0 0,8-2 0,8-2 0,9-3 0,6-2 0,3-1 0,4 0 0,0 3 0,0 2 0,0 3 0,-4 1 0,1-1 0,-4-1 0,-1-1 0,-4 0 0,-3 1 0,-3 0 0,-5-2 0,-7 1 0,-8-3 0,-8 3 0,-5 2 0,-3 0 0,2 2 0,6 0 0,11 0 0,10 0 0,8 0 0,-1 0 0,-3 0 0,-10 0 0,-10 0 0,-7 0 0,-4 0 0,4 0 0,6 0 0,9 0 0,8 0 0,4 0 0,-1 2 0,-4 0 0,-10 2 0,-10 0 0,-9-1 0,-9 1 0,-5-1 0,-5 2 0,-4-1 0,-1 0 0,-1 0 0,0 0 0,-3-1 0,-7 2 0,-13 0 0,-18 0 0,-21-1 0,-15-2 0,-9-3 0,2-4 0,10-3 0,7-4 0,0 0 0,-4 1 0,-9 3 0,-10 4 0,-1 2 0,4 2 0,12 0 0,18 0 0,12 0 0,10 0 0,4 1 0,-1 3 0,-9 3 0,-16 3 0,-13 4 0,-10 0 0,3 3 0,11-3 0,14-5 0,13-1 0,8-2 0,3 0 0,-2 2 0,-8 2 0,-10 3 0,-11 2 0,-8-1 0,-2 0 0,1-2 0,3-2 0,3-3 0,3 0 0,5-2 0,7-2 0,9 0 0,7 0 0,7-1 0,1-1 0,1-1 0,-2 0 0,-3 0 0,-4 0 0,-7 0 0,-10 2 0,-10 1 0,-8 1 0,-6 3 0,-2-2 0,4 0 0,8-3 0,8-2 0,7 0 0,4 0 0,5 2 0,5 0 0,7 0 0,5-1 0,3-1 0,4 0 0,2 0 0,2 0 0,3 0 0,1 0 0,1 0 0,0 0 0,21 0 0,7-2 0,24-4 0,1-3 0,2-2 0,-1 3 0,2 3 0,7 4 0,12 1 0,16 0 0,-37-1 0,1 2 0,2 0 0,0 1 0,0 1 0,-2 1 0,-1 0 0,-2 1 0,39 7 0,-12-4 0,-9-1 0,-9-2 0,-6-2 0,-1-1 0,1-2 0,5 0 0,4 0 0,3 0 0,-2 0 0,-2 0 0,-3 0 0,-4 0 0,0 0 0,-3 0 0,0 0 0,2 0 0,4-2 0,4-1 0,3-2 0,3 0 0,0 2 0,4-1 0,0 2 0,-1-1 0,-4 0 0,-3 1 0,-4-1 0,-5 1 0,-4 2 0,-5 0 0,-6-1 0,3-2 0,-3 1 0,1 0 0,2 2 0,0 0 0,3 0 0,-1 0 0,-5 0 0,-1 0 0,-2 0 0,2 0 0,-2 0 0,-5 0 0,-5 0 0,-8 0 0,-3 0 0,-3 0 0,0 0 0,0 2 0,-1 0 0,-2 1 0,-2 2 0,-3-1 0,0 2 0,-3 0 0,-8 1 0,-9 2 0,-15 0 0,-15-2 0,-14-2 0,-8-3 0,-2-6 0,8-5 0,9-4 0,9-3 0,11 6 0,4 4 0,4 4 0,-1 2 0,-3 0 0,-2 0 0,-4 0 0,-3 1 0,-3 3 0,4 3 0,6 1 0,10-2 0,7-1 0,4-1 0,0-1 0,-1 3 0,-7 0 0,-10 1 0,-10 3 0,-12 1 0,-6 1 0,-2 1 0,3-2 0,7-3 0,9-3 0,10-2 0,7-1 0,5-2 0,3 0 0,2 0 0,-3 0 0,-2 0 0,-6 0 0,-7 0 0,-7 1 0,-8 1 0,-5 1 0,1 0 0,4 1 0,6-2 0,5 0 0,4-1 0,-1-1 0,1 0 0,-3 0 0,-1 0 0,-5 0 0,-7 0 0,-8 0 0,-6 0 0,-1 0 0,5 0 0,6 0 0,2 0 0,2 0 0,-3 0 0,-2 0 0,0 0 0,4 0 0,4 0 0,5 0 0,5 0 0,1 0 0,1 0 0,1 0 0,0 0 0,3 0 0,3 0 0,4 0 0,3 0 0,0 0 0,1-1 0,-3 0 0,3-1 0,-1 0 0,4 0 0,3 2 0,3 0 0,1 0 0,1 0 0,3-1 0,2-1 0,2-1 0,3 0 0,3-1 0,4-1 0,5-1 0,5-4 0,6 0 0,4-1 0,5 1 0,-1 1 0,1 2 0,1 2 0,1 2 0,5 2 0,7 1 0,8 0 0,8 0 0,3 0 0,-2 0 0,-7 0 0,-7 0 0,-6 0 0,-3 1 0,-4 1 0,-3 1 0,-3 1 0,-2-1 0,-1 1 0,-1-1 0,3-1 0,4 2 0,4-2 0,5 0 0,5 0 0,7-2 0,4 0 0,6 0 0,5 0 0,4 0 0,3 0 0,-4 0 0,-3 0 0,-6 0 0,-3 0 0,2 0 0,-3 0 0,2 0 0,-2 0 0,-2 0 0,1 0 0,-2 0 0,0 0 0,-2 0 0,-4 0 0,2 0 0,7 0 0,6 0 0,6 0 0,2 0 0,2 0 0,-4 0 0,-8 0 0,-12 0 0,-15 0 0,-10 0 0,-7 0 0,-4 0 0,-3 0 0,0 0 0,-3 0 0,0 0 0,1 0 0,5 0 0,7 0 0,5 0 0,4 0 0,-4 0 0,-4 2 0,-8 0 0,-6 0 0,-4 0 0,-5 0 0,-1 1 0,-1 0 0,0 0 0,-1 1 0,-6-2 0,-10 0 0,-15-2 0,-13 0 0,-10 0 0,-2 0 0,1 0 0,8 0 0,7 0 0,7 0 0,4 0 0,2 0 0,3 0 0,1 0 0,1 0 0,-1 0 0,0 0 0,-4 0 0,-6 0 0,-6 0 0,-1 0 0,2 0 0,5 0 0,5 0 0,4 0 0,2 0 0,0 0 0,0 2 0,-2 1 0,-3 2 0,-1 0 0,-1-1 0,1 1 0,5-1 0,2 0 0,2 1 0,-1-1 0,-3 0 0,-3 0 0,-3-1 0,-4 1 0,-2 1 0,-7-1 0,-1 1 0,-1 0 0,3-2 0,10-2 0,8-1 0,5 0 0,7 0 0,3 0 0,1 0 0,1 0 0,-2 0 0,-1 0 0,-3 0 0,-5 0 0,-9 0 0,-14 0 0,-14 0 0,-6 0 0,3 0 0,8 0 0,14 0 0,7 0 0,5 0 0,-3 0 0,-9 0 0,-5 1 0,-5 3 0,-1 0 0,6 2 0,4-2 0,8-1 0,6-1 0,4-2 0,5 0 0,3 0 0,0 0 0,2 0 0,-2 0 0,-5 0 0,-8 0 0,-13 0 0,-7 0 0,-3 0 0,6 0 0,10 0 0,8 0 0,7 0 0,5 0 0,2 0 0,2 0 0,2 0 0,-1 0 0,1 0 0,1-1 0,0-1 0,1 0 0,0 0 0,2-1 0,1-1 0,5-2 0,10-4 0,15-2 0,11-1 0,6 1 0,2 4 0,2 1 0,9 5 0,9 0 0,12 2 0,11 0 0,-44 0 0,0 0 0,0 0 0,-1 0 0,41 0 0,-9 0 0,-10 0 0,-10 0 0,-7 0 0,-10 0 0,-7-2 0,-7-1 0,-5-2 0,3-1 0,4-1 0,6 1 0,10-2 0,6 0 0,5 1 0,3 0 0,-1 1 0,2 0 0,0 0 0,-3 0 0,-3-1 0,-3 2 0,-1-2 0,0 1 0,1 0 0,0-2 0,-3 2 0,-5 0 0,-10 1 0,-10 3 0,-6-1 0,-3 1 0,0 0 0,2 0 0,5 2 0,5-2 0,9 0 0,6-2 0,3 0 0,-2 0 0,-7 0 0,-9 1 0,-7 2 0,-7-1 0,-4-1 0,-5-1 0,-4-1 0,0 1 0,0-2 0,0-1 0,0 0 0,0-2 0,0 1 0,-3 1 0,-8 2 0,-13 3 0,-12 2 0,-8 0 0,-3 0 0,5 0 0,6 3 0,9 2 0,9 3 0,5 0 0,0-2 0,0 0 0,-2-3 0,-1-1 0,1 1 0,1-1 0,1 0 0,1 0 0,1-2 0,0 0 0,0 0 0,-2 0 0,0 0 0,-1 0 0,1 0 0,0 0 0,-1 0 0,-2 0 0,-6 0 0,-6 0 0,-3 0 0,-4 0 0,-2 0 0,1 0 0,3 0 0,3 0 0,2 0 0,1 0 0,0 1 0,1 2 0,1-1 0,-1 0 0,-3-2 0,-3 0 0,-2 1 0,-3 1 0,-7 0 0,-9 2 0,-8-1 0,-4 0 0,3-1 0,6-1 0,8-1 0,7 0 0,7 0 0,3 0 0,3 0 0,2 0 0,3 0 0,3 0 0,4 0 0,3 0 0,3 0 0,3 0 0,2 0 0,4 0 0,20 0 0,7 0 0,16 0 0,-3-2 0,-3-1 0,-4-2 0,-3 0 0,0 1 0,-2 0 0,-3 0 0,0 0 0,-5 0 0,-1 2 0,-1 1 0,1 0 0,4-1 0,3 0 0,2 0 0,0 1 0,-2 1 0,2 0 0,2 0 0,0 0 0,0 0 0,-1 0 0,-1 0 0,2 0 0,0 0 0,1 0 0,0 0 0,-1 0 0,-1 0 0,-2 0 0,-5 0 0,-2 0 0,-3 0 0,-1-2 0,0 0 0,2-2 0,0 1 0,3 0 0,-1 2 0,1 1 0,-1 0 0,-1-1 0,2-1 0,1 0 0,4-1 0,5-1 0,1 0 0,1 0 0,-3 2 0,-3-1 0,-4 1 0,-2-1 0,-3 2 0,-4 1 0,-3 0 0,-5 0 0,-21 0 0,-10 0 0,-24 0 0,-6 0 0,-1 0 0,2 0 0,8 0 0,11 0 0,8 0 0,8 0 0,6 0 0,4 0 0,0 0 0,3 0 0,0 0 0,1 0 0,1 0 0,0 0 0,-1 0 0,0 0 0,1 0 0,0 0 0,-1 0 0,0 0 0,-1 0 0,-2-4 0,-3 0 0,-1-2 0,1 0 0,0 4 0,1 0 0,3 2 0,1-1 0,3 0 0,2-2 0,2 0 0,1-1 0,2 1 0,2-1 0,4 1 0,1 0 0,-1 0 0,-3 1 0,-9 0 0,-8 0 0,-6 2 0,-2 0 0,2 0 0,0 0 0,-5 0 0,-5 0 0,-4 0 0,-3 2 0,1 0 0,4 0 0,6 0 0,7-2 0,6 0 0,5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9:01.927"/>
    </inkml:context>
    <inkml:brush xml:id="br0">
      <inkml:brushProperty name="width" value="0.1" units="cm"/>
      <inkml:brushProperty name="height" value="0.1" units="cm"/>
      <inkml:brushProperty name="color" value="#AE198D"/>
      <inkml:brushProperty name="inkEffects" value="galaxy"/>
      <inkml:brushProperty name="anchorX" value="-58276.30469"/>
      <inkml:brushProperty name="anchorY" value="-31692.375"/>
      <inkml:brushProperty name="scaleFactor" value="0.5"/>
    </inkml:brush>
  </inkml:definitions>
  <inkml:trace contextRef="#ctx0" brushRef="#br0">0 695 24575,'16'0'0,"0"-2"0,-2-2 0,0-1 0,-2-1 0,0 0 0,-1 0 0,-1-2 0,-1 2 0,0-1 0,0 0 0,0-1 0,-1 1 0,0 1 0,0 0 0,-2 1 0,0-1 0,0 1 0,-1 0 0,2 1 0,-2 1 0,1-2 0,1 1 0,1-2 0,3-1 0,3 0 0,0-1 0,2 2 0,1 0 0,1 0 0,4-1 0,2-2 0,1-1 0,0 1 0,-2 0 0,-3 2 0,-1 1 0,-5 1 0,-1 0 0,-2 2 0,-1-1 0,1 0 0,1 0 0,1 0 0,-1 0 0,0 0 0,3 0 0,-2 0 0,2 0 0,-1-2 0,0 1 0,1 0 0,1-1 0,1 0 0,2 0 0,0 0 0,-1 0 0,-1 0 0,-1 2 0,0-2 0,0 2 0,0 2 0,1-2 0,-1 2 0,0-2 0,0 0 0,-2 1 0,0-1 0,0 1 0,0-1 0,3-1 0,-1 0 0,0 0 0,0-1 0,0 1 0,-2 0 0,0-1 0,-2 2 0,0 0 0,-1 1 0,0-1 0,-2-1 0,-1 1 0,0 1 0,-1 1 0,-1 0 0,3 0 0,0-1 0,0 0 0,0 1 0,0-2 0,-1-2 0,2 2 0,0 0 0,0 1 0,1 0 0,-1-1 0,3-1 0,1 0 0,1-2 0,1-1 0,0 2 0,0-1 0,0 1 0,3 0 0,2-2 0,2 1 0,1-1 0,-1 0 0,-1 0 0,-1 2 0,1 0 0,2 0 0,0-2 0,1 0 0,-1 1 0,-3 1 0,-1 1 0,2-2 0,4-1 0,2 0 0,0 0 0,-2 2 0,-3 0 0,-2 1 0,-2 0 0,-2-1 0,-4 2 0,-3 1 0,-4 2 0,-2 1 0,0-2 0,-2 1 0,7-3 0,-8 2 0,6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9:25.941"/>
    </inkml:context>
    <inkml:brush xml:id="br0">
      <inkml:brushProperty name="width" value="0.1" units="cm"/>
      <inkml:brushProperty name="height" value="0.1" units="cm"/>
      <inkml:brushProperty name="color" value="#AE198D"/>
      <inkml:brushProperty name="inkEffects" value="galaxy"/>
      <inkml:brushProperty name="anchorX" value="-84680.3125"/>
      <inkml:brushProperty name="anchorY" value="-38908.87891"/>
      <inkml:brushProperty name="scaleFactor" value="0.5"/>
    </inkml:brush>
  </inkml:definitions>
  <inkml:trace contextRef="#ctx0" brushRef="#br0">3 61 24575,'27'0'0,"3"0"0,7 0 0,5 0 0,1 0 0,-4 0 0,-8 0 0,-7 0 0,-5 0 0,-2 0 0,-1 0 0,-2 0 0,-1 0 0,-3 0 0,-1 0 0,-1 0 0,-1 0 0,-1 0 0,1 0 0,0 0 0,1 0 0,-1 0 0,1 0 0,0 0 0,-1 0 0,1 0 0,0 0 0,1 0 0,0 0 0,3 0 0,1 0 0,0 0 0,1-2 0,0 0 0,-2 0 0,1 1 0,-1 1 0,-2 0 0,1 0 0,-2-1 0,-1-1 0,1 0 0,-3 0 0,-3 2 0,-18 0 0,-1 0 0,-17 0 0,4 1 0,-5 2 0,-6-1 0,-5-1 0,-4-1 0,1 0 0,9 2 0,7 1 0,8 2 0,6 0 0,2-1 0,3-1 0,1 1 0,1-2 0,1 0 0,-1 0 0,2-2 0,-2 0 0,1 0 0,1 0 0,-1 0 0,2 0 0,1 0 0,1 0 0,1 0 0,0 0 0,-1 0 0,0 0 0,0 0 0,1 0 0,-1 0 0,-1 0 0,1 0 0,0 0 0,0 0 0,1 0 0,2-2 0,1 0 0,2-3 0,4 0 0,3-1 0,7 1 0,9 0 0,6 0 0,5 1 0,1-1 0,-4 3 0,-4-1 0,-2 0 0,-3 1 0,-2 1 0,-1-1 0,-3 0 0,-2-1 0,-1 2 0,-4 1 0,-1 0 0,0 0 0,-1 0 0,1 0 0,-1 0 0,-1 0 0,1 0 0,1 0 0,1 0 0,1 0 0,1 0 0,-1 0 0,1-1 0,1-1 0,1 0 0,-1 0 0,-1 1 0,-1 1 0,0 0 0,0-2 0,2 0 0,1 0 0,2 0 0,1 0 0,0 0 0,1 0 0,-1 1 0,-1 1 0,-2 0 0,-2 0 0,-4 0 0,-1 0 0,-1 0 0,-3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23T11:59:38.987"/>
    </inkml:context>
    <inkml:brush xml:id="br0">
      <inkml:brushProperty name="width" value="0.1" units="cm"/>
      <inkml:brushProperty name="height" value="0.1" units="cm"/>
      <inkml:brushProperty name="color" value="#AE198D"/>
      <inkml:brushProperty name="inkEffects" value="galaxy"/>
      <inkml:brushProperty name="anchorX" value="-118288.03125"/>
      <inkml:brushProperty name="anchorY" value="-45279.99609"/>
      <inkml:brushProperty name="scaleFactor" value="0.5"/>
    </inkml:brush>
  </inkml:definitions>
  <inkml:trace contextRef="#ctx0" brushRef="#br0">1 31 24575,'14'0'0,"-1"0"0,0 0 0,-1 0 0,-4 0 0,2 0 0,-1 0 0,1 0 0,2 0 0,-1 0 0,-2 0 0,-1 0 0,-2 0 0,0 0 0,-1 0 0,0 0 0,-2 0 0,1 0 0,0 0 0,-1 0 0,0 0 0,0 0 0,1 0 0,0 0 0,1 0 0,0 0 0,1 0 0,-1 0 0,0 0 0,0 0 0,1 0 0,0 0 0,0 0 0,1 0 0,0 0 0,1 0 0,0 0 0,0 0 0,2-1 0,0-3 0,-2 0 0,-2 0 0,-1 1 0,-1 3 0,-1 0 0,3 0 0,0 0 0,0 0 0,2 0 0,1-1 0,2-1 0,1 0 0,2 1 0,-1 0 0,0 0 0,-2-1 0,-2 0 0,-3 0 0,0 1 0,-4 1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DFE559-B8FA-41D3-8524-3084264E6F60}" type="datetimeFigureOut">
              <a:rPr lang="zh-CN" altLang="en-US" smtClean="0"/>
              <a:t>2025/8/3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CC5873-F094-4367-991D-BEEDB5363888}" type="slidenum">
              <a:rPr lang="zh-CN" altLang="en-US" smtClean="0"/>
              <a:t>‹#›</a:t>
            </a:fld>
            <a:endParaRPr lang="zh-CN" altLang="en-US"/>
          </a:p>
        </p:txBody>
      </p:sp>
    </p:spTree>
    <p:extLst>
      <p:ext uri="{BB962C8B-B14F-4D97-AF65-F5344CB8AC3E}">
        <p14:creationId xmlns:p14="http://schemas.microsoft.com/office/powerpoint/2010/main" val="943842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404040"/>
                </a:solidFill>
                <a:effectLst/>
                <a:latin typeface="quote-cjk-patch"/>
              </a:rPr>
              <a:t>尊敬的各位评委老师、同学们，</a:t>
            </a:r>
            <a:r>
              <a:rPr lang="zh-CN" altLang="en-US" b="0" i="0" dirty="0">
                <a:solidFill>
                  <a:srgbClr val="404040"/>
                </a:solidFill>
                <a:effectLst/>
                <a:latin typeface="quote-cjk-patch"/>
              </a:rPr>
              <a:t>上午好！我是</a:t>
            </a:r>
            <a:r>
              <a:rPr lang="en" altLang="zh-CN" b="0" i="0" dirty="0">
                <a:solidFill>
                  <a:srgbClr val="404040"/>
                </a:solidFill>
                <a:effectLst/>
                <a:latin typeface="quote-cjk-patch"/>
              </a:rPr>
              <a:t>XXX</a:t>
            </a:r>
            <a:r>
              <a:rPr lang="zh-CN" altLang="en" b="0" i="0" dirty="0">
                <a:solidFill>
                  <a:srgbClr val="404040"/>
                </a:solidFill>
                <a:effectLst/>
                <a:latin typeface="quote-cjk-patch"/>
              </a:rPr>
              <a:t>，</a:t>
            </a:r>
            <a:r>
              <a:rPr lang="zh-CN" altLang="en-US" b="0" i="0" dirty="0">
                <a:solidFill>
                  <a:srgbClr val="404040"/>
                </a:solidFill>
                <a:effectLst/>
                <a:latin typeface="quote-cjk-patch"/>
              </a:rPr>
              <a:t>今天很荣幸能向各位汇报我的博士论文工作，题目是</a:t>
            </a:r>
            <a:r>
              <a:rPr lang="en-US" altLang="zh-CN" b="0" i="0" dirty="0">
                <a:solidFill>
                  <a:srgbClr val="404040"/>
                </a:solidFill>
                <a:effectLst/>
                <a:latin typeface="quote-cjk-patch"/>
              </a:rPr>
              <a:t>《</a:t>
            </a:r>
            <a:r>
              <a:rPr lang="zh-CN" altLang="en-US" b="0" i="0" dirty="0">
                <a:solidFill>
                  <a:srgbClr val="404040"/>
                </a:solidFill>
                <a:effectLst/>
                <a:latin typeface="quote-cjk-patch"/>
              </a:rPr>
              <a:t>面向任播的网络测量与性能优化研究</a:t>
            </a:r>
            <a:r>
              <a:rPr lang="en-US" altLang="zh-CN" b="0" i="0" dirty="0">
                <a:solidFill>
                  <a:srgbClr val="404040"/>
                </a:solidFill>
                <a:effectLst/>
                <a:latin typeface="quote-cjk-patch"/>
              </a:rPr>
              <a:t>》</a:t>
            </a:r>
            <a:r>
              <a:rPr lang="zh-CN" altLang="en-US" b="0" i="0" dirty="0">
                <a:solidFill>
                  <a:srgbClr val="404040"/>
                </a:solidFill>
                <a:effectLst/>
                <a:latin typeface="quote-cjk-patch"/>
              </a:rPr>
              <a:t>。</a:t>
            </a:r>
          </a:p>
          <a:p>
            <a:pPr algn="l"/>
            <a:r>
              <a:rPr lang="zh-CN" altLang="en-US" b="0" i="0" dirty="0">
                <a:solidFill>
                  <a:srgbClr val="404040"/>
                </a:solidFill>
                <a:effectLst/>
                <a:latin typeface="quote-cjk-patch"/>
              </a:rPr>
              <a:t>随着互联网规模的爆炸式增长和新型应用的普及，</a:t>
            </a:r>
            <a:r>
              <a:rPr lang="zh-CN" altLang="en-US" b="1" i="0" dirty="0">
                <a:solidFill>
                  <a:srgbClr val="404040"/>
                </a:solidFill>
                <a:effectLst/>
                <a:latin typeface="quote-cjk-patch"/>
              </a:rPr>
              <a:t>网络性能的可靠性与用户体验的一致性</a:t>
            </a:r>
            <a:r>
              <a:rPr lang="zh-CN" altLang="en-US" b="0" i="0" dirty="0">
                <a:solidFill>
                  <a:srgbClr val="404040"/>
                </a:solidFill>
                <a:effectLst/>
                <a:latin typeface="quote-cjk-patch"/>
              </a:rPr>
              <a:t>已成为关键挑战。在这一背景下，任播（</a:t>
            </a:r>
            <a:r>
              <a:rPr lang="en" altLang="zh-CN" b="0" i="0" dirty="0">
                <a:solidFill>
                  <a:srgbClr val="404040"/>
                </a:solidFill>
                <a:effectLst/>
                <a:latin typeface="quote-cjk-patch"/>
              </a:rPr>
              <a:t>Anycast</a:t>
            </a:r>
            <a:r>
              <a:rPr lang="zh-CN" altLang="en" b="0" i="0" dirty="0">
                <a:solidFill>
                  <a:srgbClr val="404040"/>
                </a:solidFill>
                <a:effectLst/>
                <a:latin typeface="quote-cjk-patch"/>
              </a:rPr>
              <a:t>）</a:t>
            </a:r>
            <a:r>
              <a:rPr lang="zh-CN" altLang="en-US" b="0" i="0" dirty="0">
                <a:solidFill>
                  <a:srgbClr val="404040"/>
                </a:solidFill>
                <a:effectLst/>
                <a:latin typeface="quote-cjk-patch"/>
              </a:rPr>
              <a:t>技术因其天然的</a:t>
            </a:r>
            <a:r>
              <a:rPr lang="zh-CN" altLang="en-US" b="1" i="0" dirty="0">
                <a:solidFill>
                  <a:srgbClr val="404040"/>
                </a:solidFill>
                <a:effectLst/>
                <a:latin typeface="quote-cjk-patch"/>
              </a:rPr>
              <a:t>负载均衡</a:t>
            </a:r>
            <a:r>
              <a:rPr lang="zh-CN" altLang="en-US" b="0" i="0" dirty="0">
                <a:solidFill>
                  <a:srgbClr val="404040"/>
                </a:solidFill>
                <a:effectLst/>
                <a:latin typeface="quote-cjk-patch"/>
              </a:rPr>
              <a:t>和</a:t>
            </a:r>
            <a:r>
              <a:rPr lang="zh-CN" altLang="en-US" b="1" i="0" dirty="0">
                <a:solidFill>
                  <a:srgbClr val="404040"/>
                </a:solidFill>
                <a:effectLst/>
                <a:latin typeface="quote-cjk-patch"/>
              </a:rPr>
              <a:t>容灾能力</a:t>
            </a:r>
            <a:r>
              <a:rPr lang="zh-CN" altLang="en-US" b="0" i="0" dirty="0">
                <a:solidFill>
                  <a:srgbClr val="404040"/>
                </a:solidFill>
                <a:effectLst/>
                <a:latin typeface="quote-cjk-patch"/>
              </a:rPr>
              <a:t>，被广泛应用于</a:t>
            </a:r>
            <a:r>
              <a:rPr lang="en" altLang="zh-CN" b="0" i="0" dirty="0">
                <a:solidFill>
                  <a:srgbClr val="404040"/>
                </a:solidFill>
                <a:effectLst/>
                <a:latin typeface="quote-cjk-patch"/>
              </a:rPr>
              <a:t>DNS</a:t>
            </a:r>
            <a:r>
              <a:rPr lang="zh-CN" altLang="en-US" b="0" i="0" dirty="0">
                <a:solidFill>
                  <a:srgbClr val="404040"/>
                </a:solidFill>
                <a:effectLst/>
                <a:latin typeface="quote-cjk-patch"/>
              </a:rPr>
              <a:t>根服务器、</a:t>
            </a:r>
            <a:r>
              <a:rPr lang="en" altLang="zh-CN" b="0" i="0" dirty="0">
                <a:solidFill>
                  <a:srgbClr val="404040"/>
                </a:solidFill>
                <a:effectLst/>
                <a:latin typeface="quote-cjk-patch"/>
              </a:rPr>
              <a:t>CDN</a:t>
            </a:r>
            <a:r>
              <a:rPr lang="zh-CN" altLang="en-US" b="0" i="0" dirty="0">
                <a:solidFill>
                  <a:srgbClr val="404040"/>
                </a:solidFill>
                <a:effectLst/>
                <a:latin typeface="quote-cjk-patch"/>
              </a:rPr>
              <a:t>节点调度、云服务接入等核心场景。</a:t>
            </a:r>
            <a:endParaRPr lang="en-US" altLang="zh-CN" b="0" i="0" dirty="0">
              <a:solidFill>
                <a:srgbClr val="404040"/>
              </a:solidFill>
              <a:effectLst/>
              <a:latin typeface="quote-cjk-patch"/>
            </a:endParaRPr>
          </a:p>
          <a:p>
            <a:pPr algn="l"/>
            <a:r>
              <a:rPr lang="zh-CN" altLang="en-US" b="0" i="0" dirty="0">
                <a:solidFill>
                  <a:srgbClr val="404040"/>
                </a:solidFill>
                <a:effectLst/>
                <a:latin typeface="quote-cjk-patch"/>
              </a:rPr>
              <a:t>接下来，我会简要介绍任播技术的背景</a:t>
            </a:r>
          </a:p>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1</a:t>
            </a:fld>
            <a:endParaRPr lang="zh-CN" altLang="en-US"/>
          </a:p>
        </p:txBody>
      </p:sp>
    </p:spTree>
    <p:extLst>
      <p:ext uri="{BB962C8B-B14F-4D97-AF65-F5344CB8AC3E}">
        <p14:creationId xmlns:p14="http://schemas.microsoft.com/office/powerpoint/2010/main" val="392836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04040"/>
                </a:solidFill>
                <a:effectLst/>
                <a:latin typeface="quote-cjk-patch"/>
              </a:rPr>
              <a:t>同一</a:t>
            </a:r>
            <a:r>
              <a:rPr lang="en" altLang="zh-CN" b="0" i="0" dirty="0">
                <a:solidFill>
                  <a:srgbClr val="404040"/>
                </a:solidFill>
                <a:effectLst/>
                <a:latin typeface="quote-cjk-patch"/>
              </a:rPr>
              <a:t>IP</a:t>
            </a:r>
            <a:r>
              <a:rPr lang="zh-CN" altLang="en-US" b="0" i="0" dirty="0">
                <a:solidFill>
                  <a:srgbClr val="404040"/>
                </a:solidFill>
                <a:effectLst/>
                <a:latin typeface="quote-cjk-patch"/>
              </a:rPr>
              <a:t>地址分配给多个地理分布的服务器；通过</a:t>
            </a:r>
            <a:r>
              <a:rPr lang="en" altLang="zh-CN" b="0" i="0" dirty="0">
                <a:solidFill>
                  <a:srgbClr val="404040"/>
                </a:solidFill>
                <a:effectLst/>
                <a:latin typeface="quote-cjk-patch"/>
              </a:rPr>
              <a:t>BGP</a:t>
            </a:r>
            <a:r>
              <a:rPr lang="zh-CN" altLang="en-US" b="0" i="0" dirty="0">
                <a:solidFill>
                  <a:srgbClr val="404040"/>
                </a:solidFill>
                <a:effectLst/>
                <a:latin typeface="quote-cjk-patch"/>
              </a:rPr>
              <a:t>路由策略，用户流量被导向“拓扑最近”的节点</a:t>
            </a:r>
            <a:endParaRPr lang="en-US" altLang="zh-CN" b="0" i="0" dirty="0">
              <a:solidFill>
                <a:srgbClr val="404040"/>
              </a:solidFill>
              <a:effectLst/>
              <a:latin typeface="quote-cjk-patch"/>
            </a:endParaRPr>
          </a:p>
          <a:p>
            <a:r>
              <a:rPr kumimoji="1" lang="zh-CN" altLang="en-US" dirty="0"/>
              <a:t>导致用户访问更远的站点</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2</a:t>
            </a:fld>
            <a:endParaRPr lang="zh-CN" altLang="en-US"/>
          </a:p>
        </p:txBody>
      </p:sp>
    </p:spTree>
    <p:extLst>
      <p:ext uri="{BB962C8B-B14F-4D97-AF65-F5344CB8AC3E}">
        <p14:creationId xmlns:p14="http://schemas.microsoft.com/office/powerpoint/2010/main" val="2324037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基于</a:t>
            </a:r>
            <a:r>
              <a:rPr kumimoji="1" lang="en-US" altLang="zh-CN" dirty="0"/>
              <a:t>DNS</a:t>
            </a:r>
            <a:r>
              <a:rPr kumimoji="1" lang="zh-CN" altLang="en-US" dirty="0"/>
              <a:t>重定向</a:t>
            </a:r>
            <a:endParaRPr kumimoji="1" lang="en-US" altLang="zh-CN" dirty="0"/>
          </a:p>
          <a:p>
            <a:r>
              <a:rPr kumimoji="1" lang="zh-CN" altLang="en-US" dirty="0"/>
              <a:t>因此，我们设计或测量了三种不同的任播优化方案，进一步提高任播的可控性</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3</a:t>
            </a:fld>
            <a:endParaRPr lang="zh-CN" altLang="en-US"/>
          </a:p>
        </p:txBody>
      </p:sp>
    </p:spTree>
    <p:extLst>
      <p:ext uri="{BB962C8B-B14F-4D97-AF65-F5344CB8AC3E}">
        <p14:creationId xmlns:p14="http://schemas.microsoft.com/office/powerpoint/2010/main" val="214156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接下来介绍我在博士期间的研究内容</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4</a:t>
            </a:fld>
            <a:endParaRPr lang="zh-CN" altLang="en-US"/>
          </a:p>
        </p:txBody>
      </p:sp>
    </p:spTree>
    <p:extLst>
      <p:ext uri="{BB962C8B-B14F-4D97-AF65-F5344CB8AC3E}">
        <p14:creationId xmlns:p14="http://schemas.microsoft.com/office/powerpoint/2010/main" val="1839764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根据测量问题，</a:t>
            </a:r>
            <a:endParaRPr kumimoji="1" lang="en-US" altLang="zh-CN" dirty="0"/>
          </a:p>
          <a:p>
            <a:r>
              <a:rPr kumimoji="1" lang="zh-CN" altLang="en-US" dirty="0"/>
              <a:t>提供网络探针，定制化测量，</a:t>
            </a:r>
            <a:endParaRPr kumimoji="1" lang="en-US" altLang="zh-CN" dirty="0"/>
          </a:p>
          <a:p>
            <a:r>
              <a:rPr kumimoji="1" lang="zh-CN" altLang="en-US" dirty="0"/>
              <a:t>需要借鉴第三方数据源，已有的数据分析工具，最终得到想要的结论</a:t>
            </a:r>
            <a:endParaRPr kumimoji="1" lang="en-US" altLang="zh-CN" dirty="0"/>
          </a:p>
          <a:p>
            <a:r>
              <a:rPr kumimoji="1" lang="zh-CN" altLang="en-US" dirty="0"/>
              <a:t>由于任播的特殊性。。。</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5</a:t>
            </a:fld>
            <a:endParaRPr lang="zh-CN" altLang="en-US"/>
          </a:p>
        </p:txBody>
      </p:sp>
    </p:spTree>
    <p:extLst>
      <p:ext uri="{BB962C8B-B14F-4D97-AF65-F5344CB8AC3E}">
        <p14:creationId xmlns:p14="http://schemas.microsoft.com/office/powerpoint/2010/main" val="2862718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由于时间限制，这边简单介绍一下针对每一块挑战，我们是如何解决的</a:t>
            </a:r>
            <a:endParaRPr kumimoji="1" lang="en-US" altLang="zh-CN" dirty="0"/>
          </a:p>
          <a:p>
            <a:r>
              <a:rPr kumimoji="1" lang="zh-CN" altLang="en-US" dirty="0"/>
              <a:t>进行定位</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6</a:t>
            </a:fld>
            <a:endParaRPr lang="zh-CN" altLang="en-US"/>
          </a:p>
        </p:txBody>
      </p:sp>
    </p:spTree>
    <p:extLst>
      <p:ext uri="{BB962C8B-B14F-4D97-AF65-F5344CB8AC3E}">
        <p14:creationId xmlns:p14="http://schemas.microsoft.com/office/powerpoint/2010/main" val="58553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部署多个</a:t>
            </a:r>
            <a:r>
              <a:rPr kumimoji="1" lang="en-US" altLang="zh-CN" dirty="0"/>
              <a:t>IP</a:t>
            </a:r>
            <a:r>
              <a:rPr kumimoji="1" lang="zh-CN" altLang="en-US" dirty="0"/>
              <a:t>，在返回客户端</a:t>
            </a:r>
            <a:r>
              <a:rPr kumimoji="1" lang="en-US" altLang="zh-CN" dirty="0"/>
              <a:t>IP</a:t>
            </a:r>
            <a:r>
              <a:rPr kumimoji="1" lang="zh-CN" altLang="en-US" dirty="0"/>
              <a:t>时会返回不同的任播</a:t>
            </a:r>
            <a:r>
              <a:rPr kumimoji="1" lang="en-US" altLang="zh-CN" dirty="0"/>
              <a:t>IP</a:t>
            </a:r>
          </a:p>
          <a:p>
            <a:r>
              <a:rPr kumimoji="1" lang="zh-CN" altLang="en-US" dirty="0"/>
              <a:t>另一种模式是，单播和任播混合部署</a:t>
            </a:r>
            <a:endParaRPr kumimoji="1" lang="en-US" altLang="zh-CN" dirty="0"/>
          </a:p>
          <a:p>
            <a:r>
              <a:rPr kumimoji="1" lang="zh-CN" altLang="en-US" dirty="0"/>
              <a:t>使用任播调度</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7</a:t>
            </a:fld>
            <a:endParaRPr lang="zh-CN" altLang="en-US"/>
          </a:p>
        </p:txBody>
      </p:sp>
    </p:spTree>
    <p:extLst>
      <p:ext uri="{BB962C8B-B14F-4D97-AF65-F5344CB8AC3E}">
        <p14:creationId xmlns:p14="http://schemas.microsoft.com/office/powerpoint/2010/main" val="2081550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通过实验，验证</a:t>
            </a:r>
            <a:r>
              <a:rPr kumimoji="1" lang="en-US" altLang="zh-CN" dirty="0" err="1"/>
              <a:t>anytool</a:t>
            </a:r>
            <a:r>
              <a:rPr kumimoji="1" lang="zh-CN" altLang="en-US" dirty="0"/>
              <a:t>的可用性；</a:t>
            </a:r>
            <a:endParaRPr kumimoji="1" lang="en-US" altLang="zh-CN" dirty="0"/>
          </a:p>
          <a:p>
            <a:r>
              <a:rPr kumimoji="1" lang="zh-CN" altLang="en-US" dirty="0"/>
              <a:t>实验对象我们选择一些知名部署任播的</a:t>
            </a:r>
            <a:r>
              <a:rPr kumimoji="1" lang="en-US" altLang="zh-CN" dirty="0"/>
              <a:t>DNS</a:t>
            </a:r>
            <a:r>
              <a:rPr kumimoji="1" lang="zh-CN" altLang="en-US" dirty="0"/>
              <a:t>，这些</a:t>
            </a:r>
            <a:r>
              <a:rPr kumimoji="1" lang="en-US" altLang="zh-CN" dirty="0"/>
              <a:t>DNS</a:t>
            </a:r>
            <a:r>
              <a:rPr kumimoji="1" lang="zh-CN" altLang="en-US" dirty="0"/>
              <a:t>能够通过。。。</a:t>
            </a:r>
            <a:endParaRPr kumimoji="1" lang="en-US" altLang="zh-CN" dirty="0"/>
          </a:p>
          <a:p>
            <a:r>
              <a:rPr kumimoji="1" lang="zh-CN" altLang="en-US" dirty="0"/>
              <a:t>与此同时，我们发送</a:t>
            </a:r>
            <a:r>
              <a:rPr kumimoji="1" lang="en-US" altLang="zh-CN" dirty="0"/>
              <a:t>traceroute</a:t>
            </a:r>
            <a:r>
              <a:rPr kumimoji="1" lang="zh-CN" altLang="en-US" dirty="0"/>
              <a:t>测量到</a:t>
            </a:r>
            <a:r>
              <a:rPr kumimoji="1" lang="en-US" altLang="zh-CN" dirty="0"/>
              <a:t>DNS</a:t>
            </a:r>
            <a:r>
              <a:rPr kumimoji="1" lang="zh-CN" altLang="en-US" dirty="0"/>
              <a:t> 的任播</a:t>
            </a:r>
            <a:r>
              <a:rPr kumimoji="1" lang="en-US" altLang="zh-CN" dirty="0"/>
              <a:t>IP</a:t>
            </a:r>
            <a:r>
              <a:rPr kumimoji="1" lang="zh-CN" altLang="en-US" dirty="0"/>
              <a:t>，并使用</a:t>
            </a:r>
            <a:r>
              <a:rPr kumimoji="1" lang="en-US" altLang="zh-CN" dirty="0" err="1"/>
              <a:t>anytool</a:t>
            </a:r>
            <a:r>
              <a:rPr kumimoji="1" lang="zh-CN" altLang="en-US" dirty="0"/>
              <a:t>解析测量结果；</a:t>
            </a:r>
            <a:endParaRPr kumimoji="1" lang="en-US" altLang="zh-CN" dirty="0"/>
          </a:p>
          <a:p>
            <a:r>
              <a:rPr kumimoji="1" lang="zh-CN" altLang="en-US" dirty="0"/>
              <a:t>携带地理位置信息的字符</a:t>
            </a:r>
            <a:endParaRPr kumimoji="1" lang="en-US" altLang="zh-CN" dirty="0"/>
          </a:p>
          <a:p>
            <a:r>
              <a:rPr kumimoji="1" lang="en-US" altLang="zh-CN" dirty="0" err="1"/>
              <a:t>Anytool</a:t>
            </a:r>
            <a:r>
              <a:rPr kumimoji="1" lang="zh-CN" altLang="en-US" dirty="0"/>
              <a:t>能处理所有任播部署的客户端站点映射</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8</a:t>
            </a:fld>
            <a:endParaRPr lang="zh-CN" altLang="en-US"/>
          </a:p>
        </p:txBody>
      </p:sp>
    </p:spTree>
    <p:extLst>
      <p:ext uri="{BB962C8B-B14F-4D97-AF65-F5344CB8AC3E}">
        <p14:creationId xmlns:p14="http://schemas.microsoft.com/office/powerpoint/2010/main" val="4169160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使用设计的任播测量框架，首次对区域任播进行系统性测量，测量结果也发表在</a:t>
            </a:r>
            <a:r>
              <a:rPr kumimoji="1" lang="en-US" altLang="zh-CN" dirty="0"/>
              <a:t>sigcomm2023</a:t>
            </a:r>
            <a:r>
              <a:rPr kumimoji="1" lang="zh-CN" altLang="en-US" dirty="0"/>
              <a:t>上；</a:t>
            </a:r>
            <a:endParaRPr kumimoji="1" lang="en-US" altLang="zh-CN" dirty="0"/>
          </a:p>
          <a:p>
            <a:r>
              <a:rPr kumimoji="1" lang="zh-CN" altLang="en-US" dirty="0"/>
              <a:t>通过</a:t>
            </a:r>
            <a:r>
              <a:rPr kumimoji="1" lang="en-US" altLang="zh-CN" dirty="0" err="1"/>
              <a:t>CDNProbe</a:t>
            </a:r>
            <a:r>
              <a:rPr kumimoji="1" lang="zh-CN" altLang="en-US" dirty="0"/>
              <a:t>分析出三种不同的区域划分方法</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9</a:t>
            </a:fld>
            <a:endParaRPr lang="zh-CN" altLang="en-US"/>
          </a:p>
        </p:txBody>
      </p:sp>
    </p:spTree>
    <p:extLst>
      <p:ext uri="{BB962C8B-B14F-4D97-AF65-F5344CB8AC3E}">
        <p14:creationId xmlns:p14="http://schemas.microsoft.com/office/powerpoint/2010/main" val="548965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区域任播的主要目的是限制任播的路径膨胀，用户只能访问本区域的站点</a:t>
            </a:r>
            <a:endParaRPr kumimoji="1" lang="en-US" altLang="zh-CN" dirty="0"/>
          </a:p>
          <a:p>
            <a:r>
              <a:rPr kumimoji="1" lang="zh-CN" altLang="en-US" dirty="0"/>
              <a:t>因此，我们接下来就会对比区域任播和普通任播的性能差别；</a:t>
            </a:r>
            <a:endParaRPr kumimoji="1" lang="en-US" altLang="zh-CN" dirty="0"/>
          </a:p>
          <a:p>
            <a:r>
              <a:rPr kumimoji="1" lang="zh-CN" altLang="en-US" dirty="0"/>
              <a:t>为了能够体现对比的准确性，我们选择同一家企业的区域任播网络和全球任播网络进行对比，</a:t>
            </a:r>
            <a:endParaRPr kumimoji="1" lang="en-US" altLang="zh-CN" dirty="0"/>
          </a:p>
          <a:p>
            <a:r>
              <a:rPr kumimoji="1" lang="en-US" altLang="zh-CN" dirty="0"/>
              <a:t>RTT</a:t>
            </a:r>
            <a:r>
              <a:rPr kumimoji="1" lang="zh-CN" altLang="en-US" dirty="0"/>
              <a:t>和距离两方面呈现相同的对比结果</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10</a:t>
            </a:fld>
            <a:endParaRPr lang="zh-CN" altLang="en-US"/>
          </a:p>
        </p:txBody>
      </p:sp>
    </p:spTree>
    <p:extLst>
      <p:ext uri="{BB962C8B-B14F-4D97-AF65-F5344CB8AC3E}">
        <p14:creationId xmlns:p14="http://schemas.microsoft.com/office/powerpoint/2010/main" val="1391546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在研究完区域任播后，我们使用测量框架测量了</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下面两个例子清晰的展示了</a:t>
            </a:r>
            <a:r>
              <a:rPr kumimoji="1" lang="en-US" altLang="zh-CN" dirty="0" err="1"/>
              <a:t>bgp</a:t>
            </a:r>
            <a:r>
              <a:rPr kumimoji="1" lang="zh-CN" altLang="en-US" dirty="0"/>
              <a:t>在任播环境下，路径选择的不可靠性。以</a:t>
            </a:r>
            <a:r>
              <a:rPr kumimoji="1" lang="en-US" altLang="zh-CN" dirty="0"/>
              <a:t>LP</a:t>
            </a:r>
            <a:r>
              <a:rPr kumimoji="1" lang="zh-CN" altLang="en-US" dirty="0"/>
              <a:t>为例，我们在实际网络测量中发现，一个。。。。去到了。。。。导致时延增加</a:t>
            </a:r>
          </a:p>
          <a:p>
            <a:r>
              <a:rPr kumimoji="1" lang="zh-CN" altLang="en-US" dirty="0"/>
              <a:t>同时我们发现在</a:t>
            </a:r>
            <a:r>
              <a:rPr kumimoji="1" lang="en-US" altLang="zh-CN" dirty="0"/>
              <a:t>IXP</a:t>
            </a:r>
            <a:r>
              <a:rPr kumimoji="1" lang="zh-CN" altLang="en-US" dirty="0"/>
              <a:t>中，呈现根据</a:t>
            </a:r>
            <a:r>
              <a:rPr kumimoji="1" lang="en-US" altLang="zh-CN" dirty="0"/>
              <a:t>peering</a:t>
            </a:r>
            <a:r>
              <a:rPr kumimoji="1" lang="zh-CN" altLang="en-US" dirty="0"/>
              <a:t> </a:t>
            </a:r>
            <a:r>
              <a:rPr kumimoji="1" lang="en-US" altLang="zh-CN" dirty="0"/>
              <a:t>type</a:t>
            </a:r>
            <a:r>
              <a:rPr kumimoji="1" lang="zh-CN" altLang="en-US" dirty="0"/>
              <a:t>区分路由优先级的机制，</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11</a:t>
            </a:fld>
            <a:endParaRPr lang="zh-CN" altLang="en-US"/>
          </a:p>
        </p:txBody>
      </p:sp>
    </p:spTree>
    <p:extLst>
      <p:ext uri="{BB962C8B-B14F-4D97-AF65-F5344CB8AC3E}">
        <p14:creationId xmlns:p14="http://schemas.microsoft.com/office/powerpoint/2010/main" val="3019695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然后，我们测量了业界普遍关注的任播路由翻转现象</a:t>
            </a:r>
            <a:endParaRPr kumimoji="1" lang="en-US" altLang="zh-CN" dirty="0"/>
          </a:p>
          <a:p>
            <a:r>
              <a:rPr kumimoji="1" lang="zh-CN" altLang="en-US" dirty="0"/>
              <a:t>有负载均衡的考量，会在多条路径间进行切换</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12</a:t>
            </a:fld>
            <a:endParaRPr lang="zh-CN" altLang="en-US"/>
          </a:p>
        </p:txBody>
      </p:sp>
    </p:spTree>
    <p:extLst>
      <p:ext uri="{BB962C8B-B14F-4D97-AF65-F5344CB8AC3E}">
        <p14:creationId xmlns:p14="http://schemas.microsoft.com/office/powerpoint/2010/main" val="354886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上面就是我博士期间的第一份工作</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13</a:t>
            </a:fld>
            <a:endParaRPr lang="zh-CN" altLang="en-US"/>
          </a:p>
        </p:txBody>
      </p:sp>
    </p:spTree>
    <p:extLst>
      <p:ext uri="{BB962C8B-B14F-4D97-AF65-F5344CB8AC3E}">
        <p14:creationId xmlns:p14="http://schemas.microsoft.com/office/powerpoint/2010/main" val="2398245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是</a:t>
            </a:r>
            <a:r>
              <a:rPr kumimoji="1" lang="en-US" altLang="zh-CN" dirty="0"/>
              <a:t>BGP</a:t>
            </a:r>
            <a:r>
              <a:rPr kumimoji="1" lang="zh-CN" altLang="en-US" dirty="0"/>
              <a:t>调度的重要手段。</a:t>
            </a:r>
            <a:endParaRPr kumimoji="1" lang="en-US" altLang="zh-CN" dirty="0"/>
          </a:p>
          <a:p>
            <a:r>
              <a:rPr kumimoji="1" lang="en-US" altLang="zh-CN" dirty="0"/>
              <a:t>AS</a:t>
            </a:r>
            <a:r>
              <a:rPr kumimoji="1" lang="zh-CN" altLang="en-US" dirty="0"/>
              <a:t>路径预置对于客户端的站点接入有很大影响，从这一点切入，我们能更细粒度的控制任播路由</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14</a:t>
            </a:fld>
            <a:endParaRPr lang="zh-CN" altLang="en-US"/>
          </a:p>
        </p:txBody>
      </p:sp>
    </p:spTree>
    <p:extLst>
      <p:ext uri="{BB962C8B-B14F-4D97-AF65-F5344CB8AC3E}">
        <p14:creationId xmlns:p14="http://schemas.microsoft.com/office/powerpoint/2010/main" val="410029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为此我们设计如下方法，</a:t>
            </a:r>
            <a:endParaRPr kumimoji="1" lang="en-US" altLang="zh-CN" dirty="0"/>
          </a:p>
          <a:p>
            <a:r>
              <a:rPr kumimoji="1" lang="zh-CN" altLang="en-US" dirty="0"/>
              <a:t>改方法第一步</a:t>
            </a:r>
            <a:endParaRPr kumimoji="1" lang="en-US" altLang="zh-CN" dirty="0"/>
          </a:p>
          <a:p>
            <a:r>
              <a:rPr kumimoji="1" lang="zh-CN" altLang="en-US" dirty="0"/>
              <a:t>从算法层面来讲，首先将所有站点的</a:t>
            </a:r>
            <a:r>
              <a:rPr kumimoji="1" lang="en-US" altLang="zh-CN" dirty="0"/>
              <a:t>ASPP</a:t>
            </a:r>
            <a:r>
              <a:rPr kumimoji="1" lang="zh-CN" altLang="en-US" dirty="0"/>
              <a:t>值设定为</a:t>
            </a:r>
            <a:r>
              <a:rPr kumimoji="1" lang="en-US" altLang="zh-CN" dirty="0"/>
              <a:t>max</a:t>
            </a:r>
            <a:r>
              <a:rPr kumimoji="1" lang="zh-CN" altLang="en-US" dirty="0"/>
              <a:t>，记录此配置下产生的客户端</a:t>
            </a:r>
            <a:r>
              <a:rPr kumimoji="1" lang="en-US" altLang="zh-CN" dirty="0"/>
              <a:t>-</a:t>
            </a:r>
            <a:r>
              <a:rPr kumimoji="1" lang="zh-CN" altLang="en-US" dirty="0"/>
              <a:t>站点映射关系；</a:t>
            </a:r>
            <a:endParaRPr kumimoji="1" lang="en-US" altLang="zh-CN" dirty="0"/>
          </a:p>
          <a:p>
            <a:r>
              <a:rPr kumimoji="1" lang="zh-CN" altLang="en-US" dirty="0"/>
              <a:t>轮询阶段依次将每个站点将其预置长度归零，使得其成为优选站点；</a:t>
            </a:r>
            <a:endParaRPr kumimoji="1" lang="en-US" altLang="zh-CN" dirty="0"/>
          </a:p>
          <a:p>
            <a:r>
              <a:rPr kumimoji="1" lang="zh-CN" altLang="en-US" dirty="0"/>
              <a:t>然后，检查接入站点变化的客户端，生成对应的路径约束条件</a:t>
            </a:r>
            <a:endParaRPr kumimoji="1" lang="en-US" altLang="zh-CN" dirty="0"/>
          </a:p>
          <a:p>
            <a:r>
              <a:rPr kumimoji="1" lang="zh-CN" altLang="en-US" dirty="0"/>
              <a:t>值得注意的是，只有当预置量差值为</a:t>
            </a:r>
            <a:r>
              <a:rPr kumimoji="1" lang="en-US" altLang="zh-CN" dirty="0"/>
              <a:t>max</a:t>
            </a:r>
            <a:r>
              <a:rPr kumimoji="1" lang="zh-CN" altLang="en-US" dirty="0"/>
              <a:t>时，才能确定站点选择，。。。。因此我们称之为基础约束条件</a:t>
            </a:r>
            <a:endParaRPr kumimoji="1" lang="en-US" altLang="zh-CN" dirty="0"/>
          </a:p>
          <a:p>
            <a:r>
              <a:rPr kumimoji="1" lang="zh-CN" altLang="en-US" dirty="0"/>
              <a:t>能识别所有潜在的接入站点</a:t>
            </a:r>
            <a:endParaRPr kumimoji="1" lang="en-US" altLang="zh-CN" dirty="0"/>
          </a:p>
          <a:p>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15</a:t>
            </a:fld>
            <a:endParaRPr lang="zh-CN" altLang="en-US"/>
          </a:p>
        </p:txBody>
      </p:sp>
    </p:spTree>
    <p:extLst>
      <p:ext uri="{BB962C8B-B14F-4D97-AF65-F5344CB8AC3E}">
        <p14:creationId xmlns:p14="http://schemas.microsoft.com/office/powerpoint/2010/main" val="855357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最多可以满足多少个客户端的约束条件；</a:t>
            </a:r>
            <a:endParaRPr kumimoji="1" lang="en-US" altLang="zh-CN" dirty="0"/>
          </a:p>
          <a:p>
            <a:r>
              <a:rPr kumimoji="1" lang="zh-CN" altLang="en-US" dirty="0"/>
              <a:t>泛化出一种消解冲突的二分搜索算法，</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16</a:t>
            </a:fld>
            <a:endParaRPr lang="zh-CN" altLang="en-US"/>
          </a:p>
        </p:txBody>
      </p:sp>
    </p:spTree>
    <p:extLst>
      <p:ext uri="{BB962C8B-B14F-4D97-AF65-F5344CB8AC3E}">
        <p14:creationId xmlns:p14="http://schemas.microsoft.com/office/powerpoint/2010/main" val="4136104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在试验阶段，我们首先研究</a:t>
            </a:r>
            <a:endParaRPr kumimoji="1" lang="en-US" altLang="zh-CN" dirty="0"/>
          </a:p>
          <a:p>
            <a:r>
              <a:rPr kumimoji="1" lang="zh-CN" altLang="en-US" dirty="0"/>
              <a:t>相似度指标指的是实际任播网络下，客户端</a:t>
            </a:r>
            <a:r>
              <a:rPr kumimoji="1" lang="en-US" altLang="zh-CN" dirty="0"/>
              <a:t>-</a:t>
            </a:r>
            <a:r>
              <a:rPr kumimoji="1" lang="zh-CN" altLang="en-US" dirty="0"/>
              <a:t>站点映射矩阵，与理论最优矩阵的相似度</a:t>
            </a:r>
          </a:p>
        </p:txBody>
      </p:sp>
      <p:sp>
        <p:nvSpPr>
          <p:cNvPr id="4" name="灯片编号占位符 3"/>
          <p:cNvSpPr>
            <a:spLocks noGrp="1"/>
          </p:cNvSpPr>
          <p:nvPr>
            <p:ph type="sldNum" sz="quarter" idx="5"/>
          </p:nvPr>
        </p:nvSpPr>
        <p:spPr/>
        <p:txBody>
          <a:bodyPr/>
          <a:lstStyle/>
          <a:p>
            <a:fld id="{84CC5873-F094-4367-991D-BEEDB5363888}" type="slidenum">
              <a:rPr lang="zh-CN" altLang="en-US" smtClean="0"/>
              <a:t>17</a:t>
            </a:fld>
            <a:endParaRPr lang="zh-CN" altLang="en-US"/>
          </a:p>
        </p:txBody>
      </p:sp>
    </p:spTree>
    <p:extLst>
      <p:ext uri="{BB962C8B-B14F-4D97-AF65-F5344CB8AC3E}">
        <p14:creationId xmlns:p14="http://schemas.microsoft.com/office/powerpoint/2010/main" val="789603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不同任播部署间的性能差异；</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18</a:t>
            </a:fld>
            <a:endParaRPr lang="zh-CN" altLang="en-US"/>
          </a:p>
        </p:txBody>
      </p:sp>
    </p:spTree>
    <p:extLst>
      <p:ext uri="{BB962C8B-B14F-4D97-AF65-F5344CB8AC3E}">
        <p14:creationId xmlns:p14="http://schemas.microsoft.com/office/powerpoint/2010/main" val="18063216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20</a:t>
            </a:fld>
            <a:endParaRPr lang="zh-CN" altLang="en-US"/>
          </a:p>
        </p:txBody>
      </p:sp>
    </p:spTree>
    <p:extLst>
      <p:ext uri="{BB962C8B-B14F-4D97-AF65-F5344CB8AC3E}">
        <p14:creationId xmlns:p14="http://schemas.microsoft.com/office/powerpoint/2010/main" val="3916171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21</a:t>
            </a:fld>
            <a:endParaRPr lang="zh-CN" altLang="en-US"/>
          </a:p>
        </p:txBody>
      </p:sp>
    </p:spTree>
    <p:extLst>
      <p:ext uri="{BB962C8B-B14F-4D97-AF65-F5344CB8AC3E}">
        <p14:creationId xmlns:p14="http://schemas.microsoft.com/office/powerpoint/2010/main" val="523410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22</a:t>
            </a:fld>
            <a:endParaRPr lang="zh-CN" altLang="en-US"/>
          </a:p>
        </p:txBody>
      </p:sp>
    </p:spTree>
    <p:extLst>
      <p:ext uri="{BB962C8B-B14F-4D97-AF65-F5344CB8AC3E}">
        <p14:creationId xmlns:p14="http://schemas.microsoft.com/office/powerpoint/2010/main" val="1866378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23</a:t>
            </a:fld>
            <a:endParaRPr lang="zh-CN" altLang="en-US"/>
          </a:p>
        </p:txBody>
      </p:sp>
    </p:spTree>
    <p:extLst>
      <p:ext uri="{BB962C8B-B14F-4D97-AF65-F5344CB8AC3E}">
        <p14:creationId xmlns:p14="http://schemas.microsoft.com/office/powerpoint/2010/main" val="112226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24</a:t>
            </a:fld>
            <a:endParaRPr lang="zh-CN" altLang="en-US"/>
          </a:p>
        </p:txBody>
      </p:sp>
    </p:spTree>
    <p:extLst>
      <p:ext uri="{BB962C8B-B14F-4D97-AF65-F5344CB8AC3E}">
        <p14:creationId xmlns:p14="http://schemas.microsoft.com/office/powerpoint/2010/main" val="2344221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25</a:t>
            </a:fld>
            <a:endParaRPr lang="zh-CN" altLang="en-US"/>
          </a:p>
        </p:txBody>
      </p:sp>
    </p:spTree>
    <p:extLst>
      <p:ext uri="{BB962C8B-B14F-4D97-AF65-F5344CB8AC3E}">
        <p14:creationId xmlns:p14="http://schemas.microsoft.com/office/powerpoint/2010/main" val="34649617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26</a:t>
            </a:fld>
            <a:endParaRPr lang="zh-CN" altLang="en-US"/>
          </a:p>
        </p:txBody>
      </p:sp>
    </p:spTree>
    <p:extLst>
      <p:ext uri="{BB962C8B-B14F-4D97-AF65-F5344CB8AC3E}">
        <p14:creationId xmlns:p14="http://schemas.microsoft.com/office/powerpoint/2010/main" val="3718585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CC5873-F094-4367-991D-BEEDB5363888}" type="slidenum">
              <a:rPr lang="zh-CN" altLang="en-US" smtClean="0"/>
              <a:t>27</a:t>
            </a:fld>
            <a:endParaRPr lang="zh-CN" altLang="en-US"/>
          </a:p>
        </p:txBody>
      </p:sp>
    </p:spTree>
    <p:extLst>
      <p:ext uri="{BB962C8B-B14F-4D97-AF65-F5344CB8AC3E}">
        <p14:creationId xmlns:p14="http://schemas.microsoft.com/office/powerpoint/2010/main" val="1392904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pic>
        <p:nvPicPr>
          <p:cNvPr id="7" name="图片 6">
            <a:extLst>
              <a:ext uri="{FF2B5EF4-FFF2-40B4-BE49-F238E27FC236}">
                <a16:creationId xmlns:a16="http://schemas.microsoft.com/office/drawing/2014/main" id="{C12F9E9A-8ED9-9C8A-F600-34E1324394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6800" y="5132390"/>
            <a:ext cx="6477000" cy="1143000"/>
          </a:xfrm>
          <a:prstGeom prst="rect">
            <a:avLst/>
          </a:prstGeom>
        </p:spPr>
      </p:pic>
    </p:spTree>
    <p:extLst>
      <p:ext uri="{BB962C8B-B14F-4D97-AF65-F5344CB8AC3E}">
        <p14:creationId xmlns:p14="http://schemas.microsoft.com/office/powerpoint/2010/main" val="1834399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lgn="r"/>
            <a:fld id="{DC0D2DDD-E3F7-436B-B3DF-938CAE5F9813}"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7" name="内容占位符 4">
            <a:extLst>
              <a:ext uri="{FF2B5EF4-FFF2-40B4-BE49-F238E27FC236}">
                <a16:creationId xmlns:a16="http://schemas.microsoft.com/office/drawing/2014/main" id="{3A79BDED-B9DD-30C8-1A8F-783F9C0D88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a:extLst>
              <a:ext uri="{FF2B5EF4-FFF2-40B4-BE49-F238E27FC236}">
                <a16:creationId xmlns:a16="http://schemas.microsoft.com/office/drawing/2014/main" id="{CED94CFB-17F6-34E2-A831-0A5CA881744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a:extLst>
              <a:ext uri="{FF2B5EF4-FFF2-40B4-BE49-F238E27FC236}">
                <a16:creationId xmlns:a16="http://schemas.microsoft.com/office/drawing/2014/main" id="{EDE9DEA6-ACA1-935E-176D-39BD845C3D63}"/>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273322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lgn="r"/>
            <a:fld id="{E9AF9F58-1524-43E3-9FD7-6B644C44A6F4}"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7" name="内容占位符 4">
            <a:extLst>
              <a:ext uri="{FF2B5EF4-FFF2-40B4-BE49-F238E27FC236}">
                <a16:creationId xmlns:a16="http://schemas.microsoft.com/office/drawing/2014/main" id="{844D224D-85E4-44A0-F27A-4774733F15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a:extLst>
              <a:ext uri="{FF2B5EF4-FFF2-40B4-BE49-F238E27FC236}">
                <a16:creationId xmlns:a16="http://schemas.microsoft.com/office/drawing/2014/main" id="{3B55D805-7F02-664C-2E44-EEACB0AD8F9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a:extLst>
              <a:ext uri="{FF2B5EF4-FFF2-40B4-BE49-F238E27FC236}">
                <a16:creationId xmlns:a16="http://schemas.microsoft.com/office/drawing/2014/main" id="{2063B2F7-D62B-3200-34FF-C0A168FB38E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1875577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lgn="r"/>
            <a:fld id="{0DD14C6E-2CB9-405E-BAEE-89D302591E2D}"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8" name="内容占位符 4">
            <a:extLst>
              <a:ext uri="{FF2B5EF4-FFF2-40B4-BE49-F238E27FC236}">
                <a16:creationId xmlns:a16="http://schemas.microsoft.com/office/drawing/2014/main" id="{C9CE640F-CE24-C2BF-B661-FEFB594D21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a:extLst>
              <a:ext uri="{FF2B5EF4-FFF2-40B4-BE49-F238E27FC236}">
                <a16:creationId xmlns:a16="http://schemas.microsoft.com/office/drawing/2014/main" id="{22ED58EB-3765-F10B-7E62-A74CF9821193}"/>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a:extLst>
              <a:ext uri="{FF2B5EF4-FFF2-40B4-BE49-F238E27FC236}">
                <a16:creationId xmlns:a16="http://schemas.microsoft.com/office/drawing/2014/main" id="{06F452C5-A3C5-4A55-918B-FA4458A2E14C}"/>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2134252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lgn="r"/>
            <a:fld id="{50529C45-C7A6-48E9-B92B-744F85ACB437}"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10" name="内容占位符 4">
            <a:extLst>
              <a:ext uri="{FF2B5EF4-FFF2-40B4-BE49-F238E27FC236}">
                <a16:creationId xmlns:a16="http://schemas.microsoft.com/office/drawing/2014/main" id="{FE315FE0-91EB-EA9B-1800-6B9C27BD25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11" name="图片 10">
            <a:extLst>
              <a:ext uri="{FF2B5EF4-FFF2-40B4-BE49-F238E27FC236}">
                <a16:creationId xmlns:a16="http://schemas.microsoft.com/office/drawing/2014/main" id="{AE781156-41C4-8818-71AA-0C50FEAA252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2" name="图片 11">
            <a:extLst>
              <a:ext uri="{FF2B5EF4-FFF2-40B4-BE49-F238E27FC236}">
                <a16:creationId xmlns:a16="http://schemas.microsoft.com/office/drawing/2014/main" id="{CE31C5B6-4F9E-0368-45F8-C89900913B0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2585884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6" name="内容占位符 4">
            <a:extLst>
              <a:ext uri="{FF2B5EF4-FFF2-40B4-BE49-F238E27FC236}">
                <a16:creationId xmlns:a16="http://schemas.microsoft.com/office/drawing/2014/main" id="{9E28FCED-53D1-0A9C-87DE-B808B87155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7" name="图片 6">
            <a:extLst>
              <a:ext uri="{FF2B5EF4-FFF2-40B4-BE49-F238E27FC236}">
                <a16:creationId xmlns:a16="http://schemas.microsoft.com/office/drawing/2014/main" id="{B0D551FF-47AB-50DE-8062-54881F2A409A}"/>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8" name="图片 7">
            <a:extLst>
              <a:ext uri="{FF2B5EF4-FFF2-40B4-BE49-F238E27FC236}">
                <a16:creationId xmlns:a16="http://schemas.microsoft.com/office/drawing/2014/main" id="{043B7427-4BF4-57BF-E394-83F4A269BE4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72428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9DE8B58E-CCCA-4EA3-85F5-2F7336D9D842}"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5" name="内容占位符 4">
            <a:extLst>
              <a:ext uri="{FF2B5EF4-FFF2-40B4-BE49-F238E27FC236}">
                <a16:creationId xmlns:a16="http://schemas.microsoft.com/office/drawing/2014/main" id="{3C06EBC7-991B-11D5-26A1-984544BCBC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6" name="图片 5">
            <a:extLst>
              <a:ext uri="{FF2B5EF4-FFF2-40B4-BE49-F238E27FC236}">
                <a16:creationId xmlns:a16="http://schemas.microsoft.com/office/drawing/2014/main" id="{5CCE0D62-A02A-6181-B8BE-CEE7AA5A1A47}"/>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7" name="图片 6">
            <a:extLst>
              <a:ext uri="{FF2B5EF4-FFF2-40B4-BE49-F238E27FC236}">
                <a16:creationId xmlns:a16="http://schemas.microsoft.com/office/drawing/2014/main" id="{C36961C5-CB70-8345-0380-2C3B249E144B}"/>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281688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lgn="r"/>
            <a:fld id="{55AD78EB-AE49-4BBC-8E0A-D1C99A3AA28A}"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8" name="内容占位符 4">
            <a:extLst>
              <a:ext uri="{FF2B5EF4-FFF2-40B4-BE49-F238E27FC236}">
                <a16:creationId xmlns:a16="http://schemas.microsoft.com/office/drawing/2014/main" id="{84F1CE4C-62E9-F2A6-95A8-F91103D819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a:extLst>
              <a:ext uri="{FF2B5EF4-FFF2-40B4-BE49-F238E27FC236}">
                <a16:creationId xmlns:a16="http://schemas.microsoft.com/office/drawing/2014/main" id="{5B6850B7-9F69-5F30-3769-EA24571E6E2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a:extLst>
              <a:ext uri="{FF2B5EF4-FFF2-40B4-BE49-F238E27FC236}">
                <a16:creationId xmlns:a16="http://schemas.microsoft.com/office/drawing/2014/main" id="{A3D12EF4-4413-3515-D5D1-E1F561CA7C6C}"/>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1650162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lgn="r"/>
            <a:fld id="{B928E794-EDAB-4EEB-993E-AF8FD9643162}"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8" name="内容占位符 4">
            <a:extLst>
              <a:ext uri="{FF2B5EF4-FFF2-40B4-BE49-F238E27FC236}">
                <a16:creationId xmlns:a16="http://schemas.microsoft.com/office/drawing/2014/main" id="{7745FB2B-7072-EFD2-A36D-8BBEB2A4E7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a:extLst>
              <a:ext uri="{FF2B5EF4-FFF2-40B4-BE49-F238E27FC236}">
                <a16:creationId xmlns:a16="http://schemas.microsoft.com/office/drawing/2014/main" id="{EEE5811A-634E-DF9B-421C-3CBF40F5A46E}"/>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a:extLst>
              <a:ext uri="{FF2B5EF4-FFF2-40B4-BE49-F238E27FC236}">
                <a16:creationId xmlns:a16="http://schemas.microsoft.com/office/drawing/2014/main" id="{8C8F7DE1-4CBD-92FC-CCD4-7EAB265D83C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473059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lgn="r"/>
            <a:fld id="{5C572A05-A6B3-4788-9F9E-87949FD7A48E}"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7" name="内容占位符 4">
            <a:extLst>
              <a:ext uri="{FF2B5EF4-FFF2-40B4-BE49-F238E27FC236}">
                <a16:creationId xmlns:a16="http://schemas.microsoft.com/office/drawing/2014/main" id="{D306C87F-1A58-CE5C-CC64-9A74D55E37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a:extLst>
              <a:ext uri="{FF2B5EF4-FFF2-40B4-BE49-F238E27FC236}">
                <a16:creationId xmlns:a16="http://schemas.microsoft.com/office/drawing/2014/main" id="{730E94ED-839A-5F41-890B-82E3C01ED8A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a:extLst>
              <a:ext uri="{FF2B5EF4-FFF2-40B4-BE49-F238E27FC236}">
                <a16:creationId xmlns:a16="http://schemas.microsoft.com/office/drawing/2014/main" id="{47019294-DF9C-2EB8-B47A-E7CEF95D066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134864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lgn="r"/>
            <a:fld id="{5A048A8F-E476-49EA-84BB-C0E19CEF14F7}"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pic>
        <p:nvPicPr>
          <p:cNvPr id="7" name="内容占位符 4">
            <a:extLst>
              <a:ext uri="{FF2B5EF4-FFF2-40B4-BE49-F238E27FC236}">
                <a16:creationId xmlns:a16="http://schemas.microsoft.com/office/drawing/2014/main" id="{16FF435F-DD1B-B9D1-878F-3FF72B981A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a:extLst>
              <a:ext uri="{FF2B5EF4-FFF2-40B4-BE49-F238E27FC236}">
                <a16:creationId xmlns:a16="http://schemas.microsoft.com/office/drawing/2014/main" id="{19071306-EB61-1E25-194F-06F94139637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a:extLst>
              <a:ext uri="{FF2B5EF4-FFF2-40B4-BE49-F238E27FC236}">
                <a16:creationId xmlns:a16="http://schemas.microsoft.com/office/drawing/2014/main" id="{84A370B8-6D4A-A3C5-A80D-2404C2C706E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Tree>
    <p:extLst>
      <p:ext uri="{BB962C8B-B14F-4D97-AF65-F5344CB8AC3E}">
        <p14:creationId xmlns:p14="http://schemas.microsoft.com/office/powerpoint/2010/main" val="1459240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72755"/>
            <a:ext cx="5181600" cy="480420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372755"/>
            <a:ext cx="5181600" cy="480420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pic>
        <p:nvPicPr>
          <p:cNvPr id="8" name="内容占位符 4">
            <a:extLst>
              <a:ext uri="{FF2B5EF4-FFF2-40B4-BE49-F238E27FC236}">
                <a16:creationId xmlns:a16="http://schemas.microsoft.com/office/drawing/2014/main" id="{B571C229-2EE7-47F6-9C51-F591BB47DA0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a:extLst>
              <a:ext uri="{FF2B5EF4-FFF2-40B4-BE49-F238E27FC236}">
                <a16:creationId xmlns:a16="http://schemas.microsoft.com/office/drawing/2014/main" id="{942BF89D-C057-4767-B4A0-0E496CB9D40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a:extLst>
              <a:ext uri="{FF2B5EF4-FFF2-40B4-BE49-F238E27FC236}">
                <a16:creationId xmlns:a16="http://schemas.microsoft.com/office/drawing/2014/main" id="{AB3213F0-901D-4F6C-8CAB-121BA78FAF8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
        <p:nvSpPr>
          <p:cNvPr id="11" name="灯片编号占位符 18">
            <a:extLst>
              <a:ext uri="{FF2B5EF4-FFF2-40B4-BE49-F238E27FC236}">
                <a16:creationId xmlns:a16="http://schemas.microsoft.com/office/drawing/2014/main" id="{4A534DF9-DBAD-4406-BC1D-12B2753EA0A8}"/>
              </a:ext>
            </a:extLst>
          </p:cNvPr>
          <p:cNvSpPr>
            <a:spLocks noGrp="1"/>
          </p:cNvSpPr>
          <p:nvPr>
            <p:ph type="sldNum" sz="quarter" idx="12"/>
          </p:nvPr>
        </p:nvSpPr>
        <p:spPr>
          <a:xfrm>
            <a:off x="4724400" y="6411914"/>
            <a:ext cx="2743200" cy="365125"/>
          </a:xfrm>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2" name="日期占位符 17">
            <a:extLst>
              <a:ext uri="{FF2B5EF4-FFF2-40B4-BE49-F238E27FC236}">
                <a16:creationId xmlns:a16="http://schemas.microsoft.com/office/drawing/2014/main" id="{E102FFEA-2E4B-4868-8A4A-A4A6378F1E29}"/>
              </a:ext>
            </a:extLst>
          </p:cNvPr>
          <p:cNvSpPr>
            <a:spLocks noGrp="1"/>
          </p:cNvSpPr>
          <p:nvPr>
            <p:ph type="dt" sz="half" idx="10"/>
          </p:nvPr>
        </p:nvSpPr>
        <p:spPr>
          <a:xfrm>
            <a:off x="9257372" y="6411913"/>
            <a:ext cx="2743200" cy="365125"/>
          </a:xfrm>
        </p:spPr>
        <p:txBody>
          <a:bodyPr/>
          <a:lstStyle/>
          <a:p>
            <a:pPr algn="r"/>
            <a:fld id="{0DD14C6E-2CB9-405E-BAEE-89D302591E2D}"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21A43D5D-DB67-476B-846B-A12E856B96F7}"/>
              </a:ext>
            </a:extLst>
          </p:cNvPr>
          <p:cNvSpPr>
            <a:spLocks noGrp="1"/>
          </p:cNvSpPr>
          <p:nvPr>
            <p:ph type="title"/>
          </p:nvPr>
        </p:nvSpPr>
        <p:spPr>
          <a:xfrm>
            <a:off x="838200" y="365127"/>
            <a:ext cx="10515600" cy="848532"/>
          </a:xfrm>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1072276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360055"/>
            <a:ext cx="5157787"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839789" y="2193489"/>
            <a:ext cx="5157787" cy="399617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69023" y="1360055"/>
            <a:ext cx="5183188"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6172203" y="2193489"/>
            <a:ext cx="5183188" cy="3996174"/>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10" name="内容占位符 4">
            <a:extLst>
              <a:ext uri="{FF2B5EF4-FFF2-40B4-BE49-F238E27FC236}">
                <a16:creationId xmlns:a16="http://schemas.microsoft.com/office/drawing/2014/main" id="{E715A2A4-6A00-4D9D-A101-C323BE975A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11" name="图片 10">
            <a:extLst>
              <a:ext uri="{FF2B5EF4-FFF2-40B4-BE49-F238E27FC236}">
                <a16:creationId xmlns:a16="http://schemas.microsoft.com/office/drawing/2014/main" id="{EAD70746-AB4E-4E76-8D40-E25362DC551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2" name="图片 11">
            <a:extLst>
              <a:ext uri="{FF2B5EF4-FFF2-40B4-BE49-F238E27FC236}">
                <a16:creationId xmlns:a16="http://schemas.microsoft.com/office/drawing/2014/main" id="{50142417-F6B0-47C2-BCF5-8D6445E95CE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
        <p:nvSpPr>
          <p:cNvPr id="13" name="灯片编号占位符 18">
            <a:extLst>
              <a:ext uri="{FF2B5EF4-FFF2-40B4-BE49-F238E27FC236}">
                <a16:creationId xmlns:a16="http://schemas.microsoft.com/office/drawing/2014/main" id="{D26B0A3E-EC0F-4C53-8FF8-F68B1A507D8C}"/>
              </a:ext>
            </a:extLst>
          </p:cNvPr>
          <p:cNvSpPr>
            <a:spLocks noGrp="1"/>
          </p:cNvSpPr>
          <p:nvPr>
            <p:ph type="sldNum" sz="quarter" idx="12"/>
          </p:nvPr>
        </p:nvSpPr>
        <p:spPr>
          <a:xfrm>
            <a:off x="4724400" y="6411914"/>
            <a:ext cx="2743200" cy="365125"/>
          </a:xfrm>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4" name="日期占位符 17">
            <a:extLst>
              <a:ext uri="{FF2B5EF4-FFF2-40B4-BE49-F238E27FC236}">
                <a16:creationId xmlns:a16="http://schemas.microsoft.com/office/drawing/2014/main" id="{5DA7DA40-B53D-4136-88C9-9133EC1E4290}"/>
              </a:ext>
            </a:extLst>
          </p:cNvPr>
          <p:cNvSpPr>
            <a:spLocks noGrp="1"/>
          </p:cNvSpPr>
          <p:nvPr>
            <p:ph type="dt" sz="half" idx="10"/>
          </p:nvPr>
        </p:nvSpPr>
        <p:spPr>
          <a:xfrm>
            <a:off x="9257372" y="6411913"/>
            <a:ext cx="2743200" cy="365125"/>
          </a:xfrm>
        </p:spPr>
        <p:txBody>
          <a:bodyPr/>
          <a:lstStyle/>
          <a:p>
            <a:pPr algn="r"/>
            <a:fld id="{50529C45-C7A6-48E9-B92B-744F85ACB437}"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5" name="Title 1">
            <a:extLst>
              <a:ext uri="{FF2B5EF4-FFF2-40B4-BE49-F238E27FC236}">
                <a16:creationId xmlns:a16="http://schemas.microsoft.com/office/drawing/2014/main" id="{6F142A2F-470E-48F8-A706-89F4F5944591}"/>
              </a:ext>
            </a:extLst>
          </p:cNvPr>
          <p:cNvSpPr>
            <a:spLocks noGrp="1"/>
          </p:cNvSpPr>
          <p:nvPr>
            <p:ph type="title"/>
          </p:nvPr>
        </p:nvSpPr>
        <p:spPr>
          <a:xfrm>
            <a:off x="838200" y="365127"/>
            <a:ext cx="10515600" cy="848532"/>
          </a:xfrm>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1290389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pic>
        <p:nvPicPr>
          <p:cNvPr id="6" name="内容占位符 4">
            <a:extLst>
              <a:ext uri="{FF2B5EF4-FFF2-40B4-BE49-F238E27FC236}">
                <a16:creationId xmlns:a16="http://schemas.microsoft.com/office/drawing/2014/main" id="{53E4BC44-B187-4725-957E-F9C7B477EF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7" name="图片 6">
            <a:extLst>
              <a:ext uri="{FF2B5EF4-FFF2-40B4-BE49-F238E27FC236}">
                <a16:creationId xmlns:a16="http://schemas.microsoft.com/office/drawing/2014/main" id="{A93B545A-866B-4B44-9DCD-2AB40B9265F3}"/>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8" name="图片 7">
            <a:extLst>
              <a:ext uri="{FF2B5EF4-FFF2-40B4-BE49-F238E27FC236}">
                <a16:creationId xmlns:a16="http://schemas.microsoft.com/office/drawing/2014/main" id="{5A3453F4-0F31-4A77-A021-7EB7232E87DB}"/>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
        <p:nvSpPr>
          <p:cNvPr id="9" name="灯片编号占位符 18">
            <a:extLst>
              <a:ext uri="{FF2B5EF4-FFF2-40B4-BE49-F238E27FC236}">
                <a16:creationId xmlns:a16="http://schemas.microsoft.com/office/drawing/2014/main" id="{4DAFCD1E-DBE8-4472-8E0F-D1ECC3CD22AA}"/>
              </a:ext>
            </a:extLst>
          </p:cNvPr>
          <p:cNvSpPr>
            <a:spLocks noGrp="1"/>
          </p:cNvSpPr>
          <p:nvPr>
            <p:ph type="sldNum" sz="quarter" idx="12"/>
          </p:nvPr>
        </p:nvSpPr>
        <p:spPr>
          <a:xfrm>
            <a:off x="4724400" y="6411914"/>
            <a:ext cx="2743200" cy="365125"/>
          </a:xfrm>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0" name="日期占位符 17">
            <a:extLst>
              <a:ext uri="{FF2B5EF4-FFF2-40B4-BE49-F238E27FC236}">
                <a16:creationId xmlns:a16="http://schemas.microsoft.com/office/drawing/2014/main" id="{A5265C0E-A77A-4911-B05C-16F568BEAE8D}"/>
              </a:ext>
            </a:extLst>
          </p:cNvPr>
          <p:cNvSpPr>
            <a:spLocks noGrp="1"/>
          </p:cNvSpPr>
          <p:nvPr>
            <p:ph type="dt" sz="half" idx="10"/>
          </p:nvPr>
        </p:nvSpPr>
        <p:spPr>
          <a:xfrm>
            <a:off x="9257372" y="6411913"/>
            <a:ext cx="2743200" cy="365125"/>
          </a:xfrm>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93C9B991-EE28-45D6-85AC-6121F4411C58}"/>
              </a:ext>
            </a:extLst>
          </p:cNvPr>
          <p:cNvSpPr>
            <a:spLocks noGrp="1"/>
          </p:cNvSpPr>
          <p:nvPr>
            <p:ph type="title"/>
          </p:nvPr>
        </p:nvSpPr>
        <p:spPr>
          <a:xfrm>
            <a:off x="838200" y="365127"/>
            <a:ext cx="10515600" cy="848532"/>
          </a:xfrm>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525916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1371605"/>
            <a:ext cx="10515600" cy="480536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pic>
        <p:nvPicPr>
          <p:cNvPr id="7" name="内容占位符 4">
            <a:extLst>
              <a:ext uri="{FF2B5EF4-FFF2-40B4-BE49-F238E27FC236}">
                <a16:creationId xmlns:a16="http://schemas.microsoft.com/office/drawing/2014/main" id="{95052C58-637C-48E7-A943-EF243A7E7C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a:extLst>
              <a:ext uri="{FF2B5EF4-FFF2-40B4-BE49-F238E27FC236}">
                <a16:creationId xmlns:a16="http://schemas.microsoft.com/office/drawing/2014/main" id="{CC48E22F-9C84-485A-AEEC-6A1BADBE2021}"/>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a:extLst>
              <a:ext uri="{FF2B5EF4-FFF2-40B4-BE49-F238E27FC236}">
                <a16:creationId xmlns:a16="http://schemas.microsoft.com/office/drawing/2014/main" id="{C3F8C9C0-72E2-4954-9B6E-70717CADDCA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62642" y="6379613"/>
            <a:ext cx="457143" cy="429714"/>
          </a:xfrm>
          <a:prstGeom prst="rect">
            <a:avLst/>
          </a:prstGeom>
        </p:spPr>
      </p:pic>
      <p:sp>
        <p:nvSpPr>
          <p:cNvPr id="10" name="灯片编号占位符 18">
            <a:extLst>
              <a:ext uri="{FF2B5EF4-FFF2-40B4-BE49-F238E27FC236}">
                <a16:creationId xmlns:a16="http://schemas.microsoft.com/office/drawing/2014/main" id="{F1F20598-50C4-492A-8D0B-01671384E096}"/>
              </a:ext>
            </a:extLst>
          </p:cNvPr>
          <p:cNvSpPr>
            <a:spLocks noGrp="1"/>
          </p:cNvSpPr>
          <p:nvPr>
            <p:ph type="sldNum" sz="quarter" idx="12"/>
          </p:nvPr>
        </p:nvSpPr>
        <p:spPr>
          <a:xfrm>
            <a:off x="4724400" y="6411914"/>
            <a:ext cx="2743200" cy="365125"/>
          </a:xfrm>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1" name="日期占位符 17">
            <a:extLst>
              <a:ext uri="{FF2B5EF4-FFF2-40B4-BE49-F238E27FC236}">
                <a16:creationId xmlns:a16="http://schemas.microsoft.com/office/drawing/2014/main" id="{BF74B185-4883-4932-A589-19D39ECB9BDA}"/>
              </a:ext>
            </a:extLst>
          </p:cNvPr>
          <p:cNvSpPr>
            <a:spLocks noGrp="1"/>
          </p:cNvSpPr>
          <p:nvPr>
            <p:ph type="dt" sz="half" idx="10"/>
          </p:nvPr>
        </p:nvSpPr>
        <p:spPr>
          <a:xfrm>
            <a:off x="9257372" y="6411913"/>
            <a:ext cx="2743200" cy="365125"/>
          </a:xfrm>
        </p:spPr>
        <p:txBody>
          <a:bodyPr/>
          <a:lstStyle/>
          <a:p>
            <a:pPr algn="r"/>
            <a:fld id="{5C572A05-A6B3-4788-9F9E-87949FD7A48E}"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579AEEF1-F96E-4F5F-81F4-0780C86AD79D}"/>
              </a:ext>
            </a:extLst>
          </p:cNvPr>
          <p:cNvSpPr>
            <a:spLocks noGrp="1"/>
          </p:cNvSpPr>
          <p:nvPr>
            <p:ph type="title"/>
          </p:nvPr>
        </p:nvSpPr>
        <p:spPr>
          <a:xfrm>
            <a:off x="838200" y="365127"/>
            <a:ext cx="10515600" cy="848532"/>
          </a:xfrm>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990703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B284BF-A18E-48D4-B1CB-6F1DDA52888D}" type="datetime1">
              <a:rPr lang="zh-CN" altLang="en-US" smtClean="0"/>
              <a:t>2025/8/3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093C3C-DB3C-4B26-9923-3D533F6B0881}" type="slidenum">
              <a:rPr lang="zh-CN" altLang="en-US" smtClean="0"/>
              <a:t>‹#›</a:t>
            </a:fld>
            <a:endParaRPr lang="zh-CN" altLang="en-US"/>
          </a:p>
        </p:txBody>
      </p:sp>
    </p:spTree>
    <p:extLst>
      <p:ext uri="{BB962C8B-B14F-4D97-AF65-F5344CB8AC3E}">
        <p14:creationId xmlns:p14="http://schemas.microsoft.com/office/powerpoint/2010/main" val="117963343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64" r:id="rId12"/>
    <p:sldLayoutId id="2147483665" r:id="rId13"/>
    <p:sldLayoutId id="2147483666" r:id="rId14"/>
    <p:sldLayoutId id="2147483670"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jpeg"/><Relationship Id="rId17" Type="http://schemas.openxmlformats.org/officeDocument/2006/relationships/image" Target="../media/image22.png"/><Relationship Id="rId2" Type="http://schemas.openxmlformats.org/officeDocument/2006/relationships/notesSlide" Target="../notesSlides/notesSlide5.xml"/><Relationship Id="rId16"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emf"/><Relationship Id="rId4" Type="http://schemas.openxmlformats.org/officeDocument/2006/relationships/image" Target="../media/image32.emf"/></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hyperlink" Target="https://www.gin.ntt.net/"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50.png"/><Relationship Id="rId7" Type="http://schemas.openxmlformats.org/officeDocument/2006/relationships/image" Target="../media/image32.emf"/><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50.png"/><Relationship Id="rId17" Type="http://schemas.openxmlformats.org/officeDocument/2006/relationships/image" Target="../media/image380.png"/><Relationship Id="rId2" Type="http://schemas.openxmlformats.org/officeDocument/2006/relationships/image" Target="../media/image69.png"/><Relationship Id="rId16" Type="http://schemas.openxmlformats.org/officeDocument/2006/relationships/customXml" Target="../ink/ink7.xml"/><Relationship Id="rId1" Type="http://schemas.openxmlformats.org/officeDocument/2006/relationships/slideLayout" Target="../slideLayouts/slideLayout6.xml"/><Relationship Id="rId6" Type="http://schemas.openxmlformats.org/officeDocument/2006/relationships/image" Target="../media/image3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70.emf"/><Relationship Id="rId10" Type="http://schemas.openxmlformats.org/officeDocument/2006/relationships/image" Target="../media/image340.png"/><Relationship Id="rId4" Type="http://schemas.openxmlformats.org/officeDocument/2006/relationships/image" Target="../media/image310.png"/><Relationship Id="rId9" Type="http://schemas.openxmlformats.org/officeDocument/2006/relationships/customXml" Target="../ink/ink4.xml"/><Relationship Id="rId14" Type="http://schemas.openxmlformats.org/officeDocument/2006/relationships/image" Target="../media/image3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image" Target="../media/image73.jpg"/><Relationship Id="rId13" Type="http://schemas.openxmlformats.org/officeDocument/2006/relationships/image" Target="../media/image46.png"/><Relationship Id="rId3" Type="http://schemas.openxmlformats.org/officeDocument/2006/relationships/customXml" Target="../ink/ink8.xml"/><Relationship Id="rId7" Type="http://schemas.openxmlformats.org/officeDocument/2006/relationships/image" Target="../media/image420.png"/><Relationship Id="rId12" Type="http://schemas.openxmlformats.org/officeDocument/2006/relationships/customXml" Target="../ink/ink11.xml"/><Relationship Id="rId2" Type="http://schemas.openxmlformats.org/officeDocument/2006/relationships/image" Target="../media/image71.jpeg"/><Relationship Id="rId1" Type="http://schemas.openxmlformats.org/officeDocument/2006/relationships/slideLayout" Target="../slideLayouts/slideLayout6.xml"/><Relationship Id="rId6" Type="http://schemas.openxmlformats.org/officeDocument/2006/relationships/customXml" Target="../ink/ink9.xml"/><Relationship Id="rId11" Type="http://schemas.openxmlformats.org/officeDocument/2006/relationships/image" Target="../media/image74.png"/><Relationship Id="rId5" Type="http://schemas.openxmlformats.org/officeDocument/2006/relationships/image" Target="../media/image72.emf"/><Relationship Id="rId15" Type="http://schemas.openxmlformats.org/officeDocument/2006/relationships/image" Target="../media/image470.png"/><Relationship Id="rId10" Type="http://schemas.openxmlformats.org/officeDocument/2006/relationships/image" Target="../media/image440.png"/><Relationship Id="rId4" Type="http://schemas.openxmlformats.org/officeDocument/2006/relationships/image" Target="../media/image400.png"/><Relationship Id="rId9" Type="http://schemas.openxmlformats.org/officeDocument/2006/relationships/customXml" Target="../ink/ink10.xml"/><Relationship Id="rId14" Type="http://schemas.openxmlformats.org/officeDocument/2006/relationships/customXml" Target="../ink/ink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CCA95E1E-7DE6-4D81-AD04-DF41D3A8383D}"/>
              </a:ext>
            </a:extLst>
          </p:cNvPr>
          <p:cNvSpPr>
            <a:spLocks noGrp="1"/>
          </p:cNvSpPr>
          <p:nvPr>
            <p:ph type="dt" sz="half" idx="10"/>
          </p:nvPr>
        </p:nvSpPr>
        <p:spPr/>
        <p:txBody>
          <a:bodyPr/>
          <a:lstStyle/>
          <a:p>
            <a:pPr algn="r"/>
            <a:fld id="{C9D215D4-332C-4C16-994E-3B40673ACEFB}" type="datetime1">
              <a:rPr lang="zh-CN" altLang="en-US" sz="150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ACBC475F-9576-4E88-ABC0-566369AEE2AF}"/>
              </a:ext>
            </a:extLst>
          </p:cNvPr>
          <p:cNvSpPr>
            <a:spLocks noGrp="1"/>
          </p:cNvSpPr>
          <p:nvPr>
            <p:ph type="sldNum" sz="quarter" idx="12"/>
          </p:nvPr>
        </p:nvSpPr>
        <p:spPr/>
        <p:txBody>
          <a:bodyPr/>
          <a:lstStyle/>
          <a:p>
            <a:pPr algn="ctr"/>
            <a:fld id="{B91BDC8C-2CCA-4422-809C-4566AB0B234F}" type="slidenum">
              <a:rPr lang="zh-CN" altLang="en-US" sz="1500">
                <a:solidFill>
                  <a:schemeClr val="bg1"/>
                </a:solidFill>
                <a:latin typeface="Times New Roman" panose="02020603050405020304" pitchFamily="18" charset="0"/>
                <a:cs typeface="Times New Roman" panose="02020603050405020304" pitchFamily="18" charset="0"/>
              </a:rPr>
              <a:pPr algn="ctr"/>
              <a:t>1</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83E5F0A-5B73-1501-1491-97C08D6FECDA}"/>
              </a:ext>
            </a:extLst>
          </p:cNvPr>
          <p:cNvSpPr txBox="1"/>
          <p:nvPr/>
        </p:nvSpPr>
        <p:spPr>
          <a:xfrm>
            <a:off x="2367231" y="1294943"/>
            <a:ext cx="6364174" cy="769441"/>
          </a:xfrm>
          <a:prstGeom prst="rect">
            <a:avLst/>
          </a:prstGeom>
          <a:noFill/>
        </p:spPr>
        <p:txBody>
          <a:bodyPr wrap="square">
            <a:spAutoFit/>
          </a:bodyPr>
          <a:lstStyle/>
          <a:p>
            <a:r>
              <a:rPr lang="en-US" altLang="zh-CN" sz="4400" b="1" dirty="0">
                <a:highlight>
                  <a:srgbClr val="FFFFFF"/>
                </a:highlight>
                <a:latin typeface="Courier New" panose="02070309020205020404" pitchFamily="49" charset="0"/>
              </a:rPr>
              <a:t>	</a:t>
            </a:r>
            <a:r>
              <a:rPr lang="zh-CN" altLang="en-US" sz="4400" b="1" i="0" u="none" strike="noStrike" dirty="0">
                <a:effectLst/>
                <a:highlight>
                  <a:srgbClr val="FFFFFF"/>
                </a:highlight>
                <a:latin typeface="Courier New" panose="02070309020205020404" pitchFamily="49" charset="0"/>
              </a:rPr>
              <a:t>南京大学博士毕业答辩</a:t>
            </a:r>
            <a:endParaRPr lang="zh-CN" altLang="en-US" sz="4400" b="1" dirty="0"/>
          </a:p>
        </p:txBody>
      </p:sp>
      <p:pic>
        <p:nvPicPr>
          <p:cNvPr id="6" name="图片 5">
            <a:extLst>
              <a:ext uri="{FF2B5EF4-FFF2-40B4-BE49-F238E27FC236}">
                <a16:creationId xmlns:a16="http://schemas.microsoft.com/office/drawing/2014/main" id="{34AAB11D-E9A4-6EFF-2A9C-29C474C61130}"/>
              </a:ext>
            </a:extLst>
          </p:cNvPr>
          <p:cNvPicPr>
            <a:picLocks noChangeAspect="1"/>
          </p:cNvPicPr>
          <p:nvPr/>
        </p:nvPicPr>
        <p:blipFill>
          <a:blip r:embed="rId3"/>
          <a:stretch>
            <a:fillRect/>
          </a:stretch>
        </p:blipFill>
        <p:spPr>
          <a:xfrm>
            <a:off x="0" y="3118556"/>
            <a:ext cx="12192000" cy="3222442"/>
          </a:xfrm>
          <a:prstGeom prst="rect">
            <a:avLst/>
          </a:prstGeom>
        </p:spPr>
      </p:pic>
      <p:cxnSp>
        <p:nvCxnSpPr>
          <p:cNvPr id="8" name="直线连接符 7">
            <a:extLst>
              <a:ext uri="{FF2B5EF4-FFF2-40B4-BE49-F238E27FC236}">
                <a16:creationId xmlns:a16="http://schemas.microsoft.com/office/drawing/2014/main" id="{30FCF0AC-4E2E-26EC-D38B-DCB9759C3437}"/>
              </a:ext>
            </a:extLst>
          </p:cNvPr>
          <p:cNvCxnSpPr/>
          <p:nvPr/>
        </p:nvCxnSpPr>
        <p:spPr>
          <a:xfrm>
            <a:off x="2982686" y="2243796"/>
            <a:ext cx="5627914" cy="0"/>
          </a:xfrm>
          <a:prstGeom prst="line">
            <a:avLst/>
          </a:prstGeom>
          <a:ln w="22225"/>
        </p:spPr>
        <p:style>
          <a:lnRef idx="1">
            <a:schemeClr val="accent2"/>
          </a:lnRef>
          <a:fillRef idx="0">
            <a:schemeClr val="accent2"/>
          </a:fillRef>
          <a:effectRef idx="0">
            <a:schemeClr val="accent2"/>
          </a:effectRef>
          <a:fontRef idx="minor">
            <a:schemeClr val="tx1"/>
          </a:fontRef>
        </p:style>
      </p:cxnSp>
      <p:sp>
        <p:nvSpPr>
          <p:cNvPr id="11" name="圆角矩形 10">
            <a:extLst>
              <a:ext uri="{FF2B5EF4-FFF2-40B4-BE49-F238E27FC236}">
                <a16:creationId xmlns:a16="http://schemas.microsoft.com/office/drawing/2014/main" id="{BB898E6B-67F3-C7DC-0370-72B74E66AC07}"/>
              </a:ext>
            </a:extLst>
          </p:cNvPr>
          <p:cNvSpPr/>
          <p:nvPr/>
        </p:nvSpPr>
        <p:spPr>
          <a:xfrm>
            <a:off x="4738687" y="3118556"/>
            <a:ext cx="2714625" cy="121055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200" dirty="0">
              <a:solidFill>
                <a:schemeClr val="tx1"/>
              </a:solidFill>
            </a:endParaRPr>
          </a:p>
        </p:txBody>
      </p:sp>
      <p:sp>
        <p:nvSpPr>
          <p:cNvPr id="2" name="文本框 1">
            <a:extLst>
              <a:ext uri="{FF2B5EF4-FFF2-40B4-BE49-F238E27FC236}">
                <a16:creationId xmlns:a16="http://schemas.microsoft.com/office/drawing/2014/main" id="{AB639327-334C-FF49-ADB7-DDE61E6347A9}"/>
              </a:ext>
            </a:extLst>
          </p:cNvPr>
          <p:cNvSpPr txBox="1"/>
          <p:nvPr/>
        </p:nvSpPr>
        <p:spPr>
          <a:xfrm>
            <a:off x="2899317" y="2423209"/>
            <a:ext cx="6055112" cy="523220"/>
          </a:xfrm>
          <a:prstGeom prst="rect">
            <a:avLst/>
          </a:prstGeom>
          <a:noFill/>
        </p:spPr>
        <p:txBody>
          <a:bodyPr wrap="square" rtlCol="0">
            <a:spAutoFit/>
          </a:bodyPr>
          <a:lstStyle/>
          <a:p>
            <a:r>
              <a:rPr kumimoji="1" lang="zh-CN" altLang="en-US" sz="2800" dirty="0"/>
              <a:t>面向任播的网络测量与性能优化研究</a:t>
            </a:r>
          </a:p>
        </p:txBody>
      </p:sp>
      <p:sp>
        <p:nvSpPr>
          <p:cNvPr id="7" name="文本框 6">
            <a:extLst>
              <a:ext uri="{FF2B5EF4-FFF2-40B4-BE49-F238E27FC236}">
                <a16:creationId xmlns:a16="http://schemas.microsoft.com/office/drawing/2014/main" id="{B5496DB7-3374-6643-88B8-6E090C087690}"/>
              </a:ext>
            </a:extLst>
          </p:cNvPr>
          <p:cNvSpPr txBox="1"/>
          <p:nvPr/>
        </p:nvSpPr>
        <p:spPr>
          <a:xfrm>
            <a:off x="4738687" y="3379347"/>
            <a:ext cx="2999678" cy="707886"/>
          </a:xfrm>
          <a:prstGeom prst="rect">
            <a:avLst/>
          </a:prstGeom>
          <a:noFill/>
        </p:spPr>
        <p:txBody>
          <a:bodyPr wrap="square" rtlCol="0">
            <a:spAutoFit/>
          </a:bodyPr>
          <a:lstStyle/>
          <a:p>
            <a:r>
              <a:rPr kumimoji="1" lang="zh-CN" altLang="en-US" sz="2000" b="1" dirty="0"/>
              <a:t>姓名：周敏苑</a:t>
            </a:r>
            <a:endParaRPr kumimoji="1" lang="en-US" altLang="zh-CN" sz="2000" b="1" dirty="0"/>
          </a:p>
          <a:p>
            <a:r>
              <a:rPr kumimoji="1" lang="zh-CN" altLang="en-US" sz="2000" b="1" dirty="0"/>
              <a:t>导师：窦万春，郑嘉琦</a:t>
            </a:r>
          </a:p>
        </p:txBody>
      </p:sp>
    </p:spTree>
    <p:extLst>
      <p:ext uri="{BB962C8B-B14F-4D97-AF65-F5344CB8AC3E}">
        <p14:creationId xmlns:p14="http://schemas.microsoft.com/office/powerpoint/2010/main" val="4073004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研究背景</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75134D4B-A315-D801-E1D4-20020E9D8C07}"/>
              </a:ext>
            </a:extLst>
          </p:cNvPr>
          <p:cNvPicPr>
            <a:picLocks noChangeAspect="1"/>
          </p:cNvPicPr>
          <p:nvPr/>
        </p:nvPicPr>
        <p:blipFill>
          <a:blip r:embed="rId3"/>
          <a:stretch/>
        </p:blipFill>
        <p:spPr>
          <a:xfrm>
            <a:off x="978310" y="2805812"/>
            <a:ext cx="4596579" cy="2413204"/>
          </a:xfrm>
          <a:prstGeom prst="rect">
            <a:avLst/>
          </a:prstGeom>
        </p:spPr>
      </p:pic>
      <p:sp>
        <p:nvSpPr>
          <p:cNvPr id="9" name="矩形 8">
            <a:extLst>
              <a:ext uri="{FF2B5EF4-FFF2-40B4-BE49-F238E27FC236}">
                <a16:creationId xmlns:a16="http://schemas.microsoft.com/office/drawing/2014/main" id="{CD3A81BE-365C-EC4F-78A1-FC5D8D37D554}"/>
              </a:ext>
            </a:extLst>
          </p:cNvPr>
          <p:cNvSpPr/>
          <p:nvPr/>
        </p:nvSpPr>
        <p:spPr>
          <a:xfrm>
            <a:off x="947057" y="2762257"/>
            <a:ext cx="4627832" cy="2695575"/>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76FF3415-03DD-8944-91F0-09FB92CF800D}"/>
              </a:ext>
            </a:extLst>
          </p:cNvPr>
          <p:cNvSpPr/>
          <p:nvPr/>
        </p:nvSpPr>
        <p:spPr>
          <a:xfrm>
            <a:off x="1943101" y="5248282"/>
            <a:ext cx="2343150" cy="5143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任播在</a:t>
            </a:r>
            <a:r>
              <a:rPr lang="en-US" altLang="zh-CN" b="1" dirty="0">
                <a:solidFill>
                  <a:schemeClr val="tx1"/>
                </a:solidFill>
              </a:rPr>
              <a:t>CDN</a:t>
            </a:r>
            <a:r>
              <a:rPr lang="zh-CN" altLang="en-US" b="1" dirty="0">
                <a:solidFill>
                  <a:schemeClr val="tx1"/>
                </a:solidFill>
              </a:rPr>
              <a:t>中的使用</a:t>
            </a:r>
          </a:p>
        </p:txBody>
      </p:sp>
      <p:pic>
        <p:nvPicPr>
          <p:cNvPr id="15" name="Content Placeholder 5">
            <a:extLst>
              <a:ext uri="{FF2B5EF4-FFF2-40B4-BE49-F238E27FC236}">
                <a16:creationId xmlns:a16="http://schemas.microsoft.com/office/drawing/2014/main" id="{20393F40-3FD1-BD69-01AC-08D16B910E11}"/>
              </a:ext>
            </a:extLst>
          </p:cNvPr>
          <p:cNvPicPr>
            <a:picLocks noChangeAspect="1"/>
          </p:cNvPicPr>
          <p:nvPr/>
        </p:nvPicPr>
        <p:blipFill>
          <a:blip r:embed="rId4"/>
          <a:stretch/>
        </p:blipFill>
        <p:spPr>
          <a:xfrm>
            <a:off x="5785163" y="2724848"/>
            <a:ext cx="5568637" cy="2892331"/>
          </a:xfrm>
          <a:prstGeom prst="rect">
            <a:avLst/>
          </a:prstGeom>
        </p:spPr>
      </p:pic>
      <p:sp>
        <p:nvSpPr>
          <p:cNvPr id="16" name="矩形 15">
            <a:extLst>
              <a:ext uri="{FF2B5EF4-FFF2-40B4-BE49-F238E27FC236}">
                <a16:creationId xmlns:a16="http://schemas.microsoft.com/office/drawing/2014/main" id="{6BE1230D-DECD-CAA1-AE27-40BF3958B980}"/>
              </a:ext>
            </a:extLst>
          </p:cNvPr>
          <p:cNvSpPr/>
          <p:nvPr/>
        </p:nvSpPr>
        <p:spPr>
          <a:xfrm>
            <a:off x="5908307" y="2798471"/>
            <a:ext cx="5350923" cy="2673649"/>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7" name="矩形 16">
            <a:extLst>
              <a:ext uri="{FF2B5EF4-FFF2-40B4-BE49-F238E27FC236}">
                <a16:creationId xmlns:a16="http://schemas.microsoft.com/office/drawing/2014/main" id="{7FDCC151-5656-DA3F-2B4E-C0ED2019A9AD}"/>
              </a:ext>
            </a:extLst>
          </p:cNvPr>
          <p:cNvSpPr/>
          <p:nvPr/>
        </p:nvSpPr>
        <p:spPr>
          <a:xfrm>
            <a:off x="7493456" y="5178338"/>
            <a:ext cx="2609849" cy="5143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任播的缺点：路径膨胀</a:t>
            </a:r>
          </a:p>
        </p:txBody>
      </p:sp>
      <p:sp>
        <p:nvSpPr>
          <p:cNvPr id="18" name="文本框 17">
            <a:extLst>
              <a:ext uri="{FF2B5EF4-FFF2-40B4-BE49-F238E27FC236}">
                <a16:creationId xmlns:a16="http://schemas.microsoft.com/office/drawing/2014/main" id="{7E741942-5DF0-A87B-DA2F-486A16D6831F}"/>
              </a:ext>
            </a:extLst>
          </p:cNvPr>
          <p:cNvSpPr txBox="1"/>
          <p:nvPr/>
        </p:nvSpPr>
        <p:spPr>
          <a:xfrm>
            <a:off x="978310" y="1690688"/>
            <a:ext cx="9365840" cy="707886"/>
          </a:xfrm>
          <a:prstGeom prst="rect">
            <a:avLst/>
          </a:prstGeom>
          <a:noFill/>
        </p:spPr>
        <p:txBody>
          <a:bodyPr wrap="square" rtlCol="0">
            <a:spAutoFit/>
          </a:bodyPr>
          <a:lstStyle/>
          <a:p>
            <a:r>
              <a:rPr kumimoji="1" lang="zh-CN" altLang="en-US" sz="2000" b="1" dirty="0"/>
              <a:t>任播简介：一种网络寻址和路由方式，从多个位置宣告相同的</a:t>
            </a:r>
            <a:r>
              <a:rPr kumimoji="1" lang="en-US" altLang="zh-CN" sz="2000" b="1" dirty="0"/>
              <a:t>IP</a:t>
            </a:r>
            <a:r>
              <a:rPr kumimoji="1" lang="zh-CN" altLang="en-US" sz="2000" b="1" dirty="0"/>
              <a:t>，广泛用于</a:t>
            </a:r>
            <a:r>
              <a:rPr kumimoji="1" lang="en-US" altLang="zh-CN" sz="2000" b="1" dirty="0"/>
              <a:t>CDN</a:t>
            </a:r>
            <a:r>
              <a:rPr kumimoji="1" lang="zh-CN" altLang="en-US" sz="2000" b="1" dirty="0"/>
              <a:t>，</a:t>
            </a:r>
            <a:r>
              <a:rPr kumimoji="1" lang="en-US" altLang="zh-CN" sz="2000" b="1" dirty="0"/>
              <a:t>DNS</a:t>
            </a:r>
            <a:r>
              <a:rPr kumimoji="1" lang="zh-CN" altLang="en-US" sz="2000" b="1" dirty="0"/>
              <a:t>等基础设施服务中。</a:t>
            </a:r>
          </a:p>
        </p:txBody>
      </p:sp>
      <p:cxnSp>
        <p:nvCxnSpPr>
          <p:cNvPr id="20" name="直线箭头连接符 19">
            <a:extLst>
              <a:ext uri="{FF2B5EF4-FFF2-40B4-BE49-F238E27FC236}">
                <a16:creationId xmlns:a16="http://schemas.microsoft.com/office/drawing/2014/main" id="{53CB9CB2-911B-0F1B-2179-87D78D13E6F6}"/>
              </a:ext>
            </a:extLst>
          </p:cNvPr>
          <p:cNvCxnSpPr>
            <a:cxnSpLocks/>
          </p:cNvCxnSpPr>
          <p:nvPr/>
        </p:nvCxnSpPr>
        <p:spPr>
          <a:xfrm flipH="1" flipV="1">
            <a:off x="6886574" y="3643313"/>
            <a:ext cx="3188155" cy="4667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01616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en" altLang="zh-CN" sz="4000" b="1" dirty="0">
                <a:latin typeface="Microsoft YaHei" panose="020B0503020204020204" pitchFamily="34" charset="-122"/>
                <a:ea typeface="Microsoft YaHei" panose="020B0503020204020204" pitchFamily="34" charset="-122"/>
              </a:rPr>
              <a:t>DNS-based </a:t>
            </a:r>
            <a:r>
              <a:rPr kumimoji="1" lang="en" altLang="zh-CN" sz="4000" b="1" dirty="0" err="1">
                <a:latin typeface="Microsoft YaHei" panose="020B0503020204020204" pitchFamily="34" charset="-122"/>
                <a:ea typeface="Microsoft YaHei" panose="020B0503020204020204" pitchFamily="34" charset="-122"/>
              </a:rPr>
              <a:t>v.s</a:t>
            </a:r>
            <a:r>
              <a:rPr kumimoji="1" lang="en" altLang="zh-CN" sz="4000" b="1" dirty="0">
                <a:latin typeface="Microsoft YaHei" panose="020B0503020204020204" pitchFamily="34" charset="-122"/>
                <a:ea typeface="Microsoft YaHei" panose="020B0503020204020204" pitchFamily="34" charset="-122"/>
              </a:rPr>
              <a:t>. IP Anycast-based</a:t>
            </a:r>
            <a:endParaRPr kumimoji="1" lang="zh-CN" altLang="en-US" sz="4000" b="1"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a:xfrm>
            <a:off x="704385" y="5173368"/>
            <a:ext cx="2743200" cy="365125"/>
          </a:xfrm>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a:xfrm>
            <a:off x="8476785" y="5173368"/>
            <a:ext cx="2743200" cy="365125"/>
          </a:xfrm>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5E27915F-8495-7D49-85BF-659E8848E968}"/>
              </a:ext>
            </a:extLst>
          </p:cNvPr>
          <p:cNvSpPr txBox="1">
            <a:spLocks/>
          </p:cNvSpPr>
          <p:nvPr/>
        </p:nvSpPr>
        <p:spPr>
          <a:xfrm>
            <a:off x="484913" y="14586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9" name="Content Placeholder 4">
            <a:extLst>
              <a:ext uri="{FF2B5EF4-FFF2-40B4-BE49-F238E27FC236}">
                <a16:creationId xmlns:a16="http://schemas.microsoft.com/office/drawing/2014/main" id="{BFBAF96E-370B-554C-8063-DE07CE98B7BC}"/>
              </a:ext>
            </a:extLst>
          </p:cNvPr>
          <p:cNvSpPr txBox="1">
            <a:spLocks/>
          </p:cNvSpPr>
          <p:nvPr/>
        </p:nvSpPr>
        <p:spPr>
          <a:xfrm>
            <a:off x="5963633" y="1549091"/>
            <a:ext cx="5523686" cy="4855185"/>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DNS</a:t>
            </a:r>
            <a:r>
              <a:rPr lang="en-US" altLang="zh-CN" dirty="0"/>
              <a:t>-based</a:t>
            </a:r>
            <a:endParaRPr lang="en-US" dirty="0"/>
          </a:p>
          <a:p>
            <a:pPr lvl="1"/>
            <a:r>
              <a:rPr lang="en-US" dirty="0" err="1"/>
              <a:t>高性能</a:t>
            </a:r>
            <a:r>
              <a:rPr lang="zh-CN" altLang="en-US" dirty="0"/>
              <a:t>，强可控</a:t>
            </a:r>
            <a:endParaRPr lang="en-US" dirty="0"/>
          </a:p>
          <a:p>
            <a:pPr lvl="1"/>
            <a:r>
              <a:rPr lang="en-US" altLang="zh-CN" dirty="0"/>
              <a:t>|</a:t>
            </a:r>
            <a:r>
              <a:rPr lang="en-US" altLang="zh-CN" dirty="0" err="1"/>
              <a:t>站点</a:t>
            </a:r>
            <a:r>
              <a:rPr lang="en-US" altLang="zh-CN" dirty="0"/>
              <a:t>| * |</a:t>
            </a:r>
            <a:r>
              <a:rPr lang="en-US" altLang="zh-CN" dirty="0" err="1"/>
              <a:t>用户</a:t>
            </a:r>
            <a:r>
              <a:rPr lang="en-US" altLang="zh-CN" dirty="0"/>
              <a:t>|</a:t>
            </a:r>
            <a:r>
              <a:rPr lang="zh-CN" altLang="en-US" dirty="0"/>
              <a:t>映射困难</a:t>
            </a:r>
            <a:endParaRPr lang="en-US" dirty="0"/>
          </a:p>
          <a:p>
            <a:r>
              <a:rPr lang="en-US" dirty="0"/>
              <a:t>IP Anycast-based</a:t>
            </a:r>
          </a:p>
          <a:p>
            <a:pPr lvl="1"/>
            <a:r>
              <a:rPr lang="en-US" dirty="0" err="1"/>
              <a:t>容易部署</a:t>
            </a:r>
            <a:endParaRPr lang="en-US" dirty="0"/>
          </a:p>
          <a:p>
            <a:pPr lvl="1"/>
            <a:r>
              <a:rPr lang="en-US" dirty="0" err="1"/>
              <a:t>难以优化</a:t>
            </a:r>
            <a:endParaRPr lang="en-US" dirty="0"/>
          </a:p>
          <a:p>
            <a:r>
              <a:rPr lang="en-US" dirty="0" err="1">
                <a:solidFill>
                  <a:srgbClr val="FF0000"/>
                </a:solidFill>
              </a:rPr>
              <a:t>AnyTuner</a:t>
            </a:r>
            <a:endParaRPr lang="en-US" dirty="0">
              <a:solidFill>
                <a:srgbClr val="FF0000"/>
              </a:solidFill>
            </a:endParaRPr>
          </a:p>
          <a:p>
            <a:pPr lvl="1"/>
            <a:r>
              <a:rPr lang="en-US" dirty="0" err="1"/>
              <a:t>基于BGP策略的任播调优</a:t>
            </a:r>
            <a:endParaRPr lang="en-US" dirty="0"/>
          </a:p>
          <a:p>
            <a:r>
              <a:rPr lang="en-US" altLang="zh-CN" dirty="0" err="1">
                <a:solidFill>
                  <a:srgbClr val="FF0000"/>
                </a:solidFill>
              </a:rPr>
              <a:t>AnyPro</a:t>
            </a:r>
            <a:endParaRPr lang="en-US" altLang="zh-CN" dirty="0">
              <a:solidFill>
                <a:srgbClr val="FF0000"/>
              </a:solidFill>
            </a:endParaRPr>
          </a:p>
          <a:p>
            <a:pPr lvl="1"/>
            <a:r>
              <a:rPr lang="zh-CN" altLang="en-US" dirty="0"/>
              <a:t>基于</a:t>
            </a:r>
            <a:r>
              <a:rPr lang="en-US" altLang="zh-CN" dirty="0"/>
              <a:t>AS</a:t>
            </a:r>
            <a:r>
              <a:rPr lang="zh-CN" altLang="en-US" dirty="0"/>
              <a:t>路径预置的优化模型</a:t>
            </a:r>
            <a:endParaRPr lang="en-US" altLang="zh-CN" dirty="0"/>
          </a:p>
          <a:p>
            <a:r>
              <a:rPr lang="en-US" dirty="0" err="1">
                <a:solidFill>
                  <a:srgbClr val="FF0000"/>
                </a:solidFill>
              </a:rPr>
              <a:t>AnyReg</a:t>
            </a:r>
            <a:endParaRPr lang="en-US" dirty="0">
              <a:solidFill>
                <a:srgbClr val="FF0000"/>
              </a:solidFill>
            </a:endParaRPr>
          </a:p>
          <a:p>
            <a:pPr lvl="1"/>
            <a:r>
              <a:rPr lang="en-US" dirty="0" err="1"/>
              <a:t>结合任播和DNS</a:t>
            </a:r>
            <a:endParaRPr lang="en-US" dirty="0"/>
          </a:p>
        </p:txBody>
      </p:sp>
      <p:cxnSp>
        <p:nvCxnSpPr>
          <p:cNvPr id="21" name="Straight Arrow Connector 6">
            <a:extLst>
              <a:ext uri="{FF2B5EF4-FFF2-40B4-BE49-F238E27FC236}">
                <a16:creationId xmlns:a16="http://schemas.microsoft.com/office/drawing/2014/main" id="{8AE09E1A-0733-9A47-8F1D-C658F03F0FBD}"/>
              </a:ext>
            </a:extLst>
          </p:cNvPr>
          <p:cNvCxnSpPr/>
          <p:nvPr/>
        </p:nvCxnSpPr>
        <p:spPr>
          <a:xfrm>
            <a:off x="699146" y="4791498"/>
            <a:ext cx="252077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7">
            <a:extLst>
              <a:ext uri="{FF2B5EF4-FFF2-40B4-BE49-F238E27FC236}">
                <a16:creationId xmlns:a16="http://schemas.microsoft.com/office/drawing/2014/main" id="{F2809EA2-4D27-204C-9099-DBD1550B70E1}"/>
              </a:ext>
            </a:extLst>
          </p:cNvPr>
          <p:cNvCxnSpPr>
            <a:cxnSpLocks/>
          </p:cNvCxnSpPr>
          <p:nvPr/>
        </p:nvCxnSpPr>
        <p:spPr>
          <a:xfrm rot="16200000">
            <a:off x="-544768" y="3531109"/>
            <a:ext cx="252077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TextBox 8">
            <a:extLst>
              <a:ext uri="{FF2B5EF4-FFF2-40B4-BE49-F238E27FC236}">
                <a16:creationId xmlns:a16="http://schemas.microsoft.com/office/drawing/2014/main" id="{735F8C1C-9DA5-0641-9D5E-F468823F0E79}"/>
              </a:ext>
            </a:extLst>
          </p:cNvPr>
          <p:cNvSpPr txBox="1"/>
          <p:nvPr/>
        </p:nvSpPr>
        <p:spPr>
          <a:xfrm>
            <a:off x="2119760" y="4824154"/>
            <a:ext cx="1107996" cy="369332"/>
          </a:xfrm>
          <a:prstGeom prst="rect">
            <a:avLst/>
          </a:prstGeom>
          <a:noFill/>
        </p:spPr>
        <p:txBody>
          <a:bodyPr wrap="none" rtlCol="0">
            <a:spAutoFit/>
          </a:bodyPr>
          <a:lstStyle/>
          <a:p>
            <a:r>
              <a:rPr lang="en-US" dirty="0" err="1"/>
              <a:t>控制粒度</a:t>
            </a:r>
            <a:endParaRPr lang="en-US" dirty="0"/>
          </a:p>
        </p:txBody>
      </p:sp>
      <p:sp>
        <p:nvSpPr>
          <p:cNvPr id="24" name="TextBox 9">
            <a:extLst>
              <a:ext uri="{FF2B5EF4-FFF2-40B4-BE49-F238E27FC236}">
                <a16:creationId xmlns:a16="http://schemas.microsoft.com/office/drawing/2014/main" id="{6BD58A2D-8697-7C4D-9070-0FE5B55E35C5}"/>
              </a:ext>
            </a:extLst>
          </p:cNvPr>
          <p:cNvSpPr txBox="1"/>
          <p:nvPr/>
        </p:nvSpPr>
        <p:spPr>
          <a:xfrm rot="16200000">
            <a:off x="181510" y="2367181"/>
            <a:ext cx="646331" cy="369332"/>
          </a:xfrm>
          <a:prstGeom prst="rect">
            <a:avLst/>
          </a:prstGeom>
          <a:noFill/>
        </p:spPr>
        <p:txBody>
          <a:bodyPr wrap="none" rtlCol="0">
            <a:spAutoFit/>
          </a:bodyPr>
          <a:lstStyle/>
          <a:p>
            <a:r>
              <a:rPr lang="en-US" dirty="0" err="1"/>
              <a:t>性能</a:t>
            </a:r>
            <a:endParaRPr lang="en-US" dirty="0"/>
          </a:p>
        </p:txBody>
      </p:sp>
      <p:sp>
        <p:nvSpPr>
          <p:cNvPr id="25" name="TextBox 10">
            <a:extLst>
              <a:ext uri="{FF2B5EF4-FFF2-40B4-BE49-F238E27FC236}">
                <a16:creationId xmlns:a16="http://schemas.microsoft.com/office/drawing/2014/main" id="{29194604-AA58-E64E-9DFD-4040C9D2BE34}"/>
              </a:ext>
            </a:extLst>
          </p:cNvPr>
          <p:cNvSpPr txBox="1"/>
          <p:nvPr/>
        </p:nvSpPr>
        <p:spPr>
          <a:xfrm>
            <a:off x="2873692" y="2299684"/>
            <a:ext cx="1211165" cy="369332"/>
          </a:xfrm>
          <a:prstGeom prst="rect">
            <a:avLst/>
          </a:prstGeom>
          <a:noFill/>
        </p:spPr>
        <p:txBody>
          <a:bodyPr wrap="none" rtlCol="0">
            <a:spAutoFit/>
          </a:bodyPr>
          <a:lstStyle/>
          <a:p>
            <a:r>
              <a:rPr lang="en-US" dirty="0"/>
              <a:t>DNS-based</a:t>
            </a:r>
          </a:p>
        </p:txBody>
      </p:sp>
      <p:sp>
        <p:nvSpPr>
          <p:cNvPr id="26" name="TextBox 11">
            <a:extLst>
              <a:ext uri="{FF2B5EF4-FFF2-40B4-BE49-F238E27FC236}">
                <a16:creationId xmlns:a16="http://schemas.microsoft.com/office/drawing/2014/main" id="{C064E647-949F-2A41-BA0F-1A7B1ECA7BF8}"/>
              </a:ext>
            </a:extLst>
          </p:cNvPr>
          <p:cNvSpPr txBox="1"/>
          <p:nvPr/>
        </p:nvSpPr>
        <p:spPr>
          <a:xfrm>
            <a:off x="1037866" y="4353777"/>
            <a:ext cx="1759200" cy="369332"/>
          </a:xfrm>
          <a:prstGeom prst="rect">
            <a:avLst/>
          </a:prstGeom>
          <a:noFill/>
        </p:spPr>
        <p:txBody>
          <a:bodyPr wrap="none" rtlCol="0">
            <a:spAutoFit/>
          </a:bodyPr>
          <a:lstStyle/>
          <a:p>
            <a:r>
              <a:rPr lang="en-US" dirty="0"/>
              <a:t>IP Anycast-based</a:t>
            </a:r>
          </a:p>
        </p:txBody>
      </p:sp>
      <p:sp>
        <p:nvSpPr>
          <p:cNvPr id="27" name="TextBox 12">
            <a:extLst>
              <a:ext uri="{FF2B5EF4-FFF2-40B4-BE49-F238E27FC236}">
                <a16:creationId xmlns:a16="http://schemas.microsoft.com/office/drawing/2014/main" id="{8DA0B362-7005-584C-9D6A-A439F8A8025C}"/>
              </a:ext>
            </a:extLst>
          </p:cNvPr>
          <p:cNvSpPr txBox="1"/>
          <p:nvPr/>
        </p:nvSpPr>
        <p:spPr>
          <a:xfrm>
            <a:off x="2319109" y="2835274"/>
            <a:ext cx="2577180" cy="369332"/>
          </a:xfrm>
          <a:prstGeom prst="rect">
            <a:avLst/>
          </a:prstGeom>
          <a:noFill/>
        </p:spPr>
        <p:txBody>
          <a:bodyPr wrap="none" rtlCol="0">
            <a:spAutoFit/>
          </a:bodyPr>
          <a:lstStyle/>
          <a:p>
            <a:r>
              <a:rPr lang="en-US" dirty="0" err="1"/>
              <a:t>AnyReg</a:t>
            </a:r>
            <a:r>
              <a:rPr lang="en-US" dirty="0"/>
              <a:t> [SIGCOMM 2023]</a:t>
            </a:r>
          </a:p>
        </p:txBody>
      </p:sp>
      <p:sp>
        <p:nvSpPr>
          <p:cNvPr id="28" name="Oval 13">
            <a:extLst>
              <a:ext uri="{FF2B5EF4-FFF2-40B4-BE49-F238E27FC236}">
                <a16:creationId xmlns:a16="http://schemas.microsoft.com/office/drawing/2014/main" id="{924C8521-47D2-C449-AE2C-EC80B3C8E47F}"/>
              </a:ext>
            </a:extLst>
          </p:cNvPr>
          <p:cNvSpPr/>
          <p:nvPr/>
        </p:nvSpPr>
        <p:spPr>
          <a:xfrm>
            <a:off x="909212" y="4475287"/>
            <a:ext cx="114842" cy="1148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14">
            <a:extLst>
              <a:ext uri="{FF2B5EF4-FFF2-40B4-BE49-F238E27FC236}">
                <a16:creationId xmlns:a16="http://schemas.microsoft.com/office/drawing/2014/main" id="{56762AA9-2DEB-9341-BFE1-71714489596F}"/>
              </a:ext>
            </a:extLst>
          </p:cNvPr>
          <p:cNvSpPr/>
          <p:nvPr/>
        </p:nvSpPr>
        <p:spPr>
          <a:xfrm>
            <a:off x="2732572" y="2465320"/>
            <a:ext cx="114842" cy="1148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15">
            <a:extLst>
              <a:ext uri="{FF2B5EF4-FFF2-40B4-BE49-F238E27FC236}">
                <a16:creationId xmlns:a16="http://schemas.microsoft.com/office/drawing/2014/main" id="{85119725-2E5F-D247-A398-14A74BAA981C}"/>
              </a:ext>
            </a:extLst>
          </p:cNvPr>
          <p:cNvSpPr/>
          <p:nvPr/>
        </p:nvSpPr>
        <p:spPr>
          <a:xfrm>
            <a:off x="2204267" y="2975448"/>
            <a:ext cx="114842" cy="11484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6">
            <a:extLst>
              <a:ext uri="{FF2B5EF4-FFF2-40B4-BE49-F238E27FC236}">
                <a16:creationId xmlns:a16="http://schemas.microsoft.com/office/drawing/2014/main" id="{5CB149CC-01ED-6F48-98D9-011D6EA2C1C5}"/>
              </a:ext>
            </a:extLst>
          </p:cNvPr>
          <p:cNvSpPr/>
          <p:nvPr/>
        </p:nvSpPr>
        <p:spPr>
          <a:xfrm>
            <a:off x="1227703" y="3886278"/>
            <a:ext cx="114842" cy="11484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18">
            <a:extLst>
              <a:ext uri="{FF2B5EF4-FFF2-40B4-BE49-F238E27FC236}">
                <a16:creationId xmlns:a16="http://schemas.microsoft.com/office/drawing/2014/main" id="{E2919A4C-E519-5749-B346-7E0CA03B93F7}"/>
              </a:ext>
            </a:extLst>
          </p:cNvPr>
          <p:cNvSpPr txBox="1"/>
          <p:nvPr/>
        </p:nvSpPr>
        <p:spPr>
          <a:xfrm>
            <a:off x="1430673" y="3740196"/>
            <a:ext cx="2240357" cy="369332"/>
          </a:xfrm>
          <a:prstGeom prst="rect">
            <a:avLst/>
          </a:prstGeom>
          <a:noFill/>
        </p:spPr>
        <p:txBody>
          <a:bodyPr wrap="none" rtlCol="0">
            <a:spAutoFit/>
          </a:bodyPr>
          <a:lstStyle/>
          <a:p>
            <a:r>
              <a:rPr lang="en-US" dirty="0" err="1"/>
              <a:t>AnyTuner</a:t>
            </a:r>
            <a:r>
              <a:rPr lang="en-US" dirty="0"/>
              <a:t> [ICNP 2025]</a:t>
            </a:r>
          </a:p>
        </p:txBody>
      </p:sp>
      <p:cxnSp>
        <p:nvCxnSpPr>
          <p:cNvPr id="33" name="Straight Connector 2">
            <a:extLst>
              <a:ext uri="{FF2B5EF4-FFF2-40B4-BE49-F238E27FC236}">
                <a16:creationId xmlns:a16="http://schemas.microsoft.com/office/drawing/2014/main" id="{F19F7600-79F8-7045-A61A-42010737871F}"/>
              </a:ext>
            </a:extLst>
          </p:cNvPr>
          <p:cNvCxnSpPr>
            <a:cxnSpLocks/>
            <a:endCxn id="19" idx="1"/>
          </p:cNvCxnSpPr>
          <p:nvPr/>
        </p:nvCxnSpPr>
        <p:spPr>
          <a:xfrm flipV="1">
            <a:off x="3775616" y="3976684"/>
            <a:ext cx="2188017" cy="132844"/>
          </a:xfrm>
          <a:prstGeom prst="line">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19">
            <a:extLst>
              <a:ext uri="{FF2B5EF4-FFF2-40B4-BE49-F238E27FC236}">
                <a16:creationId xmlns:a16="http://schemas.microsoft.com/office/drawing/2014/main" id="{9480AB20-566A-084B-9DE1-EB454D4D115E}"/>
              </a:ext>
            </a:extLst>
          </p:cNvPr>
          <p:cNvCxnSpPr>
            <a:cxnSpLocks/>
          </p:cNvCxnSpPr>
          <p:nvPr/>
        </p:nvCxnSpPr>
        <p:spPr>
          <a:xfrm>
            <a:off x="4611712" y="3090290"/>
            <a:ext cx="1449904" cy="2441160"/>
          </a:xfrm>
          <a:prstGeom prst="line">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Oval 16">
            <a:extLst>
              <a:ext uri="{FF2B5EF4-FFF2-40B4-BE49-F238E27FC236}">
                <a16:creationId xmlns:a16="http://schemas.microsoft.com/office/drawing/2014/main" id="{C9A7D3BE-56CD-BF4A-B103-A3AA5306F344}"/>
              </a:ext>
            </a:extLst>
          </p:cNvPr>
          <p:cNvSpPr/>
          <p:nvPr/>
        </p:nvSpPr>
        <p:spPr>
          <a:xfrm>
            <a:off x="1689233" y="3425092"/>
            <a:ext cx="114842" cy="11484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18">
            <a:extLst>
              <a:ext uri="{FF2B5EF4-FFF2-40B4-BE49-F238E27FC236}">
                <a16:creationId xmlns:a16="http://schemas.microsoft.com/office/drawing/2014/main" id="{36FDC85E-DAD5-0245-B2B8-B466A36B75F3}"/>
              </a:ext>
            </a:extLst>
          </p:cNvPr>
          <p:cNvSpPr txBox="1"/>
          <p:nvPr/>
        </p:nvSpPr>
        <p:spPr>
          <a:xfrm>
            <a:off x="1892203" y="3279010"/>
            <a:ext cx="856325" cy="369332"/>
          </a:xfrm>
          <a:prstGeom prst="rect">
            <a:avLst/>
          </a:prstGeom>
          <a:noFill/>
        </p:spPr>
        <p:txBody>
          <a:bodyPr wrap="none" rtlCol="0">
            <a:spAutoFit/>
          </a:bodyPr>
          <a:lstStyle/>
          <a:p>
            <a:r>
              <a:rPr lang="en-US" dirty="0" err="1"/>
              <a:t>AnyPro</a:t>
            </a:r>
            <a:endParaRPr lang="en-US" dirty="0"/>
          </a:p>
        </p:txBody>
      </p:sp>
      <p:cxnSp>
        <p:nvCxnSpPr>
          <p:cNvPr id="37" name="Straight Connector 19">
            <a:extLst>
              <a:ext uri="{FF2B5EF4-FFF2-40B4-BE49-F238E27FC236}">
                <a16:creationId xmlns:a16="http://schemas.microsoft.com/office/drawing/2014/main" id="{7EDC7250-37F0-BF4D-B3DC-57BE7B670981}"/>
              </a:ext>
            </a:extLst>
          </p:cNvPr>
          <p:cNvCxnSpPr>
            <a:cxnSpLocks/>
          </p:cNvCxnSpPr>
          <p:nvPr/>
        </p:nvCxnSpPr>
        <p:spPr>
          <a:xfrm>
            <a:off x="3549734" y="3465987"/>
            <a:ext cx="2511882" cy="1257122"/>
          </a:xfrm>
          <a:prstGeom prst="line">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262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xEl>
                                              <p:pRg st="11" end="11"/>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animBg="1"/>
      <p:bldP spid="29" grpId="0" animBg="1"/>
      <p:bldP spid="30" grpId="0" animBg="1"/>
      <p:bldP spid="31" grpId="0" animBg="1"/>
      <p:bldP spid="32" grpId="0"/>
      <p:bldP spid="35" grpId="0" animBg="1"/>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目录</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4</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482390A-8D13-2A75-EBB3-68512EEFCF67}"/>
              </a:ext>
            </a:extLst>
          </p:cNvPr>
          <p:cNvSpPr txBox="1"/>
          <p:nvPr/>
        </p:nvSpPr>
        <p:spPr>
          <a:xfrm>
            <a:off x="838199" y="1957388"/>
            <a:ext cx="8960709" cy="2246769"/>
          </a:xfrm>
          <a:prstGeom prst="rect">
            <a:avLst/>
          </a:prstGeom>
          <a:noFill/>
        </p:spPr>
        <p:txBody>
          <a:bodyPr wrap="square" rtlCol="0">
            <a:spAutoFit/>
          </a:bodyPr>
          <a:lstStyle/>
          <a:p>
            <a:pPr marL="457200" indent="-457200">
              <a:buClr>
                <a:srgbClr val="C00000"/>
              </a:buClr>
              <a:buSzPct val="50000"/>
              <a:buFont typeface="Wingdings" pitchFamily="2" charset="0"/>
              <a:buChar char="n"/>
            </a:pPr>
            <a:r>
              <a:rPr kumimoji="1" lang="zh-CN" altLang="en-US" sz="2800" b="1" dirty="0"/>
              <a:t>任播测量框架构建与实证分析</a:t>
            </a:r>
            <a:endParaRPr kumimoji="1" lang="en-US" altLang="zh-CN" sz="2800" b="1" dirty="0"/>
          </a:p>
          <a:p>
            <a:pPr marL="457200" indent="-457200">
              <a:buClr>
                <a:srgbClr val="C00000"/>
              </a:buClr>
              <a:buSzPct val="50000"/>
              <a:buFont typeface="Wingdings" pitchFamily="2" charset="0"/>
              <a:buChar char="n"/>
            </a:pPr>
            <a:endParaRPr kumimoji="1" lang="en-US" altLang="zh-CN" sz="2800" b="1" dirty="0"/>
          </a:p>
          <a:p>
            <a:pPr marL="457200" indent="-457200">
              <a:buClr>
                <a:srgbClr val="C00000"/>
              </a:buClr>
              <a:buSzPct val="50000"/>
              <a:buFont typeface="Wingdings" pitchFamily="2" charset="0"/>
              <a:buChar char="n"/>
            </a:pPr>
            <a:r>
              <a:rPr kumimoji="1" lang="en-US" altLang="zh-CN" sz="2800" b="1" dirty="0" err="1">
                <a:solidFill>
                  <a:schemeClr val="bg2">
                    <a:lumMod val="75000"/>
                  </a:schemeClr>
                </a:solidFill>
              </a:rPr>
              <a:t>AnyPro</a:t>
            </a:r>
            <a:r>
              <a:rPr kumimoji="1" lang="zh-CN" altLang="en-US" sz="2800" b="1" dirty="0">
                <a:solidFill>
                  <a:schemeClr val="bg2">
                    <a:lumMod val="75000"/>
                  </a:schemeClr>
                </a:solidFill>
              </a:rPr>
              <a:t>：基于 </a:t>
            </a:r>
            <a:r>
              <a:rPr kumimoji="1" lang="en" altLang="zh-CN" sz="2800" b="1" dirty="0">
                <a:solidFill>
                  <a:schemeClr val="bg2">
                    <a:lumMod val="75000"/>
                  </a:schemeClr>
                </a:solidFill>
              </a:rPr>
              <a:t>AS </a:t>
            </a:r>
            <a:r>
              <a:rPr kumimoji="1" lang="zh-CN" altLang="en-US" sz="2800" b="1" dirty="0">
                <a:solidFill>
                  <a:schemeClr val="bg2">
                    <a:lumMod val="75000"/>
                  </a:schemeClr>
                </a:solidFill>
              </a:rPr>
              <a:t>路径预置的任播优化白盒模型建立</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r>
              <a:rPr kumimoji="1" lang="en-US" altLang="zh-CN" sz="2800" b="1" dirty="0" err="1">
                <a:solidFill>
                  <a:schemeClr val="bg2">
                    <a:lumMod val="75000"/>
                  </a:schemeClr>
                </a:solidFill>
              </a:rPr>
              <a:t>AnyTuner</a:t>
            </a:r>
            <a:r>
              <a:rPr kumimoji="1" lang="zh-CN" altLang="en-US" sz="2800" b="1" dirty="0">
                <a:solidFill>
                  <a:schemeClr val="bg2">
                    <a:lumMod val="75000"/>
                  </a:schemeClr>
                </a:solidFill>
              </a:rPr>
              <a:t>：基于多策略协同的任播调优框架设计</a:t>
            </a:r>
          </a:p>
        </p:txBody>
      </p:sp>
    </p:spTree>
    <p:extLst>
      <p:ext uri="{BB962C8B-B14F-4D97-AF65-F5344CB8AC3E}">
        <p14:creationId xmlns:p14="http://schemas.microsoft.com/office/powerpoint/2010/main" val="1251382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研究背景</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5</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E195ECE2-7EA9-CE46-BEFA-9E0D81BDCDB6}"/>
              </a:ext>
            </a:extLst>
          </p:cNvPr>
          <p:cNvSpPr txBox="1"/>
          <p:nvPr/>
        </p:nvSpPr>
        <p:spPr>
          <a:xfrm>
            <a:off x="355216" y="3609756"/>
            <a:ext cx="2497873" cy="400110"/>
          </a:xfrm>
          <a:prstGeom prst="rect">
            <a:avLst/>
          </a:prstGeom>
          <a:noFill/>
        </p:spPr>
        <p:txBody>
          <a:bodyPr wrap="square" rtlCol="0">
            <a:spAutoFit/>
          </a:bodyPr>
          <a:lstStyle/>
          <a:p>
            <a:r>
              <a:rPr kumimoji="1" lang="zh-CN" altLang="en-US" sz="2000" b="1" dirty="0">
                <a:solidFill>
                  <a:schemeClr val="accent6">
                    <a:lumMod val="75000"/>
                  </a:schemeClr>
                </a:solidFill>
              </a:rPr>
              <a:t>传统广域网测量流程</a:t>
            </a:r>
          </a:p>
        </p:txBody>
      </p:sp>
      <p:sp>
        <p:nvSpPr>
          <p:cNvPr id="10" name="文本框 9">
            <a:extLst>
              <a:ext uri="{FF2B5EF4-FFF2-40B4-BE49-F238E27FC236}">
                <a16:creationId xmlns:a16="http://schemas.microsoft.com/office/drawing/2014/main" id="{E04E2EED-9A88-6D46-9183-2CBB7C36C13E}"/>
              </a:ext>
            </a:extLst>
          </p:cNvPr>
          <p:cNvSpPr txBox="1"/>
          <p:nvPr/>
        </p:nvSpPr>
        <p:spPr>
          <a:xfrm>
            <a:off x="373684" y="4167904"/>
            <a:ext cx="2497873" cy="400110"/>
          </a:xfrm>
          <a:prstGeom prst="rect">
            <a:avLst/>
          </a:prstGeom>
          <a:noFill/>
        </p:spPr>
        <p:txBody>
          <a:bodyPr wrap="square" rtlCol="0">
            <a:spAutoFit/>
          </a:bodyPr>
          <a:lstStyle/>
          <a:p>
            <a:r>
              <a:rPr kumimoji="1" lang="zh-CN" altLang="en-US" sz="2000" b="1" dirty="0">
                <a:solidFill>
                  <a:srgbClr val="FF0000"/>
                </a:solidFill>
              </a:rPr>
              <a:t>测量任播挑战</a:t>
            </a:r>
          </a:p>
        </p:txBody>
      </p:sp>
      <p:sp>
        <p:nvSpPr>
          <p:cNvPr id="12" name="矩形 11">
            <a:extLst>
              <a:ext uri="{FF2B5EF4-FFF2-40B4-BE49-F238E27FC236}">
                <a16:creationId xmlns:a16="http://schemas.microsoft.com/office/drawing/2014/main" id="{90EE6AEF-CB7D-4C43-BBAA-750896E18C92}"/>
              </a:ext>
            </a:extLst>
          </p:cNvPr>
          <p:cNvSpPr/>
          <p:nvPr/>
        </p:nvSpPr>
        <p:spPr>
          <a:xfrm>
            <a:off x="838200" y="2098655"/>
            <a:ext cx="3304943" cy="1394295"/>
          </a:xfrm>
          <a:prstGeom prst="rect">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5AFFBA96-D025-374B-B46E-9D4F55A89282}"/>
              </a:ext>
            </a:extLst>
          </p:cNvPr>
          <p:cNvSpPr/>
          <p:nvPr/>
        </p:nvSpPr>
        <p:spPr>
          <a:xfrm>
            <a:off x="973875" y="1931167"/>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确定测量对象</a:t>
            </a:r>
          </a:p>
        </p:txBody>
      </p:sp>
      <p:sp>
        <p:nvSpPr>
          <p:cNvPr id="14" name="矩形 13">
            <a:extLst>
              <a:ext uri="{FF2B5EF4-FFF2-40B4-BE49-F238E27FC236}">
                <a16:creationId xmlns:a16="http://schemas.microsoft.com/office/drawing/2014/main" id="{0CF72257-8BF2-3643-9083-DA638D8E5931}"/>
              </a:ext>
            </a:extLst>
          </p:cNvPr>
          <p:cNvSpPr/>
          <p:nvPr/>
        </p:nvSpPr>
        <p:spPr>
          <a:xfrm>
            <a:off x="4562475" y="2098655"/>
            <a:ext cx="3304943" cy="1394295"/>
          </a:xfrm>
          <a:prstGeom prst="rect">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0442948D-3563-414E-B002-CFA02C90524A}"/>
              </a:ext>
            </a:extLst>
          </p:cNvPr>
          <p:cNvSpPr/>
          <p:nvPr/>
        </p:nvSpPr>
        <p:spPr>
          <a:xfrm>
            <a:off x="4698150" y="1931167"/>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挑选测量框架</a:t>
            </a:r>
          </a:p>
        </p:txBody>
      </p:sp>
      <p:sp>
        <p:nvSpPr>
          <p:cNvPr id="16" name="矩形 15">
            <a:extLst>
              <a:ext uri="{FF2B5EF4-FFF2-40B4-BE49-F238E27FC236}">
                <a16:creationId xmlns:a16="http://schemas.microsoft.com/office/drawing/2014/main" id="{E9DB2806-65E3-5143-9205-D147C1DF6887}"/>
              </a:ext>
            </a:extLst>
          </p:cNvPr>
          <p:cNvSpPr/>
          <p:nvPr/>
        </p:nvSpPr>
        <p:spPr>
          <a:xfrm>
            <a:off x="8286750" y="2102188"/>
            <a:ext cx="3304943" cy="1394295"/>
          </a:xfrm>
          <a:prstGeom prst="rect">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9877688B-667F-A748-93F1-7099F476B3F1}"/>
              </a:ext>
            </a:extLst>
          </p:cNvPr>
          <p:cNvSpPr/>
          <p:nvPr/>
        </p:nvSpPr>
        <p:spPr>
          <a:xfrm>
            <a:off x="8422425" y="1934700"/>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分析测量结果</a:t>
            </a:r>
          </a:p>
        </p:txBody>
      </p:sp>
      <p:sp>
        <p:nvSpPr>
          <p:cNvPr id="18" name="箭头: 右 52">
            <a:extLst>
              <a:ext uri="{FF2B5EF4-FFF2-40B4-BE49-F238E27FC236}">
                <a16:creationId xmlns:a16="http://schemas.microsoft.com/office/drawing/2014/main" id="{84B56C03-E447-F94D-B158-E60C96452ADA}"/>
              </a:ext>
            </a:extLst>
          </p:cNvPr>
          <p:cNvSpPr/>
          <p:nvPr/>
        </p:nvSpPr>
        <p:spPr>
          <a:xfrm>
            <a:off x="4249087" y="2583705"/>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52">
            <a:extLst>
              <a:ext uri="{FF2B5EF4-FFF2-40B4-BE49-F238E27FC236}">
                <a16:creationId xmlns:a16="http://schemas.microsoft.com/office/drawing/2014/main" id="{C9D86EE1-DDFD-484E-A01C-B2CEDB715A8E}"/>
              </a:ext>
            </a:extLst>
          </p:cNvPr>
          <p:cNvSpPr/>
          <p:nvPr/>
        </p:nvSpPr>
        <p:spPr>
          <a:xfrm>
            <a:off x="7954777" y="2581721"/>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线连接符 20">
            <a:extLst>
              <a:ext uri="{FF2B5EF4-FFF2-40B4-BE49-F238E27FC236}">
                <a16:creationId xmlns:a16="http://schemas.microsoft.com/office/drawing/2014/main" id="{3508A22D-2B72-D84C-82EE-59FD004B950D}"/>
              </a:ext>
            </a:extLst>
          </p:cNvPr>
          <p:cNvCxnSpPr>
            <a:cxnSpLocks/>
          </p:cNvCxnSpPr>
          <p:nvPr/>
        </p:nvCxnSpPr>
        <p:spPr>
          <a:xfrm>
            <a:off x="373684" y="4065621"/>
            <a:ext cx="11480062"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81E5658-9E60-EC44-A98D-A0B03E2BD0E0}"/>
              </a:ext>
            </a:extLst>
          </p:cNvPr>
          <p:cNvSpPr/>
          <p:nvPr/>
        </p:nvSpPr>
        <p:spPr>
          <a:xfrm>
            <a:off x="838200" y="4708523"/>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C1E10097-17AE-794D-AD01-5292F46A0249}"/>
              </a:ext>
            </a:extLst>
          </p:cNvPr>
          <p:cNvSpPr/>
          <p:nvPr/>
        </p:nvSpPr>
        <p:spPr>
          <a:xfrm>
            <a:off x="973875" y="4541035"/>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确定测量对象</a:t>
            </a:r>
          </a:p>
        </p:txBody>
      </p:sp>
      <p:sp>
        <p:nvSpPr>
          <p:cNvPr id="25" name="矩形 24">
            <a:extLst>
              <a:ext uri="{FF2B5EF4-FFF2-40B4-BE49-F238E27FC236}">
                <a16:creationId xmlns:a16="http://schemas.microsoft.com/office/drawing/2014/main" id="{F51AE0D2-501A-2447-9576-E67ECF6EC92A}"/>
              </a:ext>
            </a:extLst>
          </p:cNvPr>
          <p:cNvSpPr/>
          <p:nvPr/>
        </p:nvSpPr>
        <p:spPr>
          <a:xfrm>
            <a:off x="4562475" y="4708523"/>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6429B94A-A351-4F42-9F87-EB4BF9CD4470}"/>
              </a:ext>
            </a:extLst>
          </p:cNvPr>
          <p:cNvSpPr/>
          <p:nvPr/>
        </p:nvSpPr>
        <p:spPr>
          <a:xfrm>
            <a:off x="4698150" y="4541035"/>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挑选测量框架</a:t>
            </a:r>
          </a:p>
        </p:txBody>
      </p:sp>
      <p:sp>
        <p:nvSpPr>
          <p:cNvPr id="27" name="矩形 26">
            <a:extLst>
              <a:ext uri="{FF2B5EF4-FFF2-40B4-BE49-F238E27FC236}">
                <a16:creationId xmlns:a16="http://schemas.microsoft.com/office/drawing/2014/main" id="{1312627B-1300-C646-8D17-03CD15885212}"/>
              </a:ext>
            </a:extLst>
          </p:cNvPr>
          <p:cNvSpPr/>
          <p:nvPr/>
        </p:nvSpPr>
        <p:spPr>
          <a:xfrm>
            <a:off x="8286750" y="4712056"/>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F3DEBD56-7F3C-C249-82B3-27BC9C35C4DD}"/>
              </a:ext>
            </a:extLst>
          </p:cNvPr>
          <p:cNvSpPr/>
          <p:nvPr/>
        </p:nvSpPr>
        <p:spPr>
          <a:xfrm>
            <a:off x="8422425" y="4544568"/>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分析测量结果</a:t>
            </a:r>
          </a:p>
        </p:txBody>
      </p:sp>
      <p:sp>
        <p:nvSpPr>
          <p:cNvPr id="29" name="箭头: 右 52">
            <a:extLst>
              <a:ext uri="{FF2B5EF4-FFF2-40B4-BE49-F238E27FC236}">
                <a16:creationId xmlns:a16="http://schemas.microsoft.com/office/drawing/2014/main" id="{6D5BDDF0-0264-6845-842F-D7E6E9C13D85}"/>
              </a:ext>
            </a:extLst>
          </p:cNvPr>
          <p:cNvSpPr/>
          <p:nvPr/>
        </p:nvSpPr>
        <p:spPr>
          <a:xfrm>
            <a:off x="4249087" y="5193573"/>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52">
            <a:extLst>
              <a:ext uri="{FF2B5EF4-FFF2-40B4-BE49-F238E27FC236}">
                <a16:creationId xmlns:a16="http://schemas.microsoft.com/office/drawing/2014/main" id="{9259A53C-1601-B04B-BCF5-DB92A004D231}"/>
              </a:ext>
            </a:extLst>
          </p:cNvPr>
          <p:cNvSpPr/>
          <p:nvPr/>
        </p:nvSpPr>
        <p:spPr>
          <a:xfrm>
            <a:off x="7954777" y="5191589"/>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C1685464-6D1F-6540-9D3D-D7E3CCAAC5D9}"/>
              </a:ext>
            </a:extLst>
          </p:cNvPr>
          <p:cNvSpPr txBox="1"/>
          <p:nvPr/>
        </p:nvSpPr>
        <p:spPr>
          <a:xfrm>
            <a:off x="973875" y="4821546"/>
            <a:ext cx="2886075" cy="1208857"/>
          </a:xfrm>
          <a:prstGeom prst="rect">
            <a:avLst/>
          </a:prstGeom>
          <a:noFill/>
        </p:spPr>
        <p:txBody>
          <a:bodyPr wrap="square" rtlCol="0">
            <a:spAutoFit/>
          </a:bodyPr>
          <a:lstStyle/>
          <a:p>
            <a:pPr>
              <a:lnSpc>
                <a:spcPct val="150000"/>
              </a:lnSpc>
            </a:pPr>
            <a:r>
              <a:rPr kumimoji="1" lang="en-US" altLang="zh-CN" dirty="0"/>
              <a:t>1</a:t>
            </a:r>
            <a:r>
              <a:rPr kumimoji="1" lang="en-US" altLang="zh-CN" sz="1600" dirty="0"/>
              <a:t>.</a:t>
            </a:r>
            <a:r>
              <a:rPr kumimoji="1" lang="zh-CN" altLang="en-US" sz="1600" dirty="0"/>
              <a:t>哪些</a:t>
            </a:r>
            <a:r>
              <a:rPr kumimoji="1" lang="en-US" altLang="zh-CN" sz="1600" dirty="0"/>
              <a:t>IP</a:t>
            </a:r>
            <a:r>
              <a:rPr kumimoji="1" lang="zh-CN" altLang="en-US" sz="1600" dirty="0"/>
              <a:t>是任播</a:t>
            </a:r>
            <a:r>
              <a:rPr kumimoji="1" lang="en-US" altLang="zh-CN" sz="1600" dirty="0"/>
              <a:t>IP</a:t>
            </a:r>
            <a:r>
              <a:rPr kumimoji="1" lang="zh-CN" altLang="en-US" sz="1600" dirty="0"/>
              <a:t>？</a:t>
            </a:r>
            <a:endParaRPr kumimoji="1" lang="en-US" altLang="zh-CN" sz="1600" dirty="0"/>
          </a:p>
          <a:p>
            <a:pPr>
              <a:lnSpc>
                <a:spcPct val="150000"/>
              </a:lnSpc>
            </a:pPr>
            <a:r>
              <a:rPr kumimoji="1" lang="en-US" altLang="zh-CN" sz="1600" dirty="0"/>
              <a:t>2.</a:t>
            </a:r>
            <a:r>
              <a:rPr kumimoji="1" lang="zh-CN" altLang="en-US" sz="1600" dirty="0"/>
              <a:t>哪些站点部署了任播</a:t>
            </a:r>
            <a:r>
              <a:rPr kumimoji="1" lang="en-US" altLang="zh-CN" sz="1600" dirty="0"/>
              <a:t>IP</a:t>
            </a:r>
            <a:r>
              <a:rPr kumimoji="1" lang="zh-CN" altLang="en-US" sz="1600" dirty="0"/>
              <a:t>？</a:t>
            </a:r>
            <a:endParaRPr kumimoji="1" lang="en-US" altLang="zh-CN" sz="1600" dirty="0"/>
          </a:p>
          <a:p>
            <a:pPr>
              <a:lnSpc>
                <a:spcPct val="150000"/>
              </a:lnSpc>
            </a:pPr>
            <a:r>
              <a:rPr kumimoji="1" lang="en-US" altLang="zh-CN" sz="1600" dirty="0"/>
              <a:t>3.</a:t>
            </a:r>
            <a:r>
              <a:rPr kumimoji="1" lang="zh-CN" altLang="en-US" sz="1600" dirty="0"/>
              <a:t>任播类型？</a:t>
            </a:r>
          </a:p>
        </p:txBody>
      </p:sp>
      <p:sp>
        <p:nvSpPr>
          <p:cNvPr id="32" name="文本框 31">
            <a:extLst>
              <a:ext uri="{FF2B5EF4-FFF2-40B4-BE49-F238E27FC236}">
                <a16:creationId xmlns:a16="http://schemas.microsoft.com/office/drawing/2014/main" id="{F9A58DF8-43B7-374B-AAE1-7F999F40B608}"/>
              </a:ext>
            </a:extLst>
          </p:cNvPr>
          <p:cNvSpPr txBox="1"/>
          <p:nvPr/>
        </p:nvSpPr>
        <p:spPr>
          <a:xfrm>
            <a:off x="4670677" y="4778036"/>
            <a:ext cx="2886075" cy="1208857"/>
          </a:xfrm>
          <a:prstGeom prst="rect">
            <a:avLst/>
          </a:prstGeom>
          <a:noFill/>
        </p:spPr>
        <p:txBody>
          <a:bodyPr wrap="square" rtlCol="0">
            <a:spAutoFit/>
          </a:bodyPr>
          <a:lstStyle/>
          <a:p>
            <a:pPr>
              <a:lnSpc>
                <a:spcPct val="150000"/>
              </a:lnSpc>
            </a:pPr>
            <a:r>
              <a:rPr kumimoji="1" lang="en-US" altLang="zh-CN" dirty="0"/>
              <a:t>1</a:t>
            </a:r>
            <a:r>
              <a:rPr kumimoji="1" lang="en-US" altLang="zh-CN" sz="1600" dirty="0"/>
              <a:t>.</a:t>
            </a:r>
            <a:r>
              <a:rPr kumimoji="1" lang="zh-CN" altLang="en-US" sz="1600" dirty="0"/>
              <a:t> 出向</a:t>
            </a:r>
            <a:r>
              <a:rPr kumimoji="1" lang="en-US" altLang="zh-CN" sz="1600" dirty="0"/>
              <a:t>or</a:t>
            </a:r>
            <a:r>
              <a:rPr kumimoji="1" lang="zh-CN" altLang="en-US" sz="1600" dirty="0"/>
              <a:t>入向？</a:t>
            </a:r>
            <a:endParaRPr kumimoji="1" lang="en-US" altLang="zh-CN" sz="1600" dirty="0"/>
          </a:p>
          <a:p>
            <a:pPr>
              <a:lnSpc>
                <a:spcPct val="150000"/>
              </a:lnSpc>
            </a:pPr>
            <a:r>
              <a:rPr kumimoji="1" lang="en-US" altLang="zh-CN" sz="1600" dirty="0"/>
              <a:t>2.</a:t>
            </a:r>
            <a:r>
              <a:rPr kumimoji="1" lang="zh-CN" altLang="en-US" sz="1600" dirty="0"/>
              <a:t> 自建</a:t>
            </a:r>
            <a:r>
              <a:rPr kumimoji="1" lang="en-US" altLang="zh-CN" sz="1600" dirty="0"/>
              <a:t>or</a:t>
            </a:r>
            <a:r>
              <a:rPr kumimoji="1" lang="zh-CN" altLang="en-US" sz="1600" dirty="0"/>
              <a:t>公用？</a:t>
            </a:r>
            <a:endParaRPr kumimoji="1" lang="en-US" altLang="zh-CN" sz="1600" dirty="0"/>
          </a:p>
          <a:p>
            <a:pPr>
              <a:lnSpc>
                <a:spcPct val="150000"/>
              </a:lnSpc>
            </a:pPr>
            <a:r>
              <a:rPr kumimoji="1" lang="en-US" altLang="zh-CN" sz="1600" dirty="0"/>
              <a:t>3.</a:t>
            </a:r>
            <a:r>
              <a:rPr kumimoji="1" lang="zh-CN" altLang="en-US" sz="1600" dirty="0"/>
              <a:t> 测量类型和规模？</a:t>
            </a:r>
          </a:p>
        </p:txBody>
      </p:sp>
      <p:sp>
        <p:nvSpPr>
          <p:cNvPr id="33" name="文本框 32">
            <a:extLst>
              <a:ext uri="{FF2B5EF4-FFF2-40B4-BE49-F238E27FC236}">
                <a16:creationId xmlns:a16="http://schemas.microsoft.com/office/drawing/2014/main" id="{4BF66DB5-0522-E64D-9EEE-E916C10F5245}"/>
              </a:ext>
            </a:extLst>
          </p:cNvPr>
          <p:cNvSpPr txBox="1"/>
          <p:nvPr/>
        </p:nvSpPr>
        <p:spPr>
          <a:xfrm>
            <a:off x="8967671" y="5150170"/>
            <a:ext cx="2886075" cy="423514"/>
          </a:xfrm>
          <a:prstGeom prst="rect">
            <a:avLst/>
          </a:prstGeom>
          <a:noFill/>
        </p:spPr>
        <p:txBody>
          <a:bodyPr wrap="square" rtlCol="0">
            <a:spAutoFit/>
          </a:bodyPr>
          <a:lstStyle/>
          <a:p>
            <a:pPr>
              <a:lnSpc>
                <a:spcPct val="150000"/>
              </a:lnSpc>
            </a:pPr>
            <a:r>
              <a:rPr kumimoji="1" lang="zh-CN" altLang="en-US" sz="1600" dirty="0"/>
              <a:t>站点</a:t>
            </a:r>
            <a:r>
              <a:rPr kumimoji="1" lang="en-US" altLang="zh-CN" sz="1600" dirty="0"/>
              <a:t>-</a:t>
            </a:r>
            <a:r>
              <a:rPr kumimoji="1" lang="zh-CN" altLang="en-US" sz="1600" dirty="0"/>
              <a:t>客户端映射？</a:t>
            </a:r>
            <a:endParaRPr kumimoji="1" lang="en-US" altLang="zh-CN" sz="1600" dirty="0"/>
          </a:p>
        </p:txBody>
      </p:sp>
      <p:pic>
        <p:nvPicPr>
          <p:cNvPr id="34" name="图片 33">
            <a:extLst>
              <a:ext uri="{FF2B5EF4-FFF2-40B4-BE49-F238E27FC236}">
                <a16:creationId xmlns:a16="http://schemas.microsoft.com/office/drawing/2014/main" id="{EEF2ACB7-EB97-9747-9AFE-B3A62CB63032}"/>
              </a:ext>
            </a:extLst>
          </p:cNvPr>
          <p:cNvPicPr>
            <a:picLocks noChangeAspect="1"/>
          </p:cNvPicPr>
          <p:nvPr/>
        </p:nvPicPr>
        <p:blipFill>
          <a:blip r:embed="rId3"/>
          <a:stretch>
            <a:fillRect/>
          </a:stretch>
        </p:blipFill>
        <p:spPr>
          <a:xfrm>
            <a:off x="4678111" y="2329488"/>
            <a:ext cx="1707821" cy="445519"/>
          </a:xfrm>
          <a:prstGeom prst="rect">
            <a:avLst/>
          </a:prstGeom>
        </p:spPr>
      </p:pic>
      <p:pic>
        <p:nvPicPr>
          <p:cNvPr id="35" name="图片 34">
            <a:extLst>
              <a:ext uri="{FF2B5EF4-FFF2-40B4-BE49-F238E27FC236}">
                <a16:creationId xmlns:a16="http://schemas.microsoft.com/office/drawing/2014/main" id="{57C0AC86-B0DD-7043-AB22-7567A584AB38}"/>
              </a:ext>
            </a:extLst>
          </p:cNvPr>
          <p:cNvPicPr>
            <a:picLocks noChangeAspect="1"/>
          </p:cNvPicPr>
          <p:nvPr/>
        </p:nvPicPr>
        <p:blipFill>
          <a:blip r:embed="rId4"/>
          <a:stretch>
            <a:fillRect/>
          </a:stretch>
        </p:blipFill>
        <p:spPr>
          <a:xfrm>
            <a:off x="4913032" y="2882952"/>
            <a:ext cx="939847" cy="439109"/>
          </a:xfrm>
          <a:prstGeom prst="rect">
            <a:avLst/>
          </a:prstGeom>
        </p:spPr>
      </p:pic>
      <p:pic>
        <p:nvPicPr>
          <p:cNvPr id="36" name="图片 35">
            <a:extLst>
              <a:ext uri="{FF2B5EF4-FFF2-40B4-BE49-F238E27FC236}">
                <a16:creationId xmlns:a16="http://schemas.microsoft.com/office/drawing/2014/main" id="{600CFD26-546B-604D-A566-9DC6E73947A8}"/>
              </a:ext>
            </a:extLst>
          </p:cNvPr>
          <p:cNvPicPr>
            <a:picLocks noChangeAspect="1"/>
          </p:cNvPicPr>
          <p:nvPr/>
        </p:nvPicPr>
        <p:blipFill>
          <a:blip r:embed="rId5"/>
          <a:stretch>
            <a:fillRect/>
          </a:stretch>
        </p:blipFill>
        <p:spPr>
          <a:xfrm>
            <a:off x="5978245" y="2936887"/>
            <a:ext cx="1707822" cy="353013"/>
          </a:xfrm>
          <a:prstGeom prst="rect">
            <a:avLst/>
          </a:prstGeom>
        </p:spPr>
      </p:pic>
      <p:pic>
        <p:nvPicPr>
          <p:cNvPr id="37" name="图片 36">
            <a:extLst>
              <a:ext uri="{FF2B5EF4-FFF2-40B4-BE49-F238E27FC236}">
                <a16:creationId xmlns:a16="http://schemas.microsoft.com/office/drawing/2014/main" id="{984657D9-F197-F04E-888E-32486893426B}"/>
              </a:ext>
            </a:extLst>
          </p:cNvPr>
          <p:cNvPicPr>
            <a:picLocks noChangeAspect="1"/>
          </p:cNvPicPr>
          <p:nvPr/>
        </p:nvPicPr>
        <p:blipFill>
          <a:blip r:embed="rId6"/>
          <a:stretch>
            <a:fillRect/>
          </a:stretch>
        </p:blipFill>
        <p:spPr>
          <a:xfrm>
            <a:off x="6540369" y="2348908"/>
            <a:ext cx="1049338" cy="481461"/>
          </a:xfrm>
          <a:prstGeom prst="rect">
            <a:avLst/>
          </a:prstGeom>
        </p:spPr>
      </p:pic>
      <p:pic>
        <p:nvPicPr>
          <p:cNvPr id="38" name="图片 37">
            <a:extLst>
              <a:ext uri="{FF2B5EF4-FFF2-40B4-BE49-F238E27FC236}">
                <a16:creationId xmlns:a16="http://schemas.microsoft.com/office/drawing/2014/main" id="{89883106-30C1-B149-AE1B-474E1A04D0C5}"/>
              </a:ext>
            </a:extLst>
          </p:cNvPr>
          <p:cNvPicPr>
            <a:picLocks noChangeAspect="1"/>
          </p:cNvPicPr>
          <p:nvPr/>
        </p:nvPicPr>
        <p:blipFill>
          <a:blip r:embed="rId7"/>
          <a:stretch>
            <a:fillRect/>
          </a:stretch>
        </p:blipFill>
        <p:spPr>
          <a:xfrm>
            <a:off x="997099" y="2432302"/>
            <a:ext cx="1251042" cy="370501"/>
          </a:xfrm>
          <a:prstGeom prst="rect">
            <a:avLst/>
          </a:prstGeom>
        </p:spPr>
      </p:pic>
      <p:pic>
        <p:nvPicPr>
          <p:cNvPr id="39" name="图片 38">
            <a:extLst>
              <a:ext uri="{FF2B5EF4-FFF2-40B4-BE49-F238E27FC236}">
                <a16:creationId xmlns:a16="http://schemas.microsoft.com/office/drawing/2014/main" id="{D77D9FED-1177-8646-97ED-D45365690244}"/>
              </a:ext>
            </a:extLst>
          </p:cNvPr>
          <p:cNvPicPr>
            <a:picLocks noChangeAspect="1"/>
          </p:cNvPicPr>
          <p:nvPr/>
        </p:nvPicPr>
        <p:blipFill>
          <a:blip r:embed="rId8"/>
          <a:stretch>
            <a:fillRect/>
          </a:stretch>
        </p:blipFill>
        <p:spPr>
          <a:xfrm>
            <a:off x="997099" y="2899893"/>
            <a:ext cx="647176" cy="559916"/>
          </a:xfrm>
          <a:prstGeom prst="rect">
            <a:avLst/>
          </a:prstGeom>
        </p:spPr>
      </p:pic>
      <p:pic>
        <p:nvPicPr>
          <p:cNvPr id="41" name="图片 40">
            <a:extLst>
              <a:ext uri="{FF2B5EF4-FFF2-40B4-BE49-F238E27FC236}">
                <a16:creationId xmlns:a16="http://schemas.microsoft.com/office/drawing/2014/main" id="{30EF856A-84E0-0949-9C94-C5D6D8F55683}"/>
              </a:ext>
            </a:extLst>
          </p:cNvPr>
          <p:cNvPicPr>
            <a:picLocks noChangeAspect="1"/>
          </p:cNvPicPr>
          <p:nvPr/>
        </p:nvPicPr>
        <p:blipFill>
          <a:blip r:embed="rId9"/>
          <a:stretch>
            <a:fillRect/>
          </a:stretch>
        </p:blipFill>
        <p:spPr>
          <a:xfrm>
            <a:off x="1671067" y="3011563"/>
            <a:ext cx="741002" cy="370501"/>
          </a:xfrm>
          <a:prstGeom prst="rect">
            <a:avLst/>
          </a:prstGeom>
        </p:spPr>
      </p:pic>
      <p:pic>
        <p:nvPicPr>
          <p:cNvPr id="42" name="图片 41">
            <a:extLst>
              <a:ext uri="{FF2B5EF4-FFF2-40B4-BE49-F238E27FC236}">
                <a16:creationId xmlns:a16="http://schemas.microsoft.com/office/drawing/2014/main" id="{6699EB3E-B842-914A-9D9D-86100A8299E9}"/>
              </a:ext>
            </a:extLst>
          </p:cNvPr>
          <p:cNvPicPr>
            <a:picLocks noChangeAspect="1"/>
          </p:cNvPicPr>
          <p:nvPr/>
        </p:nvPicPr>
        <p:blipFill>
          <a:blip r:embed="rId10"/>
          <a:stretch>
            <a:fillRect/>
          </a:stretch>
        </p:blipFill>
        <p:spPr>
          <a:xfrm>
            <a:off x="2509267" y="3002427"/>
            <a:ext cx="1552736" cy="345662"/>
          </a:xfrm>
          <a:prstGeom prst="rect">
            <a:avLst/>
          </a:prstGeom>
        </p:spPr>
      </p:pic>
      <p:pic>
        <p:nvPicPr>
          <p:cNvPr id="43" name="图片 42">
            <a:extLst>
              <a:ext uri="{FF2B5EF4-FFF2-40B4-BE49-F238E27FC236}">
                <a16:creationId xmlns:a16="http://schemas.microsoft.com/office/drawing/2014/main" id="{2E9FB8D3-22CF-7141-989E-F01522541EC7}"/>
              </a:ext>
            </a:extLst>
          </p:cNvPr>
          <p:cNvPicPr>
            <a:picLocks noChangeAspect="1"/>
          </p:cNvPicPr>
          <p:nvPr/>
        </p:nvPicPr>
        <p:blipFill>
          <a:blip r:embed="rId11"/>
          <a:stretch>
            <a:fillRect/>
          </a:stretch>
        </p:blipFill>
        <p:spPr>
          <a:xfrm>
            <a:off x="2463233" y="2407903"/>
            <a:ext cx="1376570" cy="415304"/>
          </a:xfrm>
          <a:prstGeom prst="rect">
            <a:avLst/>
          </a:prstGeom>
        </p:spPr>
      </p:pic>
      <p:pic>
        <p:nvPicPr>
          <p:cNvPr id="1026" name="Picture 2" descr="CAIDA">
            <a:extLst>
              <a:ext uri="{FF2B5EF4-FFF2-40B4-BE49-F238E27FC236}">
                <a16:creationId xmlns:a16="http://schemas.microsoft.com/office/drawing/2014/main" id="{448B2C5D-8058-3546-9A92-86768D2DC8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01789" y="2348908"/>
            <a:ext cx="557851" cy="557851"/>
          </a:xfrm>
          <a:prstGeom prst="rect">
            <a:avLst/>
          </a:prstGeom>
          <a:noFill/>
          <a:extLst>
            <a:ext uri="{909E8E84-426E-40DD-AFC4-6F175D3DCCD1}">
              <a14:hiddenFill xmlns:a14="http://schemas.microsoft.com/office/drawing/2010/main">
                <a:solidFill>
                  <a:srgbClr val="FFFFFF"/>
                </a:solidFill>
              </a14:hiddenFill>
            </a:ext>
          </a:extLst>
        </p:spPr>
      </p:pic>
      <p:pic>
        <p:nvPicPr>
          <p:cNvPr id="44" name="图片 43">
            <a:extLst>
              <a:ext uri="{FF2B5EF4-FFF2-40B4-BE49-F238E27FC236}">
                <a16:creationId xmlns:a16="http://schemas.microsoft.com/office/drawing/2014/main" id="{21F1CDED-E41C-6146-A457-9D56CE551615}"/>
              </a:ext>
            </a:extLst>
          </p:cNvPr>
          <p:cNvPicPr>
            <a:picLocks noChangeAspect="1"/>
          </p:cNvPicPr>
          <p:nvPr/>
        </p:nvPicPr>
        <p:blipFill>
          <a:blip r:embed="rId13"/>
          <a:stretch>
            <a:fillRect/>
          </a:stretch>
        </p:blipFill>
        <p:spPr>
          <a:xfrm>
            <a:off x="9181746" y="2300964"/>
            <a:ext cx="748557" cy="636954"/>
          </a:xfrm>
          <a:prstGeom prst="rect">
            <a:avLst/>
          </a:prstGeom>
        </p:spPr>
      </p:pic>
      <p:pic>
        <p:nvPicPr>
          <p:cNvPr id="45" name="图片 44">
            <a:extLst>
              <a:ext uri="{FF2B5EF4-FFF2-40B4-BE49-F238E27FC236}">
                <a16:creationId xmlns:a16="http://schemas.microsoft.com/office/drawing/2014/main" id="{F4366A85-4123-FC48-BADB-C548B2121E79}"/>
              </a:ext>
            </a:extLst>
          </p:cNvPr>
          <p:cNvPicPr>
            <a:picLocks noChangeAspect="1"/>
          </p:cNvPicPr>
          <p:nvPr/>
        </p:nvPicPr>
        <p:blipFill>
          <a:blip r:embed="rId14"/>
          <a:stretch>
            <a:fillRect/>
          </a:stretch>
        </p:blipFill>
        <p:spPr>
          <a:xfrm>
            <a:off x="10124121" y="2365785"/>
            <a:ext cx="483965" cy="520797"/>
          </a:xfrm>
          <a:prstGeom prst="rect">
            <a:avLst/>
          </a:prstGeom>
        </p:spPr>
      </p:pic>
      <p:pic>
        <p:nvPicPr>
          <p:cNvPr id="46" name="图片 45">
            <a:extLst>
              <a:ext uri="{FF2B5EF4-FFF2-40B4-BE49-F238E27FC236}">
                <a16:creationId xmlns:a16="http://schemas.microsoft.com/office/drawing/2014/main" id="{F000DF1D-D9A3-0341-9AF8-FFC55640FB97}"/>
              </a:ext>
            </a:extLst>
          </p:cNvPr>
          <p:cNvPicPr>
            <a:picLocks noChangeAspect="1"/>
          </p:cNvPicPr>
          <p:nvPr/>
        </p:nvPicPr>
        <p:blipFill>
          <a:blip r:embed="rId15"/>
          <a:stretch>
            <a:fillRect/>
          </a:stretch>
        </p:blipFill>
        <p:spPr>
          <a:xfrm>
            <a:off x="8497789" y="3008200"/>
            <a:ext cx="1594066" cy="404026"/>
          </a:xfrm>
          <a:prstGeom prst="rect">
            <a:avLst/>
          </a:prstGeom>
        </p:spPr>
      </p:pic>
      <p:pic>
        <p:nvPicPr>
          <p:cNvPr id="47" name="图片 46">
            <a:extLst>
              <a:ext uri="{FF2B5EF4-FFF2-40B4-BE49-F238E27FC236}">
                <a16:creationId xmlns:a16="http://schemas.microsoft.com/office/drawing/2014/main" id="{FA87ECD7-13D9-EA4F-996F-03441342CB66}"/>
              </a:ext>
            </a:extLst>
          </p:cNvPr>
          <p:cNvPicPr>
            <a:picLocks noChangeAspect="1"/>
          </p:cNvPicPr>
          <p:nvPr/>
        </p:nvPicPr>
        <p:blipFill>
          <a:blip r:embed="rId16"/>
          <a:stretch>
            <a:fillRect/>
          </a:stretch>
        </p:blipFill>
        <p:spPr>
          <a:xfrm>
            <a:off x="10302894" y="2988048"/>
            <a:ext cx="1015686" cy="394016"/>
          </a:xfrm>
          <a:prstGeom prst="rect">
            <a:avLst/>
          </a:prstGeom>
        </p:spPr>
      </p:pic>
      <p:pic>
        <p:nvPicPr>
          <p:cNvPr id="48" name="图片 47">
            <a:extLst>
              <a:ext uri="{FF2B5EF4-FFF2-40B4-BE49-F238E27FC236}">
                <a16:creationId xmlns:a16="http://schemas.microsoft.com/office/drawing/2014/main" id="{0D369059-34E4-0846-AEEA-1D0B121D29F6}"/>
              </a:ext>
            </a:extLst>
          </p:cNvPr>
          <p:cNvPicPr>
            <a:picLocks noChangeAspect="1"/>
          </p:cNvPicPr>
          <p:nvPr/>
        </p:nvPicPr>
        <p:blipFill>
          <a:blip r:embed="rId17"/>
          <a:stretch>
            <a:fillRect/>
          </a:stretch>
        </p:blipFill>
        <p:spPr>
          <a:xfrm>
            <a:off x="10802997" y="2351039"/>
            <a:ext cx="601777" cy="545495"/>
          </a:xfrm>
          <a:prstGeom prst="rect">
            <a:avLst/>
          </a:prstGeom>
        </p:spPr>
      </p:pic>
    </p:spTree>
    <p:extLst>
      <p:ext uri="{BB962C8B-B14F-4D97-AF65-F5344CB8AC3E}">
        <p14:creationId xmlns:p14="http://schemas.microsoft.com/office/powerpoint/2010/main" val="1970332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研究内容</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6</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F15D0EBA-EFAE-DB46-B837-C7E51A4A6447}"/>
              </a:ext>
            </a:extLst>
          </p:cNvPr>
          <p:cNvSpPr/>
          <p:nvPr/>
        </p:nvSpPr>
        <p:spPr>
          <a:xfrm>
            <a:off x="561279" y="1710471"/>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2C980710-D82F-4840-A845-6148C7C4450D}"/>
              </a:ext>
            </a:extLst>
          </p:cNvPr>
          <p:cNvSpPr/>
          <p:nvPr/>
        </p:nvSpPr>
        <p:spPr>
          <a:xfrm>
            <a:off x="696954" y="1542983"/>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确定测量对象</a:t>
            </a:r>
          </a:p>
        </p:txBody>
      </p:sp>
      <p:sp>
        <p:nvSpPr>
          <p:cNvPr id="11" name="矩形 10">
            <a:extLst>
              <a:ext uri="{FF2B5EF4-FFF2-40B4-BE49-F238E27FC236}">
                <a16:creationId xmlns:a16="http://schemas.microsoft.com/office/drawing/2014/main" id="{C9488E8D-0466-5644-BDD6-B9F811952C18}"/>
              </a:ext>
            </a:extLst>
          </p:cNvPr>
          <p:cNvSpPr/>
          <p:nvPr/>
        </p:nvSpPr>
        <p:spPr>
          <a:xfrm>
            <a:off x="561279" y="3296069"/>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E1ADD363-E6C8-4A46-B44E-18DA673FDBE3}"/>
              </a:ext>
            </a:extLst>
          </p:cNvPr>
          <p:cNvSpPr/>
          <p:nvPr/>
        </p:nvSpPr>
        <p:spPr>
          <a:xfrm>
            <a:off x="696954" y="3128581"/>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挑选测量框架</a:t>
            </a:r>
          </a:p>
        </p:txBody>
      </p:sp>
      <p:sp>
        <p:nvSpPr>
          <p:cNvPr id="13" name="矩形 12">
            <a:extLst>
              <a:ext uri="{FF2B5EF4-FFF2-40B4-BE49-F238E27FC236}">
                <a16:creationId xmlns:a16="http://schemas.microsoft.com/office/drawing/2014/main" id="{BFD4BB78-1E1F-C14A-BB52-274D57CFB8E7}"/>
              </a:ext>
            </a:extLst>
          </p:cNvPr>
          <p:cNvSpPr/>
          <p:nvPr/>
        </p:nvSpPr>
        <p:spPr>
          <a:xfrm>
            <a:off x="570837" y="4894341"/>
            <a:ext cx="3304943" cy="139429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2C31614E-B176-594B-9DF9-420DF530E1E9}"/>
              </a:ext>
            </a:extLst>
          </p:cNvPr>
          <p:cNvSpPr/>
          <p:nvPr/>
        </p:nvSpPr>
        <p:spPr>
          <a:xfrm>
            <a:off x="706512" y="4726853"/>
            <a:ext cx="1897682" cy="400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分析测量结果</a:t>
            </a:r>
          </a:p>
        </p:txBody>
      </p:sp>
      <p:sp>
        <p:nvSpPr>
          <p:cNvPr id="17" name="文本框 16">
            <a:extLst>
              <a:ext uri="{FF2B5EF4-FFF2-40B4-BE49-F238E27FC236}">
                <a16:creationId xmlns:a16="http://schemas.microsoft.com/office/drawing/2014/main" id="{E9583E8E-D173-9A46-84E0-CB85323A6470}"/>
              </a:ext>
            </a:extLst>
          </p:cNvPr>
          <p:cNvSpPr txBox="1"/>
          <p:nvPr/>
        </p:nvSpPr>
        <p:spPr>
          <a:xfrm>
            <a:off x="696954" y="1823494"/>
            <a:ext cx="2886075" cy="1208857"/>
          </a:xfrm>
          <a:prstGeom prst="rect">
            <a:avLst/>
          </a:prstGeom>
          <a:noFill/>
        </p:spPr>
        <p:txBody>
          <a:bodyPr wrap="square" rtlCol="0">
            <a:spAutoFit/>
          </a:bodyPr>
          <a:lstStyle/>
          <a:p>
            <a:pPr>
              <a:lnSpc>
                <a:spcPct val="150000"/>
              </a:lnSpc>
            </a:pPr>
            <a:r>
              <a:rPr kumimoji="1" lang="en-US" altLang="zh-CN" dirty="0"/>
              <a:t>1</a:t>
            </a:r>
            <a:r>
              <a:rPr kumimoji="1" lang="en-US" altLang="zh-CN" sz="1600" dirty="0"/>
              <a:t>.</a:t>
            </a:r>
            <a:r>
              <a:rPr kumimoji="1" lang="zh-CN" altLang="en-US" sz="1600" dirty="0"/>
              <a:t>哪些</a:t>
            </a:r>
            <a:r>
              <a:rPr kumimoji="1" lang="en-US" altLang="zh-CN" sz="1600" dirty="0"/>
              <a:t>IP</a:t>
            </a:r>
            <a:r>
              <a:rPr kumimoji="1" lang="zh-CN" altLang="en-US" sz="1600" dirty="0"/>
              <a:t>是任播</a:t>
            </a:r>
            <a:r>
              <a:rPr kumimoji="1" lang="en-US" altLang="zh-CN" sz="1600" dirty="0"/>
              <a:t>IP</a:t>
            </a:r>
            <a:r>
              <a:rPr kumimoji="1" lang="zh-CN" altLang="en-US" sz="1600" dirty="0"/>
              <a:t>？</a:t>
            </a:r>
            <a:endParaRPr kumimoji="1" lang="en-US" altLang="zh-CN" sz="1600" dirty="0"/>
          </a:p>
          <a:p>
            <a:pPr>
              <a:lnSpc>
                <a:spcPct val="150000"/>
              </a:lnSpc>
            </a:pPr>
            <a:r>
              <a:rPr kumimoji="1" lang="en-US" altLang="zh-CN" sz="1600" dirty="0"/>
              <a:t>2.</a:t>
            </a:r>
            <a:r>
              <a:rPr kumimoji="1" lang="zh-CN" altLang="en-US" sz="1600" dirty="0"/>
              <a:t>哪些站点部署了任播</a:t>
            </a:r>
            <a:r>
              <a:rPr kumimoji="1" lang="en-US" altLang="zh-CN" sz="1600" dirty="0"/>
              <a:t>IP</a:t>
            </a:r>
            <a:r>
              <a:rPr kumimoji="1" lang="zh-CN" altLang="en-US" sz="1600" dirty="0"/>
              <a:t>？</a:t>
            </a:r>
            <a:endParaRPr kumimoji="1" lang="en-US" altLang="zh-CN" sz="1600" dirty="0"/>
          </a:p>
          <a:p>
            <a:pPr>
              <a:lnSpc>
                <a:spcPct val="150000"/>
              </a:lnSpc>
            </a:pPr>
            <a:r>
              <a:rPr kumimoji="1" lang="en-US" altLang="zh-CN" sz="1600" dirty="0"/>
              <a:t>3.</a:t>
            </a:r>
            <a:r>
              <a:rPr kumimoji="1" lang="zh-CN" altLang="en-US" sz="1600" dirty="0"/>
              <a:t>任播类型？</a:t>
            </a:r>
          </a:p>
        </p:txBody>
      </p:sp>
      <p:sp>
        <p:nvSpPr>
          <p:cNvPr id="18" name="文本框 17">
            <a:extLst>
              <a:ext uri="{FF2B5EF4-FFF2-40B4-BE49-F238E27FC236}">
                <a16:creationId xmlns:a16="http://schemas.microsoft.com/office/drawing/2014/main" id="{2A23BE09-293C-CD48-8B2A-039863D0580F}"/>
              </a:ext>
            </a:extLst>
          </p:cNvPr>
          <p:cNvSpPr txBox="1"/>
          <p:nvPr/>
        </p:nvSpPr>
        <p:spPr>
          <a:xfrm>
            <a:off x="669481" y="3365582"/>
            <a:ext cx="2886075" cy="1208857"/>
          </a:xfrm>
          <a:prstGeom prst="rect">
            <a:avLst/>
          </a:prstGeom>
          <a:noFill/>
        </p:spPr>
        <p:txBody>
          <a:bodyPr wrap="square" rtlCol="0">
            <a:spAutoFit/>
          </a:bodyPr>
          <a:lstStyle/>
          <a:p>
            <a:pPr>
              <a:lnSpc>
                <a:spcPct val="150000"/>
              </a:lnSpc>
            </a:pPr>
            <a:r>
              <a:rPr kumimoji="1" lang="en-US" altLang="zh-CN" dirty="0"/>
              <a:t>1</a:t>
            </a:r>
            <a:r>
              <a:rPr kumimoji="1" lang="en-US" altLang="zh-CN" sz="1600" dirty="0"/>
              <a:t>.</a:t>
            </a:r>
            <a:r>
              <a:rPr kumimoji="1" lang="zh-CN" altLang="en-US" sz="1600" dirty="0"/>
              <a:t> 出向</a:t>
            </a:r>
            <a:r>
              <a:rPr kumimoji="1" lang="en-US" altLang="zh-CN" sz="1600" dirty="0"/>
              <a:t>or</a:t>
            </a:r>
            <a:r>
              <a:rPr kumimoji="1" lang="zh-CN" altLang="en-US" sz="1600" dirty="0"/>
              <a:t>入向？</a:t>
            </a:r>
            <a:endParaRPr kumimoji="1" lang="en-US" altLang="zh-CN" sz="1600" dirty="0"/>
          </a:p>
          <a:p>
            <a:pPr>
              <a:lnSpc>
                <a:spcPct val="150000"/>
              </a:lnSpc>
            </a:pPr>
            <a:r>
              <a:rPr kumimoji="1" lang="en-US" altLang="zh-CN" sz="1600" dirty="0"/>
              <a:t>2.</a:t>
            </a:r>
            <a:r>
              <a:rPr kumimoji="1" lang="zh-CN" altLang="en-US" sz="1600" dirty="0"/>
              <a:t> 自建</a:t>
            </a:r>
            <a:r>
              <a:rPr kumimoji="1" lang="en-US" altLang="zh-CN" sz="1600" dirty="0"/>
              <a:t>or</a:t>
            </a:r>
            <a:r>
              <a:rPr kumimoji="1" lang="zh-CN" altLang="en-US" sz="1600" dirty="0"/>
              <a:t>公用？</a:t>
            </a:r>
            <a:endParaRPr kumimoji="1" lang="en-US" altLang="zh-CN" sz="1600" dirty="0"/>
          </a:p>
          <a:p>
            <a:pPr>
              <a:lnSpc>
                <a:spcPct val="150000"/>
              </a:lnSpc>
            </a:pPr>
            <a:r>
              <a:rPr kumimoji="1" lang="en-US" altLang="zh-CN" sz="1600" dirty="0"/>
              <a:t>3.</a:t>
            </a:r>
            <a:r>
              <a:rPr kumimoji="1" lang="zh-CN" altLang="en-US" sz="1600" dirty="0"/>
              <a:t> 测量类型和规模？</a:t>
            </a:r>
          </a:p>
        </p:txBody>
      </p:sp>
      <p:sp>
        <p:nvSpPr>
          <p:cNvPr id="19" name="文本框 18">
            <a:extLst>
              <a:ext uri="{FF2B5EF4-FFF2-40B4-BE49-F238E27FC236}">
                <a16:creationId xmlns:a16="http://schemas.microsoft.com/office/drawing/2014/main" id="{7A71330F-BFB1-0547-B5FB-2635872E033C}"/>
              </a:ext>
            </a:extLst>
          </p:cNvPr>
          <p:cNvSpPr txBox="1"/>
          <p:nvPr/>
        </p:nvSpPr>
        <p:spPr>
          <a:xfrm>
            <a:off x="1251758" y="5332455"/>
            <a:ext cx="2886075" cy="423514"/>
          </a:xfrm>
          <a:prstGeom prst="rect">
            <a:avLst/>
          </a:prstGeom>
          <a:noFill/>
        </p:spPr>
        <p:txBody>
          <a:bodyPr wrap="square" rtlCol="0">
            <a:spAutoFit/>
          </a:bodyPr>
          <a:lstStyle/>
          <a:p>
            <a:pPr>
              <a:lnSpc>
                <a:spcPct val="150000"/>
              </a:lnSpc>
            </a:pPr>
            <a:r>
              <a:rPr kumimoji="1" lang="zh-CN" altLang="en-US" sz="1600" dirty="0"/>
              <a:t>站点</a:t>
            </a:r>
            <a:r>
              <a:rPr kumimoji="1" lang="en-US" altLang="zh-CN" sz="1600" dirty="0"/>
              <a:t>-</a:t>
            </a:r>
            <a:r>
              <a:rPr kumimoji="1" lang="zh-CN" altLang="en-US" sz="1600" dirty="0"/>
              <a:t>客户端映射？</a:t>
            </a:r>
            <a:endParaRPr kumimoji="1" lang="en-US" altLang="zh-CN" sz="1600" dirty="0"/>
          </a:p>
        </p:txBody>
      </p:sp>
      <p:sp>
        <p:nvSpPr>
          <p:cNvPr id="26" name="箭头: 右 52">
            <a:extLst>
              <a:ext uri="{FF2B5EF4-FFF2-40B4-BE49-F238E27FC236}">
                <a16:creationId xmlns:a16="http://schemas.microsoft.com/office/drawing/2014/main" id="{472222F1-95D3-B64D-900A-067E7005D6BF}"/>
              </a:ext>
            </a:extLst>
          </p:cNvPr>
          <p:cNvSpPr/>
          <p:nvPr/>
        </p:nvSpPr>
        <p:spPr>
          <a:xfrm>
            <a:off x="4161523" y="2215825"/>
            <a:ext cx="244613" cy="424194"/>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7" name="图片 26">
            <a:extLst>
              <a:ext uri="{FF2B5EF4-FFF2-40B4-BE49-F238E27FC236}">
                <a16:creationId xmlns:a16="http://schemas.microsoft.com/office/drawing/2014/main" id="{49C8C838-CA5B-6144-BF49-9AA4FD57582A}"/>
              </a:ext>
            </a:extLst>
          </p:cNvPr>
          <p:cNvPicPr>
            <a:picLocks noChangeAspect="1"/>
          </p:cNvPicPr>
          <p:nvPr/>
        </p:nvPicPr>
        <p:blipFill>
          <a:blip r:embed="rId3"/>
          <a:stretch>
            <a:fillRect/>
          </a:stretch>
        </p:blipFill>
        <p:spPr>
          <a:xfrm>
            <a:off x="4487319" y="1640646"/>
            <a:ext cx="2899319" cy="1687960"/>
          </a:xfrm>
          <a:prstGeom prst="rect">
            <a:avLst/>
          </a:prstGeom>
        </p:spPr>
      </p:pic>
      <p:sp>
        <p:nvSpPr>
          <p:cNvPr id="28" name="文本框 27">
            <a:extLst>
              <a:ext uri="{FF2B5EF4-FFF2-40B4-BE49-F238E27FC236}">
                <a16:creationId xmlns:a16="http://schemas.microsoft.com/office/drawing/2014/main" id="{D8A48A85-5665-C445-8075-263E04A91BBF}"/>
              </a:ext>
            </a:extLst>
          </p:cNvPr>
          <p:cNvSpPr txBox="1"/>
          <p:nvPr/>
        </p:nvSpPr>
        <p:spPr>
          <a:xfrm>
            <a:off x="7686676" y="1832022"/>
            <a:ext cx="4157662" cy="1200329"/>
          </a:xfrm>
          <a:prstGeom prst="rect">
            <a:avLst/>
          </a:prstGeom>
          <a:noFill/>
        </p:spPr>
        <p:txBody>
          <a:bodyPr wrap="square" rtlCol="0">
            <a:spAutoFit/>
          </a:bodyPr>
          <a:lstStyle/>
          <a:p>
            <a:pPr marL="342900" indent="-342900">
              <a:buFont typeface="Arial" panose="020B0604020202020204" pitchFamily="34" charset="0"/>
              <a:buChar char="•"/>
            </a:pPr>
            <a:r>
              <a:rPr kumimoji="1" lang="en-US" altLang="zh-CN" dirty="0"/>
              <a:t>DNS</a:t>
            </a:r>
            <a:r>
              <a:rPr kumimoji="1" lang="zh-CN" altLang="en-US" dirty="0"/>
              <a:t>探测前</a:t>
            </a:r>
            <a:r>
              <a:rPr kumimoji="1" lang="en-US" altLang="zh-CN" dirty="0"/>
              <a:t>1000</a:t>
            </a:r>
            <a:r>
              <a:rPr kumimoji="1" lang="zh-CN" altLang="en-US" dirty="0"/>
              <a:t>域名解析结果</a:t>
            </a:r>
            <a:endParaRPr kumimoji="1" lang="en-US" altLang="zh-CN" dirty="0"/>
          </a:p>
          <a:p>
            <a:pPr marL="342900" indent="-342900">
              <a:buFont typeface="Arial" panose="020B0604020202020204" pitchFamily="34" charset="0"/>
              <a:buChar char="•"/>
            </a:pPr>
            <a:r>
              <a:rPr kumimoji="1" lang="zh-CN" altLang="en-US" dirty="0"/>
              <a:t>分析</a:t>
            </a:r>
            <a:r>
              <a:rPr kumimoji="1" lang="en-US" altLang="zh-CN" dirty="0"/>
              <a:t>IP</a:t>
            </a:r>
            <a:r>
              <a:rPr kumimoji="1" lang="zh-CN" altLang="en-US" dirty="0"/>
              <a:t>模式</a:t>
            </a:r>
            <a:endParaRPr kumimoji="1" lang="en-US" altLang="zh-CN" dirty="0"/>
          </a:p>
          <a:p>
            <a:pPr marL="342900" indent="-342900">
              <a:buFont typeface="Arial" panose="020B0604020202020204" pitchFamily="34" charset="0"/>
              <a:buChar char="•"/>
            </a:pPr>
            <a:r>
              <a:rPr kumimoji="1" lang="zh-CN" altLang="en-US" dirty="0"/>
              <a:t>域名</a:t>
            </a:r>
            <a:r>
              <a:rPr kumimoji="1" lang="en-US" altLang="zh-CN" dirty="0"/>
              <a:t>-CDN</a:t>
            </a:r>
            <a:r>
              <a:rPr kumimoji="1" lang="zh-CN" altLang="en-US" dirty="0"/>
              <a:t>映射</a:t>
            </a:r>
            <a:endParaRPr kumimoji="1" lang="en-US" altLang="zh-CN" dirty="0"/>
          </a:p>
          <a:p>
            <a:pPr marL="342900" indent="-342900">
              <a:buFont typeface="Arial" panose="020B0604020202020204" pitchFamily="34" charset="0"/>
              <a:buChar char="•"/>
            </a:pPr>
            <a:r>
              <a:rPr kumimoji="1" lang="zh-CN" altLang="en-US" dirty="0"/>
              <a:t>生成任播知识库</a:t>
            </a:r>
          </a:p>
        </p:txBody>
      </p:sp>
      <p:pic>
        <p:nvPicPr>
          <p:cNvPr id="29" name="图片 28">
            <a:extLst>
              <a:ext uri="{FF2B5EF4-FFF2-40B4-BE49-F238E27FC236}">
                <a16:creationId xmlns:a16="http://schemas.microsoft.com/office/drawing/2014/main" id="{4C0244C7-5318-634A-BE14-AFDC3BA17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7624" y="3270692"/>
            <a:ext cx="1096490" cy="1623649"/>
          </a:xfrm>
          <a:prstGeom prst="rect">
            <a:avLst/>
          </a:prstGeom>
        </p:spPr>
      </p:pic>
      <p:pic>
        <p:nvPicPr>
          <p:cNvPr id="30" name="图片 29">
            <a:extLst>
              <a:ext uri="{FF2B5EF4-FFF2-40B4-BE49-F238E27FC236}">
                <a16:creationId xmlns:a16="http://schemas.microsoft.com/office/drawing/2014/main" id="{9544C1E1-4C63-6847-8A3E-CF7DC58055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5113" y="3270691"/>
            <a:ext cx="1096490" cy="1623649"/>
          </a:xfrm>
          <a:prstGeom prst="rect">
            <a:avLst/>
          </a:prstGeom>
        </p:spPr>
      </p:pic>
      <p:sp>
        <p:nvSpPr>
          <p:cNvPr id="31" name="箭头: 右 52">
            <a:extLst>
              <a:ext uri="{FF2B5EF4-FFF2-40B4-BE49-F238E27FC236}">
                <a16:creationId xmlns:a16="http://schemas.microsoft.com/office/drawing/2014/main" id="{B8F660A1-35CD-834D-B83F-794A3334E1F7}"/>
              </a:ext>
            </a:extLst>
          </p:cNvPr>
          <p:cNvSpPr/>
          <p:nvPr/>
        </p:nvSpPr>
        <p:spPr>
          <a:xfrm>
            <a:off x="4176527" y="3757913"/>
            <a:ext cx="244613" cy="424194"/>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a:extLst>
              <a:ext uri="{FF2B5EF4-FFF2-40B4-BE49-F238E27FC236}">
                <a16:creationId xmlns:a16="http://schemas.microsoft.com/office/drawing/2014/main" id="{368B6B88-615C-D84C-8F2D-C47E4B5E4E4F}"/>
              </a:ext>
            </a:extLst>
          </p:cNvPr>
          <p:cNvSpPr txBox="1"/>
          <p:nvPr/>
        </p:nvSpPr>
        <p:spPr>
          <a:xfrm>
            <a:off x="7686676" y="3494021"/>
            <a:ext cx="4157662" cy="1200329"/>
          </a:xfrm>
          <a:prstGeom prst="rect">
            <a:avLst/>
          </a:prstGeom>
          <a:noFill/>
        </p:spPr>
        <p:txBody>
          <a:bodyPr wrap="square" rtlCol="0">
            <a:spAutoFit/>
          </a:bodyPr>
          <a:lstStyle/>
          <a:p>
            <a:pPr marL="342900" indent="-342900">
              <a:buFont typeface="Arial" panose="020B0604020202020204" pitchFamily="34" charset="0"/>
              <a:buChar char="•"/>
            </a:pPr>
            <a:r>
              <a:rPr kumimoji="1" lang="zh-CN" altLang="en-US" dirty="0"/>
              <a:t>使用</a:t>
            </a:r>
            <a:r>
              <a:rPr kumimoji="1" lang="en-US" altLang="zh-CN" dirty="0"/>
              <a:t>RIPE</a:t>
            </a:r>
            <a:r>
              <a:rPr kumimoji="1" lang="zh-CN" altLang="en-US" dirty="0"/>
              <a:t> </a:t>
            </a:r>
            <a:r>
              <a:rPr kumimoji="1" lang="en-US" altLang="zh-CN" dirty="0"/>
              <a:t>Atlas</a:t>
            </a:r>
            <a:r>
              <a:rPr kumimoji="1" lang="zh-CN" altLang="en-US" dirty="0"/>
              <a:t>作为入向探测平台</a:t>
            </a:r>
            <a:endParaRPr kumimoji="1" lang="en-US" altLang="zh-CN" dirty="0"/>
          </a:p>
          <a:p>
            <a:pPr marL="342900" indent="-342900">
              <a:buFont typeface="Arial" panose="020B0604020202020204" pitchFamily="34" charset="0"/>
              <a:buChar char="•"/>
            </a:pPr>
            <a:r>
              <a:rPr kumimoji="1" lang="zh-CN" altLang="en-US" dirty="0"/>
              <a:t>筛选</a:t>
            </a:r>
            <a:r>
              <a:rPr kumimoji="1" lang="en-US" altLang="zh-CN" dirty="0"/>
              <a:t>RIPE</a:t>
            </a:r>
            <a:r>
              <a:rPr kumimoji="1" lang="zh-CN" altLang="en-US" dirty="0"/>
              <a:t> </a:t>
            </a:r>
            <a:r>
              <a:rPr kumimoji="1" lang="en-US" altLang="zh-CN" dirty="0"/>
              <a:t>Atlas</a:t>
            </a:r>
            <a:r>
              <a:rPr kumimoji="1" lang="zh-CN" altLang="en-US" dirty="0"/>
              <a:t>探针</a:t>
            </a:r>
            <a:endParaRPr kumimoji="1" lang="en-US" altLang="zh-CN" dirty="0"/>
          </a:p>
          <a:p>
            <a:pPr marL="342900" indent="-342900">
              <a:buFont typeface="Arial" panose="020B0604020202020204" pitchFamily="34" charset="0"/>
              <a:buChar char="•"/>
            </a:pPr>
            <a:r>
              <a:rPr kumimoji="1" lang="zh-CN" altLang="en-US" dirty="0"/>
              <a:t>与云厂商合作搭建出向探测平台</a:t>
            </a:r>
            <a:endParaRPr kumimoji="1" lang="en-US" altLang="zh-CN" dirty="0"/>
          </a:p>
          <a:p>
            <a:pPr marL="342900" indent="-342900">
              <a:buFont typeface="Arial" panose="020B0604020202020204" pitchFamily="34" charset="0"/>
              <a:buChar char="•"/>
            </a:pPr>
            <a:r>
              <a:rPr kumimoji="1" lang="zh-CN" altLang="en-US" dirty="0"/>
              <a:t>选择</a:t>
            </a:r>
            <a:r>
              <a:rPr kumimoji="1" lang="en-US" altLang="zh-CN" dirty="0"/>
              <a:t>IP</a:t>
            </a:r>
            <a:r>
              <a:rPr kumimoji="1" lang="zh-CN" altLang="en-US" dirty="0"/>
              <a:t> </a:t>
            </a:r>
            <a:r>
              <a:rPr kumimoji="1" lang="en-US" altLang="zh-CN" dirty="0"/>
              <a:t>List</a:t>
            </a:r>
            <a:r>
              <a:rPr kumimoji="1" lang="zh-CN" altLang="en-US" dirty="0"/>
              <a:t>作为出向探针</a:t>
            </a:r>
          </a:p>
        </p:txBody>
      </p:sp>
      <p:pic>
        <p:nvPicPr>
          <p:cNvPr id="34" name="图片 33">
            <a:extLst>
              <a:ext uri="{FF2B5EF4-FFF2-40B4-BE49-F238E27FC236}">
                <a16:creationId xmlns:a16="http://schemas.microsoft.com/office/drawing/2014/main" id="{4ACCB8AB-2F52-CA45-B512-FB6C0402AE86}"/>
              </a:ext>
            </a:extLst>
          </p:cNvPr>
          <p:cNvPicPr>
            <a:picLocks noChangeAspect="1"/>
          </p:cNvPicPr>
          <p:nvPr/>
        </p:nvPicPr>
        <p:blipFill>
          <a:blip r:embed="rId6"/>
          <a:stretch>
            <a:fillRect/>
          </a:stretch>
        </p:blipFill>
        <p:spPr>
          <a:xfrm>
            <a:off x="4701653" y="4908609"/>
            <a:ext cx="2985023" cy="1394295"/>
          </a:xfrm>
          <a:prstGeom prst="rect">
            <a:avLst/>
          </a:prstGeom>
        </p:spPr>
      </p:pic>
      <p:sp>
        <p:nvSpPr>
          <p:cNvPr id="35" name="箭头: 右 52">
            <a:extLst>
              <a:ext uri="{FF2B5EF4-FFF2-40B4-BE49-F238E27FC236}">
                <a16:creationId xmlns:a16="http://schemas.microsoft.com/office/drawing/2014/main" id="{C24F8F0C-52B0-4643-BDC8-40620D0BE929}"/>
              </a:ext>
            </a:extLst>
          </p:cNvPr>
          <p:cNvSpPr/>
          <p:nvPr/>
        </p:nvSpPr>
        <p:spPr>
          <a:xfrm>
            <a:off x="4194987" y="5338733"/>
            <a:ext cx="244613" cy="424194"/>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E5BA983A-F327-7A44-9109-39811BDD3499}"/>
              </a:ext>
            </a:extLst>
          </p:cNvPr>
          <p:cNvSpPr txBox="1"/>
          <p:nvPr/>
        </p:nvSpPr>
        <p:spPr>
          <a:xfrm>
            <a:off x="7686676" y="5005591"/>
            <a:ext cx="4157662" cy="1200329"/>
          </a:xfrm>
          <a:prstGeom prst="rect">
            <a:avLst/>
          </a:prstGeom>
          <a:noFill/>
        </p:spPr>
        <p:txBody>
          <a:bodyPr wrap="square" rtlCol="0">
            <a:spAutoFit/>
          </a:bodyPr>
          <a:lstStyle/>
          <a:p>
            <a:pPr marL="342900" indent="-342900">
              <a:buFont typeface="Arial" panose="020B0604020202020204" pitchFamily="34" charset="0"/>
              <a:buChar char="•"/>
            </a:pPr>
            <a:r>
              <a:rPr kumimoji="1" lang="zh-CN" altLang="en-US" dirty="0"/>
              <a:t>反向 </a:t>
            </a:r>
            <a:r>
              <a:rPr kumimoji="1" lang="en-US" altLang="zh-CN" dirty="0"/>
              <a:t>DNS </a:t>
            </a:r>
            <a:r>
              <a:rPr kumimoji="1" lang="zh-CN" altLang="en-US" dirty="0"/>
              <a:t>解析定位</a:t>
            </a:r>
            <a:endParaRPr kumimoji="1" lang="en-US" altLang="zh-CN" dirty="0"/>
          </a:p>
          <a:p>
            <a:pPr marL="342900" indent="-342900">
              <a:buFont typeface="Arial" panose="020B0604020202020204" pitchFamily="34" charset="0"/>
              <a:buChar char="•"/>
            </a:pPr>
            <a:r>
              <a:rPr kumimoji="1" lang="zh-CN" altLang="en-US" dirty="0"/>
              <a:t>双数据库 </a:t>
            </a:r>
            <a:r>
              <a:rPr kumimoji="1" lang="en" altLang="zh-CN" dirty="0"/>
              <a:t>IP </a:t>
            </a:r>
            <a:r>
              <a:rPr kumimoji="1" lang="zh-CN" altLang="en-US" dirty="0"/>
              <a:t>地理映射</a:t>
            </a:r>
            <a:endParaRPr kumimoji="1" lang="en-US" altLang="zh-CN" dirty="0"/>
          </a:p>
          <a:p>
            <a:pPr marL="342900" indent="-342900">
              <a:buFont typeface="Arial" panose="020B0604020202020204" pitchFamily="34" charset="0"/>
              <a:buChar char="•"/>
            </a:pPr>
            <a:r>
              <a:rPr kumimoji="1" lang="zh-CN" altLang="en-US" dirty="0"/>
              <a:t>探测节点邻近定位补偿</a:t>
            </a:r>
            <a:endParaRPr kumimoji="1" lang="en-US" altLang="zh-CN" dirty="0"/>
          </a:p>
          <a:p>
            <a:pPr marL="342900" indent="-342900">
              <a:buFont typeface="Arial" panose="020B0604020202020204" pitchFamily="34" charset="0"/>
              <a:buChar char="•"/>
            </a:pPr>
            <a:r>
              <a:rPr kumimoji="1" lang="en" altLang="zh-CN" dirty="0"/>
              <a:t>IXP </a:t>
            </a:r>
            <a:r>
              <a:rPr kumimoji="1" lang="zh-CN" altLang="en-US" dirty="0"/>
              <a:t>基础设施映射</a:t>
            </a:r>
          </a:p>
        </p:txBody>
      </p:sp>
    </p:spTree>
    <p:extLst>
      <p:ext uri="{BB962C8B-B14F-4D97-AF65-F5344CB8AC3E}">
        <p14:creationId xmlns:p14="http://schemas.microsoft.com/office/powerpoint/2010/main" val="321200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研究结果</a:t>
            </a:r>
            <a:r>
              <a:rPr kumimoji="1" lang="en-US" altLang="zh-CN" b="1" dirty="0">
                <a:latin typeface="Microsoft YaHei" panose="020B0503020204020204" pitchFamily="34" charset="-122"/>
                <a:ea typeface="Microsoft YaHei" panose="020B0503020204020204" pitchFamily="34" charset="-122"/>
              </a:rPr>
              <a:t>---</a:t>
            </a:r>
            <a:r>
              <a:rPr kumimoji="1" lang="en-US" altLang="zh-CN" b="1" dirty="0" err="1">
                <a:latin typeface="Microsoft YaHei" panose="020B0503020204020204" pitchFamily="34" charset="-122"/>
                <a:ea typeface="Microsoft YaHei" panose="020B0503020204020204" pitchFamily="34" charset="-122"/>
              </a:rPr>
              <a:t>CDNProbe</a:t>
            </a:r>
            <a:endParaRPr kumimoji="1" lang="zh-CN" altLang="en-US" b="1"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7</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53BF72DA-72AC-284B-BDF5-D7DD54DB514B}"/>
              </a:ext>
            </a:extLst>
          </p:cNvPr>
          <p:cNvPicPr>
            <a:picLocks noChangeAspect="1"/>
          </p:cNvPicPr>
          <p:nvPr/>
        </p:nvPicPr>
        <p:blipFill>
          <a:blip r:embed="rId3"/>
          <a:stretch>
            <a:fillRect/>
          </a:stretch>
        </p:blipFill>
        <p:spPr>
          <a:xfrm>
            <a:off x="345063" y="1751472"/>
            <a:ext cx="3306945" cy="1637262"/>
          </a:xfrm>
          <a:prstGeom prst="rect">
            <a:avLst/>
          </a:prstGeom>
        </p:spPr>
      </p:pic>
      <p:pic>
        <p:nvPicPr>
          <p:cNvPr id="8" name="图片 7">
            <a:extLst>
              <a:ext uri="{FF2B5EF4-FFF2-40B4-BE49-F238E27FC236}">
                <a16:creationId xmlns:a16="http://schemas.microsoft.com/office/drawing/2014/main" id="{C0A6AAD2-878E-DB4B-8EE5-D1F01DF149A6}"/>
              </a:ext>
            </a:extLst>
          </p:cNvPr>
          <p:cNvPicPr>
            <a:picLocks noChangeAspect="1"/>
          </p:cNvPicPr>
          <p:nvPr/>
        </p:nvPicPr>
        <p:blipFill>
          <a:blip r:embed="rId4"/>
          <a:stretch>
            <a:fillRect/>
          </a:stretch>
        </p:blipFill>
        <p:spPr>
          <a:xfrm>
            <a:off x="3952682" y="1772294"/>
            <a:ext cx="3143544" cy="1637262"/>
          </a:xfrm>
          <a:prstGeom prst="rect">
            <a:avLst/>
          </a:prstGeom>
        </p:spPr>
      </p:pic>
      <p:pic>
        <p:nvPicPr>
          <p:cNvPr id="15" name="图片 14">
            <a:extLst>
              <a:ext uri="{FF2B5EF4-FFF2-40B4-BE49-F238E27FC236}">
                <a16:creationId xmlns:a16="http://schemas.microsoft.com/office/drawing/2014/main" id="{A4FBEC66-094D-644B-B000-4A7E58E114E0}"/>
              </a:ext>
            </a:extLst>
          </p:cNvPr>
          <p:cNvPicPr>
            <a:picLocks noChangeAspect="1"/>
          </p:cNvPicPr>
          <p:nvPr/>
        </p:nvPicPr>
        <p:blipFill>
          <a:blip r:embed="rId5"/>
          <a:stretch>
            <a:fillRect/>
          </a:stretch>
        </p:blipFill>
        <p:spPr>
          <a:xfrm>
            <a:off x="7396900" y="1772295"/>
            <a:ext cx="3114006" cy="1637261"/>
          </a:xfrm>
          <a:prstGeom prst="rect">
            <a:avLst/>
          </a:prstGeom>
        </p:spPr>
      </p:pic>
      <p:sp>
        <p:nvSpPr>
          <p:cNvPr id="16" name="文本框 15">
            <a:extLst>
              <a:ext uri="{FF2B5EF4-FFF2-40B4-BE49-F238E27FC236}">
                <a16:creationId xmlns:a16="http://schemas.microsoft.com/office/drawing/2014/main" id="{0F01635C-F076-E148-802B-19DC45B15196}"/>
              </a:ext>
            </a:extLst>
          </p:cNvPr>
          <p:cNvSpPr txBox="1"/>
          <p:nvPr/>
        </p:nvSpPr>
        <p:spPr>
          <a:xfrm>
            <a:off x="1405054" y="3339192"/>
            <a:ext cx="1817648" cy="374164"/>
          </a:xfrm>
          <a:prstGeom prst="rect">
            <a:avLst/>
          </a:prstGeom>
          <a:noFill/>
        </p:spPr>
        <p:txBody>
          <a:bodyPr wrap="square" rtlCol="0">
            <a:spAutoFit/>
          </a:bodyPr>
          <a:lstStyle/>
          <a:p>
            <a:r>
              <a:rPr kumimoji="1" lang="zh-CN" altLang="en-US" dirty="0"/>
              <a:t>普通任播</a:t>
            </a:r>
          </a:p>
        </p:txBody>
      </p:sp>
      <p:sp>
        <p:nvSpPr>
          <p:cNvPr id="37" name="文本框 36">
            <a:extLst>
              <a:ext uri="{FF2B5EF4-FFF2-40B4-BE49-F238E27FC236}">
                <a16:creationId xmlns:a16="http://schemas.microsoft.com/office/drawing/2014/main" id="{97CA11A4-2BC6-E547-A796-3FB4B96F5AE3}"/>
              </a:ext>
            </a:extLst>
          </p:cNvPr>
          <p:cNvSpPr txBox="1"/>
          <p:nvPr/>
        </p:nvSpPr>
        <p:spPr>
          <a:xfrm>
            <a:off x="4936273" y="3339192"/>
            <a:ext cx="1817648" cy="374164"/>
          </a:xfrm>
          <a:prstGeom prst="rect">
            <a:avLst/>
          </a:prstGeom>
          <a:noFill/>
        </p:spPr>
        <p:txBody>
          <a:bodyPr wrap="square" rtlCol="0">
            <a:spAutoFit/>
          </a:bodyPr>
          <a:lstStyle/>
          <a:p>
            <a:r>
              <a:rPr kumimoji="1" lang="zh-CN" altLang="en-US" dirty="0"/>
              <a:t>区域任播</a:t>
            </a:r>
          </a:p>
        </p:txBody>
      </p:sp>
      <p:sp>
        <p:nvSpPr>
          <p:cNvPr id="38" name="文本框 37">
            <a:extLst>
              <a:ext uri="{FF2B5EF4-FFF2-40B4-BE49-F238E27FC236}">
                <a16:creationId xmlns:a16="http://schemas.microsoft.com/office/drawing/2014/main" id="{071BFF68-7F82-FE48-9822-A40A0142F2C0}"/>
              </a:ext>
            </a:extLst>
          </p:cNvPr>
          <p:cNvSpPr txBox="1"/>
          <p:nvPr/>
        </p:nvSpPr>
        <p:spPr>
          <a:xfrm>
            <a:off x="8467492" y="3361912"/>
            <a:ext cx="1817648" cy="374164"/>
          </a:xfrm>
          <a:prstGeom prst="rect">
            <a:avLst/>
          </a:prstGeom>
          <a:noFill/>
        </p:spPr>
        <p:txBody>
          <a:bodyPr wrap="square" rtlCol="0">
            <a:spAutoFit/>
          </a:bodyPr>
          <a:lstStyle/>
          <a:p>
            <a:r>
              <a:rPr kumimoji="1" lang="zh-CN" altLang="en-US" dirty="0"/>
              <a:t>混合部署</a:t>
            </a:r>
          </a:p>
        </p:txBody>
      </p:sp>
      <p:pic>
        <p:nvPicPr>
          <p:cNvPr id="20" name="图片 19">
            <a:extLst>
              <a:ext uri="{FF2B5EF4-FFF2-40B4-BE49-F238E27FC236}">
                <a16:creationId xmlns:a16="http://schemas.microsoft.com/office/drawing/2014/main" id="{50F034D3-16F2-2F41-BE64-6EBF20A8B0B4}"/>
              </a:ext>
            </a:extLst>
          </p:cNvPr>
          <p:cNvPicPr>
            <a:picLocks noChangeAspect="1"/>
          </p:cNvPicPr>
          <p:nvPr/>
        </p:nvPicPr>
        <p:blipFill>
          <a:blip r:embed="rId6"/>
          <a:stretch>
            <a:fillRect/>
          </a:stretch>
        </p:blipFill>
        <p:spPr>
          <a:xfrm>
            <a:off x="5524454" y="4026963"/>
            <a:ext cx="5595171" cy="1641615"/>
          </a:xfrm>
          <a:prstGeom prst="rect">
            <a:avLst/>
          </a:prstGeom>
        </p:spPr>
      </p:pic>
      <p:sp>
        <p:nvSpPr>
          <p:cNvPr id="39" name="文本框 38">
            <a:extLst>
              <a:ext uri="{FF2B5EF4-FFF2-40B4-BE49-F238E27FC236}">
                <a16:creationId xmlns:a16="http://schemas.microsoft.com/office/drawing/2014/main" id="{4CB5CA21-8BA3-FF41-94A3-DB5B19D0AF8E}"/>
              </a:ext>
            </a:extLst>
          </p:cNvPr>
          <p:cNvSpPr txBox="1"/>
          <p:nvPr/>
        </p:nvSpPr>
        <p:spPr>
          <a:xfrm>
            <a:off x="531542" y="4199547"/>
            <a:ext cx="6099716" cy="1296445"/>
          </a:xfrm>
          <a:prstGeom prst="rect">
            <a:avLst/>
          </a:prstGeom>
          <a:noFill/>
        </p:spPr>
        <p:txBody>
          <a:bodyPr wrap="square">
            <a:spAutoFit/>
          </a:bodyPr>
          <a:lstStyle/>
          <a:p>
            <a:pPr>
              <a:lnSpc>
                <a:spcPct val="150000"/>
              </a:lnSpc>
            </a:pPr>
            <a:r>
              <a:rPr lang="zh-CN" altLang="en-US" dirty="0"/>
              <a:t>普通任播：全球探针的解析结果一致</a:t>
            </a:r>
            <a:endParaRPr lang="en-US" altLang="zh-CN" dirty="0"/>
          </a:p>
          <a:p>
            <a:pPr>
              <a:lnSpc>
                <a:spcPct val="150000"/>
              </a:lnSpc>
            </a:pPr>
            <a:r>
              <a:rPr lang="zh-CN" altLang="en-US" dirty="0"/>
              <a:t>区域任播：物理位置相近的探针具有相同解析结果</a:t>
            </a:r>
            <a:endParaRPr lang="en-US" altLang="zh-CN" dirty="0"/>
          </a:p>
          <a:p>
            <a:pPr>
              <a:lnSpc>
                <a:spcPct val="150000"/>
              </a:lnSpc>
            </a:pPr>
            <a:r>
              <a:rPr kumimoji="1" lang="zh-CN" altLang="en-US" dirty="0"/>
              <a:t>混合部署</a:t>
            </a:r>
            <a:r>
              <a:rPr lang="zh-CN" altLang="en-US" dirty="0"/>
              <a:t>：部分探针的解析结果一致</a:t>
            </a:r>
          </a:p>
        </p:txBody>
      </p:sp>
    </p:spTree>
    <p:extLst>
      <p:ext uri="{BB962C8B-B14F-4D97-AF65-F5344CB8AC3E}">
        <p14:creationId xmlns:p14="http://schemas.microsoft.com/office/powerpoint/2010/main" val="3389851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研究结果</a:t>
            </a:r>
            <a:r>
              <a:rPr kumimoji="1" lang="en-US" altLang="zh-CN" b="1" dirty="0">
                <a:latin typeface="Microsoft YaHei" panose="020B0503020204020204" pitchFamily="34" charset="-122"/>
                <a:ea typeface="Microsoft YaHei" panose="020B0503020204020204" pitchFamily="34" charset="-122"/>
              </a:rPr>
              <a:t>---</a:t>
            </a:r>
            <a:r>
              <a:rPr kumimoji="1" lang="en-US" altLang="zh-CN" b="1" dirty="0" err="1">
                <a:latin typeface="Microsoft YaHei" panose="020B0503020204020204" pitchFamily="34" charset="-122"/>
                <a:ea typeface="Microsoft YaHei" panose="020B0503020204020204" pitchFamily="34" charset="-122"/>
              </a:rPr>
              <a:t>AnyTool</a:t>
            </a:r>
            <a:endParaRPr kumimoji="1" lang="zh-CN" altLang="en-US" b="1"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8</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Picture 8">
            <a:extLst>
              <a:ext uri="{FF2B5EF4-FFF2-40B4-BE49-F238E27FC236}">
                <a16:creationId xmlns:a16="http://schemas.microsoft.com/office/drawing/2014/main" id="{35A40214-9BAA-DB48-9701-6E68B5015767}"/>
              </a:ext>
            </a:extLst>
          </p:cNvPr>
          <p:cNvPicPr>
            <a:picLocks noChangeAspect="1"/>
          </p:cNvPicPr>
          <p:nvPr/>
        </p:nvPicPr>
        <p:blipFill>
          <a:blip r:embed="rId3"/>
          <a:stretch>
            <a:fillRect/>
          </a:stretch>
        </p:blipFill>
        <p:spPr>
          <a:xfrm>
            <a:off x="4605626" y="2840678"/>
            <a:ext cx="558800" cy="558800"/>
          </a:xfrm>
          <a:prstGeom prst="rect">
            <a:avLst/>
          </a:prstGeom>
        </p:spPr>
      </p:pic>
      <p:pic>
        <p:nvPicPr>
          <p:cNvPr id="17" name="Picture 9">
            <a:extLst>
              <a:ext uri="{FF2B5EF4-FFF2-40B4-BE49-F238E27FC236}">
                <a16:creationId xmlns:a16="http://schemas.microsoft.com/office/drawing/2014/main" id="{B6D3EE45-249C-B44D-A3B3-4D2F40051B1C}"/>
              </a:ext>
            </a:extLst>
          </p:cNvPr>
          <p:cNvPicPr>
            <a:picLocks noChangeAspect="1"/>
          </p:cNvPicPr>
          <p:nvPr/>
        </p:nvPicPr>
        <p:blipFill>
          <a:blip r:embed="rId4"/>
          <a:stretch>
            <a:fillRect/>
          </a:stretch>
        </p:blipFill>
        <p:spPr>
          <a:xfrm>
            <a:off x="3881389" y="2954462"/>
            <a:ext cx="444500" cy="330200"/>
          </a:xfrm>
          <a:prstGeom prst="rect">
            <a:avLst/>
          </a:prstGeom>
        </p:spPr>
      </p:pic>
      <p:cxnSp>
        <p:nvCxnSpPr>
          <p:cNvPr id="18" name="Straight Connector 10">
            <a:extLst>
              <a:ext uri="{FF2B5EF4-FFF2-40B4-BE49-F238E27FC236}">
                <a16:creationId xmlns:a16="http://schemas.microsoft.com/office/drawing/2014/main" id="{1A9E7F9E-3FA9-744A-91AE-89D92B17BB17}"/>
              </a:ext>
            </a:extLst>
          </p:cNvPr>
          <p:cNvCxnSpPr>
            <a:cxnSpLocks/>
            <a:stCxn id="14" idx="1"/>
          </p:cNvCxnSpPr>
          <p:nvPr/>
        </p:nvCxnSpPr>
        <p:spPr>
          <a:xfrm flipH="1">
            <a:off x="4325889" y="3120078"/>
            <a:ext cx="279737"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9" name="TextBox 11">
            <a:extLst>
              <a:ext uri="{FF2B5EF4-FFF2-40B4-BE49-F238E27FC236}">
                <a16:creationId xmlns:a16="http://schemas.microsoft.com/office/drawing/2014/main" id="{A20BF8BD-A767-FD48-9B8A-22F73FEFBEC7}"/>
              </a:ext>
            </a:extLst>
          </p:cNvPr>
          <p:cNvSpPr txBox="1"/>
          <p:nvPr/>
        </p:nvSpPr>
        <p:spPr>
          <a:xfrm>
            <a:off x="3999142" y="3588044"/>
            <a:ext cx="885884" cy="369332"/>
          </a:xfrm>
          <a:prstGeom prst="rect">
            <a:avLst/>
          </a:prstGeom>
          <a:noFill/>
        </p:spPr>
        <p:txBody>
          <a:bodyPr wrap="none" rtlCol="0">
            <a:spAutoFit/>
          </a:bodyPr>
          <a:lstStyle/>
          <a:p>
            <a:r>
              <a:rPr lang="en-US" dirty="0"/>
              <a:t>JFK Site</a:t>
            </a:r>
          </a:p>
        </p:txBody>
      </p:sp>
      <p:sp>
        <p:nvSpPr>
          <p:cNvPr id="21" name="Oval 12">
            <a:extLst>
              <a:ext uri="{FF2B5EF4-FFF2-40B4-BE49-F238E27FC236}">
                <a16:creationId xmlns:a16="http://schemas.microsoft.com/office/drawing/2014/main" id="{8396BFB1-9DF8-924C-893E-9AE1BB85B845}"/>
              </a:ext>
            </a:extLst>
          </p:cNvPr>
          <p:cNvSpPr/>
          <p:nvPr/>
        </p:nvSpPr>
        <p:spPr>
          <a:xfrm>
            <a:off x="3702876" y="2652049"/>
            <a:ext cx="1685576" cy="889000"/>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13">
            <a:extLst>
              <a:ext uri="{FF2B5EF4-FFF2-40B4-BE49-F238E27FC236}">
                <a16:creationId xmlns:a16="http://schemas.microsoft.com/office/drawing/2014/main" id="{B0776681-6DC3-0A43-8717-CC102A6FF5A3}"/>
              </a:ext>
            </a:extLst>
          </p:cNvPr>
          <p:cNvPicPr>
            <a:picLocks noChangeAspect="1"/>
          </p:cNvPicPr>
          <p:nvPr/>
        </p:nvPicPr>
        <p:blipFill>
          <a:blip r:embed="rId5"/>
          <a:stretch>
            <a:fillRect/>
          </a:stretch>
        </p:blipFill>
        <p:spPr>
          <a:xfrm>
            <a:off x="1048846" y="2919977"/>
            <a:ext cx="317500" cy="279400"/>
          </a:xfrm>
          <a:prstGeom prst="rect">
            <a:avLst/>
          </a:prstGeom>
        </p:spPr>
      </p:pic>
      <p:pic>
        <p:nvPicPr>
          <p:cNvPr id="23" name="Picture 14">
            <a:extLst>
              <a:ext uri="{FF2B5EF4-FFF2-40B4-BE49-F238E27FC236}">
                <a16:creationId xmlns:a16="http://schemas.microsoft.com/office/drawing/2014/main" id="{0976AA05-82C0-AB48-A693-82716425D504}"/>
              </a:ext>
            </a:extLst>
          </p:cNvPr>
          <p:cNvPicPr>
            <a:picLocks noChangeAspect="1"/>
          </p:cNvPicPr>
          <p:nvPr/>
        </p:nvPicPr>
        <p:blipFill>
          <a:blip r:embed="rId4">
            <a:lum bright="70000" contrast="-70000"/>
          </a:blip>
          <a:stretch>
            <a:fillRect/>
          </a:stretch>
        </p:blipFill>
        <p:spPr>
          <a:xfrm>
            <a:off x="2980858" y="2475993"/>
            <a:ext cx="444500" cy="330200"/>
          </a:xfrm>
          <a:prstGeom prst="rect">
            <a:avLst/>
          </a:prstGeom>
          <a:ln>
            <a:noFill/>
          </a:ln>
        </p:spPr>
      </p:pic>
      <p:cxnSp>
        <p:nvCxnSpPr>
          <p:cNvPr id="26" name="Straight Connector 29">
            <a:extLst>
              <a:ext uri="{FF2B5EF4-FFF2-40B4-BE49-F238E27FC236}">
                <a16:creationId xmlns:a16="http://schemas.microsoft.com/office/drawing/2014/main" id="{A56EACFA-313B-B44A-B23F-602A33F1A397}"/>
              </a:ext>
            </a:extLst>
          </p:cNvPr>
          <p:cNvCxnSpPr>
            <a:cxnSpLocks/>
          </p:cNvCxnSpPr>
          <p:nvPr/>
        </p:nvCxnSpPr>
        <p:spPr>
          <a:xfrm>
            <a:off x="1646083" y="2973657"/>
            <a:ext cx="1935316" cy="0"/>
          </a:xfrm>
          <a:prstGeom prst="line">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32">
            <a:extLst>
              <a:ext uri="{FF2B5EF4-FFF2-40B4-BE49-F238E27FC236}">
                <a16:creationId xmlns:a16="http://schemas.microsoft.com/office/drawing/2014/main" id="{591C40E0-9DAF-D841-8817-5007CA5565FC}"/>
              </a:ext>
            </a:extLst>
          </p:cNvPr>
          <p:cNvCxnSpPr>
            <a:cxnSpLocks/>
          </p:cNvCxnSpPr>
          <p:nvPr/>
        </p:nvCxnSpPr>
        <p:spPr>
          <a:xfrm flipV="1">
            <a:off x="1634116" y="3141122"/>
            <a:ext cx="1947283" cy="13996"/>
          </a:xfrm>
          <a:prstGeom prst="line">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Folded Corner 33">
            <a:extLst>
              <a:ext uri="{FF2B5EF4-FFF2-40B4-BE49-F238E27FC236}">
                <a16:creationId xmlns:a16="http://schemas.microsoft.com/office/drawing/2014/main" id="{01DA91C0-CAF5-0144-99F5-64BD4D470B67}"/>
              </a:ext>
            </a:extLst>
          </p:cNvPr>
          <p:cNvSpPr/>
          <p:nvPr/>
        </p:nvSpPr>
        <p:spPr>
          <a:xfrm>
            <a:off x="1719535" y="2414452"/>
            <a:ext cx="761555" cy="472120"/>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CHAOS Query</a:t>
            </a:r>
          </a:p>
        </p:txBody>
      </p:sp>
      <p:sp>
        <p:nvSpPr>
          <p:cNvPr id="29" name="Folded Corner 34">
            <a:extLst>
              <a:ext uri="{FF2B5EF4-FFF2-40B4-BE49-F238E27FC236}">
                <a16:creationId xmlns:a16="http://schemas.microsoft.com/office/drawing/2014/main" id="{C4BC0E53-EF90-BA4B-B1FD-DCDD1FFAC5DC}"/>
              </a:ext>
            </a:extLst>
          </p:cNvPr>
          <p:cNvSpPr/>
          <p:nvPr/>
        </p:nvSpPr>
        <p:spPr>
          <a:xfrm>
            <a:off x="2238693" y="3314760"/>
            <a:ext cx="964415" cy="617276"/>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nnn1-usnyc-1</a:t>
            </a:r>
            <a:endParaRPr lang="en-US" sz="1200" dirty="0">
              <a:solidFill>
                <a:srgbClr val="FF0000"/>
              </a:solidFill>
            </a:endParaRPr>
          </a:p>
        </p:txBody>
      </p:sp>
      <p:sp>
        <p:nvSpPr>
          <p:cNvPr id="30" name="TextBox 35">
            <a:extLst>
              <a:ext uri="{FF2B5EF4-FFF2-40B4-BE49-F238E27FC236}">
                <a16:creationId xmlns:a16="http://schemas.microsoft.com/office/drawing/2014/main" id="{65DB5E3E-2F4B-3A44-9BE3-10AFFD0B2D38}"/>
              </a:ext>
            </a:extLst>
          </p:cNvPr>
          <p:cNvSpPr txBox="1"/>
          <p:nvPr/>
        </p:nvSpPr>
        <p:spPr>
          <a:xfrm>
            <a:off x="838200" y="3215022"/>
            <a:ext cx="738792" cy="646331"/>
          </a:xfrm>
          <a:prstGeom prst="rect">
            <a:avLst/>
          </a:prstGeom>
          <a:noFill/>
        </p:spPr>
        <p:txBody>
          <a:bodyPr wrap="square" rtlCol="0">
            <a:spAutoFit/>
          </a:bodyPr>
          <a:lstStyle/>
          <a:p>
            <a:pPr algn="ctr"/>
            <a:r>
              <a:rPr lang="en-US" dirty="0"/>
              <a:t>JFK</a:t>
            </a:r>
          </a:p>
          <a:p>
            <a:pPr algn="ctr"/>
            <a:r>
              <a:rPr lang="en-US" dirty="0"/>
              <a:t>Probe</a:t>
            </a:r>
          </a:p>
        </p:txBody>
      </p:sp>
      <p:sp>
        <p:nvSpPr>
          <p:cNvPr id="31" name="TextBox 91">
            <a:extLst>
              <a:ext uri="{FF2B5EF4-FFF2-40B4-BE49-F238E27FC236}">
                <a16:creationId xmlns:a16="http://schemas.microsoft.com/office/drawing/2014/main" id="{6BB061A1-328C-E24B-8728-0C77422FC8DA}"/>
              </a:ext>
            </a:extLst>
          </p:cNvPr>
          <p:cNvSpPr txBox="1"/>
          <p:nvPr/>
        </p:nvSpPr>
        <p:spPr>
          <a:xfrm>
            <a:off x="896761" y="2389920"/>
            <a:ext cx="591829" cy="369332"/>
          </a:xfrm>
          <a:prstGeom prst="rect">
            <a:avLst/>
          </a:prstGeom>
          <a:noFill/>
        </p:spPr>
        <p:txBody>
          <a:bodyPr wrap="none" rtlCol="0">
            <a:spAutoFit/>
          </a:bodyPr>
          <a:lstStyle/>
          <a:p>
            <a:r>
              <a:rPr lang="en-US" b="1" dirty="0"/>
              <a:t>DNS</a:t>
            </a:r>
          </a:p>
        </p:txBody>
      </p:sp>
      <p:sp>
        <p:nvSpPr>
          <p:cNvPr id="10" name="文本框 9">
            <a:extLst>
              <a:ext uri="{FF2B5EF4-FFF2-40B4-BE49-F238E27FC236}">
                <a16:creationId xmlns:a16="http://schemas.microsoft.com/office/drawing/2014/main" id="{F10D9534-9A3C-284E-B3D8-47DBB4833CB6}"/>
              </a:ext>
            </a:extLst>
          </p:cNvPr>
          <p:cNvSpPr txBox="1"/>
          <p:nvPr/>
        </p:nvSpPr>
        <p:spPr>
          <a:xfrm>
            <a:off x="754312" y="1496051"/>
            <a:ext cx="5001912" cy="707886"/>
          </a:xfrm>
          <a:prstGeom prst="rect">
            <a:avLst/>
          </a:prstGeom>
          <a:noFill/>
        </p:spPr>
        <p:txBody>
          <a:bodyPr wrap="square" rtlCol="0">
            <a:spAutoFit/>
          </a:bodyPr>
          <a:lstStyle/>
          <a:p>
            <a:r>
              <a:rPr kumimoji="1" lang="en-US" altLang="zh-CN" sz="2000" dirty="0"/>
              <a:t>   </a:t>
            </a:r>
            <a:r>
              <a:rPr kumimoji="1" lang="zh-CN" altLang="en-US" sz="2000" dirty="0"/>
              <a:t>构造特定的 </a:t>
            </a:r>
            <a:r>
              <a:rPr kumimoji="1" lang="en" altLang="zh-CN" sz="2000" dirty="0"/>
              <a:t>DNS </a:t>
            </a:r>
            <a:r>
              <a:rPr kumimoji="1" lang="zh-CN" altLang="en-US" sz="2000" dirty="0"/>
              <a:t>请求可获取处理请求的任播站点及其物理位置信息</a:t>
            </a:r>
          </a:p>
        </p:txBody>
      </p:sp>
      <p:pic>
        <p:nvPicPr>
          <p:cNvPr id="12" name="图片 11">
            <a:extLst>
              <a:ext uri="{FF2B5EF4-FFF2-40B4-BE49-F238E27FC236}">
                <a16:creationId xmlns:a16="http://schemas.microsoft.com/office/drawing/2014/main" id="{FFC5B790-4618-B446-8685-61C3F89F1107}"/>
              </a:ext>
            </a:extLst>
          </p:cNvPr>
          <p:cNvPicPr>
            <a:picLocks noChangeAspect="1"/>
          </p:cNvPicPr>
          <p:nvPr/>
        </p:nvPicPr>
        <p:blipFill>
          <a:blip r:embed="rId6"/>
          <a:stretch>
            <a:fillRect/>
          </a:stretch>
        </p:blipFill>
        <p:spPr>
          <a:xfrm>
            <a:off x="435145" y="4069327"/>
            <a:ext cx="6093505" cy="2059435"/>
          </a:xfrm>
          <a:prstGeom prst="rect">
            <a:avLst/>
          </a:prstGeom>
        </p:spPr>
      </p:pic>
      <p:sp>
        <p:nvSpPr>
          <p:cNvPr id="33" name="文本框 32">
            <a:extLst>
              <a:ext uri="{FF2B5EF4-FFF2-40B4-BE49-F238E27FC236}">
                <a16:creationId xmlns:a16="http://schemas.microsoft.com/office/drawing/2014/main" id="{579B2280-CDAC-DF4E-99B3-87DDA8D6AA96}"/>
              </a:ext>
            </a:extLst>
          </p:cNvPr>
          <p:cNvSpPr txBox="1"/>
          <p:nvPr/>
        </p:nvSpPr>
        <p:spPr>
          <a:xfrm>
            <a:off x="6766970" y="4092573"/>
            <a:ext cx="4549697" cy="21274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dirty="0"/>
              <a:t>准确率在</a:t>
            </a:r>
            <a:r>
              <a:rPr kumimoji="1" lang="en-US" altLang="zh-CN" dirty="0">
                <a:solidFill>
                  <a:srgbClr val="FF0000"/>
                </a:solidFill>
              </a:rPr>
              <a:t>83.6%</a:t>
            </a:r>
            <a:r>
              <a:rPr kumimoji="1" lang="zh-CN" altLang="en-US" dirty="0">
                <a:solidFill>
                  <a:srgbClr val="FF0000"/>
                </a:solidFill>
              </a:rPr>
              <a:t>～</a:t>
            </a:r>
            <a:r>
              <a:rPr kumimoji="1" lang="en-US" altLang="zh-CN" dirty="0">
                <a:solidFill>
                  <a:srgbClr val="FF0000"/>
                </a:solidFill>
              </a:rPr>
              <a:t>96.4%</a:t>
            </a:r>
          </a:p>
          <a:p>
            <a:pPr marL="285750" indent="-285750">
              <a:lnSpc>
                <a:spcPct val="150000"/>
              </a:lnSpc>
              <a:buFont typeface="Arial" panose="020B0604020202020204" pitchFamily="34" charset="0"/>
              <a:buChar char="•"/>
            </a:pPr>
            <a:r>
              <a:rPr kumimoji="1" lang="zh-CN" altLang="en-US" dirty="0"/>
              <a:t>误差来源主要为公共 </a:t>
            </a:r>
            <a:r>
              <a:rPr kumimoji="1" lang="en" altLang="zh-CN" dirty="0"/>
              <a:t>IP </a:t>
            </a:r>
            <a:r>
              <a:rPr kumimoji="1" lang="zh-CN" altLang="en-US" dirty="0"/>
              <a:t>地理定位数据库</a:t>
            </a:r>
            <a:endParaRPr kumimoji="1" lang="en-US" altLang="zh-CN" dirty="0"/>
          </a:p>
          <a:p>
            <a:pPr marL="285750" indent="-285750">
              <a:lnSpc>
                <a:spcPct val="150000"/>
              </a:lnSpc>
              <a:buFont typeface="Arial" panose="020B0604020202020204" pitchFamily="34" charset="0"/>
              <a:buChar char="•"/>
            </a:pPr>
            <a:r>
              <a:rPr kumimoji="1" lang="zh-CN" altLang="en-US" dirty="0"/>
              <a:t>高密度部署导致识别错误</a:t>
            </a:r>
            <a:endParaRPr kumimoji="1" lang="en-US" altLang="zh-CN" dirty="0"/>
          </a:p>
          <a:p>
            <a:pPr marL="285750" indent="-285750">
              <a:lnSpc>
                <a:spcPct val="150000"/>
              </a:lnSpc>
              <a:buFont typeface="Arial" panose="020B0604020202020204" pitchFamily="34" charset="0"/>
              <a:buChar char="•"/>
            </a:pPr>
            <a:r>
              <a:rPr kumimoji="1" lang="zh-CN" altLang="en-US" dirty="0"/>
              <a:t>低密度部署正确率高但错误案例的偏离距离较大</a:t>
            </a:r>
          </a:p>
        </p:txBody>
      </p:sp>
      <p:pic>
        <p:nvPicPr>
          <p:cNvPr id="74" name="Picture 18">
            <a:extLst>
              <a:ext uri="{FF2B5EF4-FFF2-40B4-BE49-F238E27FC236}">
                <a16:creationId xmlns:a16="http://schemas.microsoft.com/office/drawing/2014/main" id="{1E0B73BB-D976-C24D-869D-790D7AADFA2F}"/>
              </a:ext>
            </a:extLst>
          </p:cNvPr>
          <p:cNvPicPr>
            <a:picLocks noChangeAspect="1"/>
          </p:cNvPicPr>
          <p:nvPr/>
        </p:nvPicPr>
        <p:blipFill>
          <a:blip r:embed="rId3"/>
          <a:stretch>
            <a:fillRect/>
          </a:stretch>
        </p:blipFill>
        <p:spPr>
          <a:xfrm>
            <a:off x="9506386" y="2761725"/>
            <a:ext cx="558800" cy="602689"/>
          </a:xfrm>
          <a:prstGeom prst="rect">
            <a:avLst/>
          </a:prstGeom>
        </p:spPr>
      </p:pic>
      <p:pic>
        <p:nvPicPr>
          <p:cNvPr id="75" name="Picture 19">
            <a:extLst>
              <a:ext uri="{FF2B5EF4-FFF2-40B4-BE49-F238E27FC236}">
                <a16:creationId xmlns:a16="http://schemas.microsoft.com/office/drawing/2014/main" id="{0225291E-23AB-7C4C-A2EA-F2431C87C007}"/>
              </a:ext>
            </a:extLst>
          </p:cNvPr>
          <p:cNvPicPr>
            <a:picLocks noChangeAspect="1"/>
          </p:cNvPicPr>
          <p:nvPr/>
        </p:nvPicPr>
        <p:blipFill>
          <a:blip r:embed="rId4"/>
          <a:stretch>
            <a:fillRect/>
          </a:stretch>
        </p:blipFill>
        <p:spPr>
          <a:xfrm>
            <a:off x="8782149" y="2875510"/>
            <a:ext cx="444500" cy="356134"/>
          </a:xfrm>
          <a:prstGeom prst="rect">
            <a:avLst/>
          </a:prstGeom>
        </p:spPr>
      </p:pic>
      <p:cxnSp>
        <p:nvCxnSpPr>
          <p:cNvPr id="76" name="Straight Connector 20">
            <a:extLst>
              <a:ext uri="{FF2B5EF4-FFF2-40B4-BE49-F238E27FC236}">
                <a16:creationId xmlns:a16="http://schemas.microsoft.com/office/drawing/2014/main" id="{5CEF545D-4C8B-DC43-8414-24F567E6E361}"/>
              </a:ext>
            </a:extLst>
          </p:cNvPr>
          <p:cNvCxnSpPr>
            <a:cxnSpLocks/>
            <a:stCxn id="74" idx="1"/>
          </p:cNvCxnSpPr>
          <p:nvPr/>
        </p:nvCxnSpPr>
        <p:spPr>
          <a:xfrm flipH="1" flipV="1">
            <a:off x="9226649" y="3041126"/>
            <a:ext cx="279737" cy="21944"/>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77" name="TextBox 21">
            <a:extLst>
              <a:ext uri="{FF2B5EF4-FFF2-40B4-BE49-F238E27FC236}">
                <a16:creationId xmlns:a16="http://schemas.microsoft.com/office/drawing/2014/main" id="{E7AB24C8-06CF-9848-A252-9DB84474A822}"/>
              </a:ext>
            </a:extLst>
          </p:cNvPr>
          <p:cNvSpPr txBox="1"/>
          <p:nvPr/>
        </p:nvSpPr>
        <p:spPr>
          <a:xfrm>
            <a:off x="10366041" y="2841422"/>
            <a:ext cx="1022139" cy="369332"/>
          </a:xfrm>
          <a:prstGeom prst="rect">
            <a:avLst/>
          </a:prstGeom>
          <a:noFill/>
        </p:spPr>
        <p:txBody>
          <a:bodyPr wrap="none" rtlCol="0">
            <a:spAutoFit/>
          </a:bodyPr>
          <a:lstStyle/>
          <a:p>
            <a:r>
              <a:rPr lang="en-US" dirty="0"/>
              <a:t>AMS Site</a:t>
            </a:r>
          </a:p>
        </p:txBody>
      </p:sp>
      <p:sp>
        <p:nvSpPr>
          <p:cNvPr id="78" name="Oval 22">
            <a:extLst>
              <a:ext uri="{FF2B5EF4-FFF2-40B4-BE49-F238E27FC236}">
                <a16:creationId xmlns:a16="http://schemas.microsoft.com/office/drawing/2014/main" id="{3B87C143-8470-8B42-BA81-03160F3CAEB9}"/>
              </a:ext>
            </a:extLst>
          </p:cNvPr>
          <p:cNvSpPr/>
          <p:nvPr/>
        </p:nvSpPr>
        <p:spPr>
          <a:xfrm>
            <a:off x="8603636" y="2573096"/>
            <a:ext cx="1685576" cy="958823"/>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23">
            <a:extLst>
              <a:ext uri="{FF2B5EF4-FFF2-40B4-BE49-F238E27FC236}">
                <a16:creationId xmlns:a16="http://schemas.microsoft.com/office/drawing/2014/main" id="{ABBF5A69-982C-DC48-BF5C-674483774A5F}"/>
              </a:ext>
            </a:extLst>
          </p:cNvPr>
          <p:cNvPicPr>
            <a:picLocks noChangeAspect="1"/>
          </p:cNvPicPr>
          <p:nvPr/>
        </p:nvPicPr>
        <p:blipFill>
          <a:blip r:embed="rId5"/>
          <a:stretch>
            <a:fillRect/>
          </a:stretch>
        </p:blipFill>
        <p:spPr>
          <a:xfrm>
            <a:off x="6739296" y="2891225"/>
            <a:ext cx="317500" cy="301345"/>
          </a:xfrm>
          <a:prstGeom prst="rect">
            <a:avLst/>
          </a:prstGeom>
        </p:spPr>
      </p:pic>
      <p:pic>
        <p:nvPicPr>
          <p:cNvPr id="83" name="Picture 27">
            <a:extLst>
              <a:ext uri="{FF2B5EF4-FFF2-40B4-BE49-F238E27FC236}">
                <a16:creationId xmlns:a16="http://schemas.microsoft.com/office/drawing/2014/main" id="{7999D566-80E0-5942-BE39-E4FD1B8C5540}"/>
              </a:ext>
            </a:extLst>
          </p:cNvPr>
          <p:cNvPicPr>
            <a:picLocks noChangeAspect="1"/>
          </p:cNvPicPr>
          <p:nvPr/>
        </p:nvPicPr>
        <p:blipFill>
          <a:blip r:embed="rId5">
            <a:duotone>
              <a:schemeClr val="accent1">
                <a:shade val="45000"/>
                <a:satMod val="135000"/>
              </a:schemeClr>
              <a:prstClr val="white"/>
            </a:duotone>
          </a:blip>
          <a:stretch>
            <a:fillRect/>
          </a:stretch>
        </p:blipFill>
        <p:spPr>
          <a:xfrm>
            <a:off x="8159851" y="3583974"/>
            <a:ext cx="317500" cy="301345"/>
          </a:xfrm>
          <a:prstGeom prst="rect">
            <a:avLst/>
          </a:prstGeom>
        </p:spPr>
      </p:pic>
      <p:sp>
        <p:nvSpPr>
          <p:cNvPr id="85" name="TextBox 36">
            <a:extLst>
              <a:ext uri="{FF2B5EF4-FFF2-40B4-BE49-F238E27FC236}">
                <a16:creationId xmlns:a16="http://schemas.microsoft.com/office/drawing/2014/main" id="{DEC3BFB3-628F-8043-8DA4-ABF95E58360F}"/>
              </a:ext>
            </a:extLst>
          </p:cNvPr>
          <p:cNvSpPr txBox="1"/>
          <p:nvPr/>
        </p:nvSpPr>
        <p:spPr>
          <a:xfrm>
            <a:off x="6528650" y="3151636"/>
            <a:ext cx="738792" cy="646331"/>
          </a:xfrm>
          <a:prstGeom prst="rect">
            <a:avLst/>
          </a:prstGeom>
          <a:noFill/>
        </p:spPr>
        <p:txBody>
          <a:bodyPr wrap="none" rtlCol="0">
            <a:spAutoFit/>
          </a:bodyPr>
          <a:lstStyle/>
          <a:p>
            <a:pPr algn="ctr"/>
            <a:r>
              <a:rPr lang="en-US" dirty="0"/>
              <a:t>JFK</a:t>
            </a:r>
          </a:p>
          <a:p>
            <a:pPr algn="ctr"/>
            <a:r>
              <a:rPr lang="en-US" dirty="0"/>
              <a:t>Probe</a:t>
            </a:r>
          </a:p>
        </p:txBody>
      </p:sp>
      <p:sp>
        <p:nvSpPr>
          <p:cNvPr id="86" name="TextBox 38">
            <a:extLst>
              <a:ext uri="{FF2B5EF4-FFF2-40B4-BE49-F238E27FC236}">
                <a16:creationId xmlns:a16="http://schemas.microsoft.com/office/drawing/2014/main" id="{F5F7F170-CB63-2249-971A-380A02D61DB3}"/>
              </a:ext>
            </a:extLst>
          </p:cNvPr>
          <p:cNvSpPr txBox="1"/>
          <p:nvPr/>
        </p:nvSpPr>
        <p:spPr>
          <a:xfrm>
            <a:off x="7462820" y="3506594"/>
            <a:ext cx="738792" cy="646331"/>
          </a:xfrm>
          <a:prstGeom prst="rect">
            <a:avLst/>
          </a:prstGeom>
          <a:noFill/>
        </p:spPr>
        <p:txBody>
          <a:bodyPr wrap="square" rtlCol="0">
            <a:spAutoFit/>
          </a:bodyPr>
          <a:lstStyle/>
          <a:p>
            <a:pPr algn="ctr"/>
            <a:r>
              <a:rPr lang="en-US" dirty="0">
                <a:solidFill>
                  <a:schemeClr val="accent1">
                    <a:lumMod val="75000"/>
                  </a:schemeClr>
                </a:solidFill>
              </a:rPr>
              <a:t>AMS</a:t>
            </a:r>
          </a:p>
          <a:p>
            <a:pPr algn="ctr"/>
            <a:r>
              <a:rPr lang="en-US" dirty="0">
                <a:solidFill>
                  <a:schemeClr val="accent1">
                    <a:lumMod val="75000"/>
                  </a:schemeClr>
                </a:solidFill>
              </a:rPr>
              <a:t>Probe</a:t>
            </a:r>
          </a:p>
        </p:txBody>
      </p:sp>
      <p:cxnSp>
        <p:nvCxnSpPr>
          <p:cNvPr id="96" name="Straight Connector 67">
            <a:extLst>
              <a:ext uri="{FF2B5EF4-FFF2-40B4-BE49-F238E27FC236}">
                <a16:creationId xmlns:a16="http://schemas.microsoft.com/office/drawing/2014/main" id="{79744D9B-AB06-3548-BCAB-443A77A68BF1}"/>
              </a:ext>
            </a:extLst>
          </p:cNvPr>
          <p:cNvCxnSpPr>
            <a:cxnSpLocks/>
          </p:cNvCxnSpPr>
          <p:nvPr/>
        </p:nvCxnSpPr>
        <p:spPr>
          <a:xfrm flipV="1">
            <a:off x="7189648" y="3021599"/>
            <a:ext cx="1314035" cy="1841"/>
          </a:xfrm>
          <a:prstGeom prst="line">
            <a:avLst/>
          </a:prstGeom>
          <a:ln w="38100">
            <a:solidFill>
              <a:srgbClr val="FF0000"/>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7" name="Straight Connector 68">
            <a:extLst>
              <a:ext uri="{FF2B5EF4-FFF2-40B4-BE49-F238E27FC236}">
                <a16:creationId xmlns:a16="http://schemas.microsoft.com/office/drawing/2014/main" id="{D6FCC499-3C57-8A44-A40F-C64C052AA893}"/>
              </a:ext>
            </a:extLst>
          </p:cNvPr>
          <p:cNvCxnSpPr>
            <a:cxnSpLocks/>
          </p:cNvCxnSpPr>
          <p:nvPr/>
        </p:nvCxnSpPr>
        <p:spPr>
          <a:xfrm flipH="1">
            <a:off x="7207536" y="3169447"/>
            <a:ext cx="1296147" cy="0"/>
          </a:xfrm>
          <a:prstGeom prst="line">
            <a:avLst/>
          </a:prstGeom>
          <a:ln w="38100">
            <a:solidFill>
              <a:srgbClr val="FF0000"/>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sp>
        <p:nvSpPr>
          <p:cNvPr id="98" name="TextBox 69">
            <a:extLst>
              <a:ext uri="{FF2B5EF4-FFF2-40B4-BE49-F238E27FC236}">
                <a16:creationId xmlns:a16="http://schemas.microsoft.com/office/drawing/2014/main" id="{54AE86AF-D99F-684A-88E4-F6D7E9B8905B}"/>
              </a:ext>
            </a:extLst>
          </p:cNvPr>
          <p:cNvSpPr txBox="1"/>
          <p:nvPr/>
        </p:nvSpPr>
        <p:spPr>
          <a:xfrm>
            <a:off x="8652007" y="2473476"/>
            <a:ext cx="745717" cy="369332"/>
          </a:xfrm>
          <a:prstGeom prst="rect">
            <a:avLst/>
          </a:prstGeom>
          <a:noFill/>
        </p:spPr>
        <p:txBody>
          <a:bodyPr wrap="none" rtlCol="0">
            <a:spAutoFit/>
          </a:bodyPr>
          <a:lstStyle/>
          <a:p>
            <a:r>
              <a:rPr lang="en-US" dirty="0">
                <a:solidFill>
                  <a:srgbClr val="FF0000"/>
                </a:solidFill>
              </a:rPr>
              <a:t>80 </a:t>
            </a:r>
            <a:r>
              <a:rPr lang="en-US" dirty="0" err="1">
                <a:solidFill>
                  <a:srgbClr val="FF0000"/>
                </a:solidFill>
              </a:rPr>
              <a:t>ms</a:t>
            </a:r>
            <a:endParaRPr lang="en-US" dirty="0">
              <a:solidFill>
                <a:srgbClr val="FF0000"/>
              </a:solidFill>
            </a:endParaRPr>
          </a:p>
        </p:txBody>
      </p:sp>
      <p:sp>
        <p:nvSpPr>
          <p:cNvPr id="99" name="TextBox 73">
            <a:extLst>
              <a:ext uri="{FF2B5EF4-FFF2-40B4-BE49-F238E27FC236}">
                <a16:creationId xmlns:a16="http://schemas.microsoft.com/office/drawing/2014/main" id="{AECAF230-CC73-E640-8F24-2B6632935736}"/>
              </a:ext>
            </a:extLst>
          </p:cNvPr>
          <p:cNvSpPr txBox="1"/>
          <p:nvPr/>
        </p:nvSpPr>
        <p:spPr>
          <a:xfrm>
            <a:off x="9470609" y="2452238"/>
            <a:ext cx="745717" cy="369332"/>
          </a:xfrm>
          <a:prstGeom prst="rect">
            <a:avLst/>
          </a:prstGeom>
          <a:noFill/>
        </p:spPr>
        <p:txBody>
          <a:bodyPr wrap="none" rtlCol="0">
            <a:spAutoFit/>
          </a:bodyPr>
          <a:lstStyle/>
          <a:p>
            <a:r>
              <a:rPr lang="en-US" dirty="0">
                <a:solidFill>
                  <a:srgbClr val="FF0000"/>
                </a:solidFill>
              </a:rPr>
              <a:t>81 </a:t>
            </a:r>
            <a:r>
              <a:rPr lang="en-US" dirty="0" err="1">
                <a:solidFill>
                  <a:srgbClr val="FF0000"/>
                </a:solidFill>
              </a:rPr>
              <a:t>ms</a:t>
            </a:r>
            <a:endParaRPr lang="en-US" dirty="0">
              <a:solidFill>
                <a:srgbClr val="FF0000"/>
              </a:solidFill>
            </a:endParaRPr>
          </a:p>
        </p:txBody>
      </p:sp>
      <p:sp>
        <p:nvSpPr>
          <p:cNvPr id="100" name="TextBox 74">
            <a:extLst>
              <a:ext uri="{FF2B5EF4-FFF2-40B4-BE49-F238E27FC236}">
                <a16:creationId xmlns:a16="http://schemas.microsoft.com/office/drawing/2014/main" id="{61D5E0F9-726D-454E-A85F-DCA31E0AF200}"/>
              </a:ext>
            </a:extLst>
          </p:cNvPr>
          <p:cNvSpPr txBox="1"/>
          <p:nvPr/>
        </p:nvSpPr>
        <p:spPr>
          <a:xfrm>
            <a:off x="8267176" y="2171062"/>
            <a:ext cx="1295932" cy="369332"/>
          </a:xfrm>
          <a:prstGeom prst="rect">
            <a:avLst/>
          </a:prstGeom>
          <a:noFill/>
        </p:spPr>
        <p:txBody>
          <a:bodyPr wrap="none" rtlCol="0">
            <a:spAutoFit/>
          </a:bodyPr>
          <a:lstStyle/>
          <a:p>
            <a:r>
              <a:rPr lang="en-US" dirty="0" err="1"/>
              <a:t>xxx.</a:t>
            </a:r>
            <a:r>
              <a:rPr lang="en-US" dirty="0" err="1">
                <a:solidFill>
                  <a:srgbClr val="FF0000"/>
                </a:solidFill>
              </a:rPr>
              <a:t>ams</a:t>
            </a:r>
            <a:r>
              <a:rPr lang="en-US" dirty="0" err="1"/>
              <a:t>.net</a:t>
            </a:r>
            <a:endParaRPr lang="en-US" dirty="0"/>
          </a:p>
        </p:txBody>
      </p:sp>
      <p:cxnSp>
        <p:nvCxnSpPr>
          <p:cNvPr id="104" name="Straight Connector 86">
            <a:extLst>
              <a:ext uri="{FF2B5EF4-FFF2-40B4-BE49-F238E27FC236}">
                <a16:creationId xmlns:a16="http://schemas.microsoft.com/office/drawing/2014/main" id="{E7606087-FD2F-F94B-96FC-47B0E5AFA905}"/>
              </a:ext>
            </a:extLst>
          </p:cNvPr>
          <p:cNvCxnSpPr>
            <a:cxnSpLocks/>
          </p:cNvCxnSpPr>
          <p:nvPr/>
        </p:nvCxnSpPr>
        <p:spPr>
          <a:xfrm flipV="1">
            <a:off x="8477351" y="3231644"/>
            <a:ext cx="336931" cy="389092"/>
          </a:xfrm>
          <a:prstGeom prst="line">
            <a:avLst/>
          </a:prstGeom>
          <a:ln w="381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5" name="Straight Connector 87">
            <a:extLst>
              <a:ext uri="{FF2B5EF4-FFF2-40B4-BE49-F238E27FC236}">
                <a16:creationId xmlns:a16="http://schemas.microsoft.com/office/drawing/2014/main" id="{1913C6A1-851F-AE45-BB12-BAA0C195F891}"/>
              </a:ext>
            </a:extLst>
          </p:cNvPr>
          <p:cNvCxnSpPr>
            <a:cxnSpLocks/>
          </p:cNvCxnSpPr>
          <p:nvPr/>
        </p:nvCxnSpPr>
        <p:spPr>
          <a:xfrm flipH="1">
            <a:off x="8566301" y="3301020"/>
            <a:ext cx="348841" cy="407080"/>
          </a:xfrm>
          <a:prstGeom prst="line">
            <a:avLst/>
          </a:prstGeom>
          <a:ln w="381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7" name="Picture 6" descr="Industry leading IP Geolocation and Online Fraud Prevention | MaxMind">
            <a:extLst>
              <a:ext uri="{FF2B5EF4-FFF2-40B4-BE49-F238E27FC236}">
                <a16:creationId xmlns:a16="http://schemas.microsoft.com/office/drawing/2014/main" id="{F947D44F-BBBD-F640-8E4B-ABEC2FE6CC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69381" y="3559568"/>
            <a:ext cx="1634597" cy="27593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91">
            <a:extLst>
              <a:ext uri="{FF2B5EF4-FFF2-40B4-BE49-F238E27FC236}">
                <a16:creationId xmlns:a16="http://schemas.microsoft.com/office/drawing/2014/main" id="{14DF7F1A-B20E-6F43-AD9E-F59F06198464}"/>
              </a:ext>
            </a:extLst>
          </p:cNvPr>
          <p:cNvSpPr txBox="1"/>
          <p:nvPr/>
        </p:nvSpPr>
        <p:spPr>
          <a:xfrm>
            <a:off x="6594725" y="2333860"/>
            <a:ext cx="599844" cy="369332"/>
          </a:xfrm>
          <a:prstGeom prst="rect">
            <a:avLst/>
          </a:prstGeom>
          <a:noFill/>
        </p:spPr>
        <p:txBody>
          <a:bodyPr wrap="none" rtlCol="0">
            <a:spAutoFit/>
          </a:bodyPr>
          <a:lstStyle/>
          <a:p>
            <a:r>
              <a:rPr lang="en-US" b="1" dirty="0"/>
              <a:t>CDN</a:t>
            </a:r>
          </a:p>
        </p:txBody>
      </p:sp>
      <p:sp>
        <p:nvSpPr>
          <p:cNvPr id="133" name="Folded Corner 33">
            <a:extLst>
              <a:ext uri="{FF2B5EF4-FFF2-40B4-BE49-F238E27FC236}">
                <a16:creationId xmlns:a16="http://schemas.microsoft.com/office/drawing/2014/main" id="{DFEFAB0F-4D1E-6146-9184-20F90A8F43D3}"/>
              </a:ext>
            </a:extLst>
          </p:cNvPr>
          <p:cNvSpPr/>
          <p:nvPr/>
        </p:nvSpPr>
        <p:spPr>
          <a:xfrm>
            <a:off x="7221428" y="2434241"/>
            <a:ext cx="916222" cy="472120"/>
          </a:xfrm>
          <a:prstGeom prst="foldedCorne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Traceroute</a:t>
            </a:r>
          </a:p>
        </p:txBody>
      </p:sp>
      <p:sp>
        <p:nvSpPr>
          <p:cNvPr id="134" name="文本框 133">
            <a:extLst>
              <a:ext uri="{FF2B5EF4-FFF2-40B4-BE49-F238E27FC236}">
                <a16:creationId xmlns:a16="http://schemas.microsoft.com/office/drawing/2014/main" id="{CA8DF101-E11C-5640-8965-3C394AACDF65}"/>
              </a:ext>
            </a:extLst>
          </p:cNvPr>
          <p:cNvSpPr txBox="1"/>
          <p:nvPr/>
        </p:nvSpPr>
        <p:spPr>
          <a:xfrm>
            <a:off x="6593785" y="1513253"/>
            <a:ext cx="5001912" cy="707886"/>
          </a:xfrm>
          <a:prstGeom prst="rect">
            <a:avLst/>
          </a:prstGeom>
          <a:noFill/>
        </p:spPr>
        <p:txBody>
          <a:bodyPr wrap="square" rtlCol="0">
            <a:spAutoFit/>
          </a:bodyPr>
          <a:lstStyle/>
          <a:p>
            <a:r>
              <a:rPr kumimoji="1" lang="en-US" altLang="zh-CN" sz="2000" dirty="0"/>
              <a:t>   </a:t>
            </a:r>
            <a:r>
              <a:rPr kumimoji="1" lang="zh-CN" altLang="en-US" sz="2000" dirty="0"/>
              <a:t>使用</a:t>
            </a:r>
            <a:r>
              <a:rPr kumimoji="1" lang="en-US" altLang="zh-CN" sz="2000" dirty="0" err="1"/>
              <a:t>Anytool</a:t>
            </a:r>
            <a:r>
              <a:rPr kumimoji="1" lang="zh-CN" altLang="en-US" sz="2000" dirty="0"/>
              <a:t>识别处理请求的任播站点及其物理位置信息</a:t>
            </a:r>
          </a:p>
        </p:txBody>
      </p:sp>
    </p:spTree>
    <p:extLst>
      <p:ext uri="{BB962C8B-B14F-4D97-AF65-F5344CB8AC3E}">
        <p14:creationId xmlns:p14="http://schemas.microsoft.com/office/powerpoint/2010/main" val="372906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2.29167E-6 -3.7037E-7 C 0.20273 -0.01273 0.40208 -0.02523 0.53151 -0.02893 " pathEditMode="relative" rAng="0" ptsTypes="AA">
                                      <p:cBhvr>
                                        <p:cTn id="12" dur="2000" fill="hold"/>
                                        <p:tgtEl>
                                          <p:spTgt spid="28"/>
                                        </p:tgtEl>
                                        <p:attrNameLst>
                                          <p:attrName>ppt_x</p:attrName>
                                          <p:attrName>ppt_y</p:attrName>
                                        </p:attrNameLst>
                                      </p:cBhvr>
                                      <p:rCtr x="26576" y="-1458"/>
                                    </p:animMotion>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2" nodeType="clickEffect">
                                  <p:stCondLst>
                                    <p:cond delay="0"/>
                                  </p:stCondLst>
                                  <p:childTnLst>
                                    <p:set>
                                      <p:cBhvr>
                                        <p:cTn id="16" dur="1" fill="hold">
                                          <p:stCondLst>
                                            <p:cond delay="0"/>
                                          </p:stCondLst>
                                        </p:cTn>
                                        <p:tgtEl>
                                          <p:spTgt spid="2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8.33333E-7 4.81481E-6 C -0.19609 0.00277 -0.3888 0.00578 -0.5138 0.00671 " pathEditMode="relative" rAng="0" ptsTypes="AA">
                                      <p:cBhvr>
                                        <p:cTn id="26" dur="2000" fill="hold"/>
                                        <p:tgtEl>
                                          <p:spTgt spid="29"/>
                                        </p:tgtEl>
                                        <p:attrNameLst>
                                          <p:attrName>ppt_x</p:attrName>
                                          <p:attrName>ppt_y</p:attrName>
                                        </p:attrNameLst>
                                      </p:cBhvr>
                                      <p:rCtr x="-25690" y="324"/>
                                    </p:animMotion>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8">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1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0" presetClass="path" presetSubtype="0" accel="50000" decel="50000" fill="hold" grpId="0" nodeType="clickEffect">
                                  <p:stCondLst>
                                    <p:cond delay="0"/>
                                  </p:stCondLst>
                                  <p:childTnLst>
                                    <p:animMotion origin="layout" path="M 2.29167E-6 -3.7037E-7 C 0.20273 -0.01273 0.40208 -0.02523 0.53151 -0.02893 " pathEditMode="relative" rAng="0" ptsTypes="AA">
                                      <p:cBhvr>
                                        <p:cTn id="70" dur="2000" fill="hold"/>
                                        <p:tgtEl>
                                          <p:spTgt spid="133"/>
                                        </p:tgtEl>
                                        <p:attrNameLst>
                                          <p:attrName>ppt_x</p:attrName>
                                          <p:attrName>ppt_y</p:attrName>
                                        </p:attrNameLst>
                                      </p:cBhvr>
                                      <p:rCtr x="26576" y="-1458"/>
                                    </p:animMotion>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1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animBg="1"/>
      <p:bldP spid="28" grpId="1" animBg="1"/>
      <p:bldP spid="28" grpId="2" animBg="1"/>
      <p:bldP spid="29" grpId="0" animBg="1"/>
      <p:bldP spid="29" grpId="1" animBg="1"/>
      <p:bldP spid="77" grpId="0"/>
      <p:bldP spid="86" grpId="0"/>
      <p:bldP spid="100" grpId="0"/>
      <p:bldP spid="133" grpId="0" animBg="1"/>
      <p:bldP spid="133" grpId="1" animBg="1"/>
      <p:bldP spid="133"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研究结果</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区域任播测量</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9</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42" name="Picture 6">
            <a:extLst>
              <a:ext uri="{FF2B5EF4-FFF2-40B4-BE49-F238E27FC236}">
                <a16:creationId xmlns:a16="http://schemas.microsoft.com/office/drawing/2014/main" id="{544CF7A0-083B-9740-8828-EAF6C96FD5A9}"/>
              </a:ext>
            </a:extLst>
          </p:cNvPr>
          <p:cNvPicPr>
            <a:picLocks noChangeAspect="1"/>
          </p:cNvPicPr>
          <p:nvPr/>
        </p:nvPicPr>
        <p:blipFill>
          <a:blip r:embed="rId3"/>
          <a:stretch>
            <a:fillRect/>
          </a:stretch>
        </p:blipFill>
        <p:spPr>
          <a:xfrm>
            <a:off x="1085943" y="2046158"/>
            <a:ext cx="9494971" cy="3630096"/>
          </a:xfrm>
          <a:prstGeom prst="rect">
            <a:avLst/>
          </a:prstGeom>
        </p:spPr>
      </p:pic>
      <p:sp>
        <p:nvSpPr>
          <p:cNvPr id="5" name="文本框 4">
            <a:extLst>
              <a:ext uri="{FF2B5EF4-FFF2-40B4-BE49-F238E27FC236}">
                <a16:creationId xmlns:a16="http://schemas.microsoft.com/office/drawing/2014/main" id="{705648B9-A100-7B46-8C67-D364F747C8FA}"/>
              </a:ext>
            </a:extLst>
          </p:cNvPr>
          <p:cNvSpPr txBox="1"/>
          <p:nvPr/>
        </p:nvSpPr>
        <p:spPr>
          <a:xfrm>
            <a:off x="606705" y="1578339"/>
            <a:ext cx="8498967" cy="400110"/>
          </a:xfrm>
          <a:prstGeom prst="rect">
            <a:avLst/>
          </a:prstGeom>
          <a:noFill/>
        </p:spPr>
        <p:txBody>
          <a:bodyPr wrap="square" rtlCol="0">
            <a:spAutoFit/>
          </a:bodyPr>
          <a:lstStyle/>
          <a:p>
            <a:r>
              <a:rPr kumimoji="1" lang="zh-CN" altLang="en-US" sz="2000" b="1" dirty="0"/>
              <a:t>区域任播（</a:t>
            </a:r>
            <a:r>
              <a:rPr kumimoji="1" lang="en-US" altLang="zh-CN" sz="2000" b="1" dirty="0" err="1"/>
              <a:t>Edgio</a:t>
            </a:r>
            <a:r>
              <a:rPr kumimoji="1" lang="zh-CN" altLang="en-US" sz="2000" b="1" dirty="0"/>
              <a:t> ，</a:t>
            </a:r>
            <a:r>
              <a:rPr kumimoji="1" lang="en-US" altLang="zh-CN" sz="2000" b="1" dirty="0"/>
              <a:t>Imperva</a:t>
            </a:r>
            <a:r>
              <a:rPr kumimoji="1" lang="zh-CN" altLang="en-US" sz="2000" b="1" dirty="0"/>
              <a:t>）：</a:t>
            </a:r>
            <a:r>
              <a:rPr kumimoji="1" lang="en-US" altLang="zh-CN" sz="2000" b="1" dirty="0"/>
              <a:t>1.</a:t>
            </a:r>
            <a:r>
              <a:rPr kumimoji="1" lang="zh-CN" altLang="en-US" sz="2000" b="1" dirty="0"/>
              <a:t> 站点的划分  </a:t>
            </a:r>
            <a:r>
              <a:rPr kumimoji="1" lang="en-US" altLang="zh-CN" sz="2000" b="1" dirty="0"/>
              <a:t>2.</a:t>
            </a:r>
            <a:r>
              <a:rPr kumimoji="1" lang="zh-CN" altLang="en-US" sz="2000" b="1" dirty="0"/>
              <a:t> 用户的划分 </a:t>
            </a:r>
          </a:p>
        </p:txBody>
      </p:sp>
      <p:sp>
        <p:nvSpPr>
          <p:cNvPr id="6" name="文本框 5">
            <a:extLst>
              <a:ext uri="{FF2B5EF4-FFF2-40B4-BE49-F238E27FC236}">
                <a16:creationId xmlns:a16="http://schemas.microsoft.com/office/drawing/2014/main" id="{5CA022D6-6D58-C54B-A982-0D4E4EF38888}"/>
              </a:ext>
            </a:extLst>
          </p:cNvPr>
          <p:cNvSpPr txBox="1"/>
          <p:nvPr/>
        </p:nvSpPr>
        <p:spPr>
          <a:xfrm>
            <a:off x="838200" y="5831636"/>
            <a:ext cx="8267472" cy="369332"/>
          </a:xfrm>
          <a:prstGeom prst="rect">
            <a:avLst/>
          </a:prstGeom>
          <a:noFill/>
        </p:spPr>
        <p:txBody>
          <a:bodyPr wrap="square" rtlCol="0">
            <a:spAutoFit/>
          </a:bodyPr>
          <a:lstStyle/>
          <a:p>
            <a:r>
              <a:rPr kumimoji="1" lang="zh-CN" altLang="en-US" dirty="0"/>
              <a:t>主要基于大洲边界进行划分，少数基于国家划分</a:t>
            </a:r>
          </a:p>
        </p:txBody>
      </p:sp>
      <p:sp>
        <p:nvSpPr>
          <p:cNvPr id="8" name="文本框 7">
            <a:extLst>
              <a:ext uri="{FF2B5EF4-FFF2-40B4-BE49-F238E27FC236}">
                <a16:creationId xmlns:a16="http://schemas.microsoft.com/office/drawing/2014/main" id="{A8FBA233-E766-DE40-ADF9-E760866F8211}"/>
              </a:ext>
            </a:extLst>
          </p:cNvPr>
          <p:cNvSpPr txBox="1"/>
          <p:nvPr/>
        </p:nvSpPr>
        <p:spPr>
          <a:xfrm>
            <a:off x="1676400" y="5334000"/>
            <a:ext cx="2110154" cy="400110"/>
          </a:xfrm>
          <a:prstGeom prst="rect">
            <a:avLst/>
          </a:prstGeom>
          <a:solidFill>
            <a:schemeClr val="bg1"/>
          </a:solidFill>
        </p:spPr>
        <p:txBody>
          <a:bodyPr wrap="square" rtlCol="0">
            <a:spAutoFit/>
          </a:bodyPr>
          <a:lstStyle/>
          <a:p>
            <a:pPr algn="ctr"/>
            <a:r>
              <a:rPr kumimoji="1" lang="en-US" altLang="zh-CN" sz="2000" b="1" dirty="0"/>
              <a:t>Edgio-3</a:t>
            </a:r>
            <a:endParaRPr kumimoji="1" lang="zh-CN" altLang="en-US" sz="2000" b="1" dirty="0"/>
          </a:p>
        </p:txBody>
      </p:sp>
      <p:sp>
        <p:nvSpPr>
          <p:cNvPr id="10" name="文本框 9">
            <a:extLst>
              <a:ext uri="{FF2B5EF4-FFF2-40B4-BE49-F238E27FC236}">
                <a16:creationId xmlns:a16="http://schemas.microsoft.com/office/drawing/2014/main" id="{AEC00B24-5C6F-5B4B-9B31-B279BE3E44A1}"/>
              </a:ext>
            </a:extLst>
          </p:cNvPr>
          <p:cNvSpPr txBox="1"/>
          <p:nvPr/>
        </p:nvSpPr>
        <p:spPr>
          <a:xfrm>
            <a:off x="4856188" y="5334000"/>
            <a:ext cx="2110154" cy="400110"/>
          </a:xfrm>
          <a:prstGeom prst="rect">
            <a:avLst/>
          </a:prstGeom>
          <a:solidFill>
            <a:schemeClr val="bg1"/>
          </a:solidFill>
        </p:spPr>
        <p:txBody>
          <a:bodyPr wrap="square" rtlCol="0">
            <a:spAutoFit/>
          </a:bodyPr>
          <a:lstStyle/>
          <a:p>
            <a:pPr algn="ctr"/>
            <a:r>
              <a:rPr kumimoji="1" lang="en-US" altLang="zh-CN" sz="2000" b="1" dirty="0"/>
              <a:t>Edgio-4</a:t>
            </a:r>
            <a:endParaRPr kumimoji="1" lang="zh-CN" altLang="en-US" sz="2000" b="1" dirty="0"/>
          </a:p>
        </p:txBody>
      </p:sp>
      <p:sp>
        <p:nvSpPr>
          <p:cNvPr id="11" name="文本框 10">
            <a:extLst>
              <a:ext uri="{FF2B5EF4-FFF2-40B4-BE49-F238E27FC236}">
                <a16:creationId xmlns:a16="http://schemas.microsoft.com/office/drawing/2014/main" id="{4CC86D24-5CB9-624B-8202-A7B042594BFE}"/>
              </a:ext>
            </a:extLst>
          </p:cNvPr>
          <p:cNvSpPr txBox="1"/>
          <p:nvPr/>
        </p:nvSpPr>
        <p:spPr>
          <a:xfrm>
            <a:off x="8035976" y="5334000"/>
            <a:ext cx="2110154" cy="400110"/>
          </a:xfrm>
          <a:prstGeom prst="rect">
            <a:avLst/>
          </a:prstGeom>
          <a:solidFill>
            <a:schemeClr val="bg1"/>
          </a:solidFill>
        </p:spPr>
        <p:txBody>
          <a:bodyPr wrap="square" rtlCol="0">
            <a:spAutoFit/>
          </a:bodyPr>
          <a:lstStyle/>
          <a:p>
            <a:pPr algn="ctr"/>
            <a:r>
              <a:rPr kumimoji="1" lang="en-US" altLang="zh-CN" sz="2000" b="1" dirty="0"/>
              <a:t>Imperva-6</a:t>
            </a:r>
            <a:endParaRPr kumimoji="1" lang="zh-CN" altLang="en-US" sz="2000" b="1" dirty="0"/>
          </a:p>
        </p:txBody>
      </p:sp>
    </p:spTree>
    <p:extLst>
      <p:ext uri="{BB962C8B-B14F-4D97-AF65-F5344CB8AC3E}">
        <p14:creationId xmlns:p14="http://schemas.microsoft.com/office/powerpoint/2010/main" val="337553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研究结果</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区域任播测量</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10</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05648B9-A100-7B46-8C67-D364F747C8FA}"/>
              </a:ext>
            </a:extLst>
          </p:cNvPr>
          <p:cNvSpPr txBox="1"/>
          <p:nvPr/>
        </p:nvSpPr>
        <p:spPr>
          <a:xfrm>
            <a:off x="606705" y="1578339"/>
            <a:ext cx="10299492" cy="400110"/>
          </a:xfrm>
          <a:prstGeom prst="rect">
            <a:avLst/>
          </a:prstGeom>
          <a:noFill/>
        </p:spPr>
        <p:txBody>
          <a:bodyPr wrap="square" rtlCol="0">
            <a:spAutoFit/>
          </a:bodyPr>
          <a:lstStyle/>
          <a:p>
            <a:r>
              <a:rPr kumimoji="1" lang="zh-CN" altLang="en-US" sz="2000" b="1" dirty="0"/>
              <a:t>区域任播：</a:t>
            </a:r>
            <a:r>
              <a:rPr kumimoji="1" lang="en-US" altLang="zh-CN" sz="2000" b="1" dirty="0"/>
              <a:t>3.</a:t>
            </a:r>
            <a:r>
              <a:rPr kumimoji="1" lang="zh-CN" altLang="en-US" sz="2000" b="1" dirty="0"/>
              <a:t> 与全球（普通）任播性能对比 </a:t>
            </a:r>
          </a:p>
        </p:txBody>
      </p:sp>
      <p:pic>
        <p:nvPicPr>
          <p:cNvPr id="12" name="图片 11">
            <a:extLst>
              <a:ext uri="{FF2B5EF4-FFF2-40B4-BE49-F238E27FC236}">
                <a16:creationId xmlns:a16="http://schemas.microsoft.com/office/drawing/2014/main" id="{280660EC-C6D2-1746-9EDC-D992EDF1CBE1}"/>
              </a:ext>
            </a:extLst>
          </p:cNvPr>
          <p:cNvPicPr>
            <a:picLocks noChangeAspect="1"/>
          </p:cNvPicPr>
          <p:nvPr/>
        </p:nvPicPr>
        <p:blipFill>
          <a:blip r:embed="rId3"/>
          <a:stretch>
            <a:fillRect/>
          </a:stretch>
        </p:blipFill>
        <p:spPr>
          <a:xfrm>
            <a:off x="7713803" y="2258627"/>
            <a:ext cx="4386893" cy="2423886"/>
          </a:xfrm>
          <a:prstGeom prst="rect">
            <a:avLst/>
          </a:prstGeom>
        </p:spPr>
      </p:pic>
      <p:sp>
        <p:nvSpPr>
          <p:cNvPr id="13" name="文本框 12">
            <a:extLst>
              <a:ext uri="{FF2B5EF4-FFF2-40B4-BE49-F238E27FC236}">
                <a16:creationId xmlns:a16="http://schemas.microsoft.com/office/drawing/2014/main" id="{46948C5A-AE18-4649-92AC-554591F7DD4F}"/>
              </a:ext>
            </a:extLst>
          </p:cNvPr>
          <p:cNvSpPr txBox="1"/>
          <p:nvPr/>
        </p:nvSpPr>
        <p:spPr>
          <a:xfrm>
            <a:off x="456803" y="4879552"/>
            <a:ext cx="3953636" cy="1200329"/>
          </a:xfrm>
          <a:prstGeom prst="rect">
            <a:avLst/>
          </a:prstGeom>
          <a:noFill/>
        </p:spPr>
        <p:txBody>
          <a:bodyPr wrap="square" rtlCol="0">
            <a:spAutoFit/>
          </a:bodyPr>
          <a:lstStyle/>
          <a:p>
            <a:pPr marL="342900" indent="-342900">
              <a:buAutoNum type="arabicPeriod"/>
            </a:pPr>
            <a:r>
              <a:rPr kumimoji="1" lang="zh-CN" altLang="en-US" dirty="0"/>
              <a:t>将</a:t>
            </a:r>
            <a:r>
              <a:rPr kumimoji="1" lang="en-US" altLang="zh-CN" dirty="0"/>
              <a:t>RIPE</a:t>
            </a:r>
            <a:r>
              <a:rPr kumimoji="1" lang="zh-CN" altLang="en-US" dirty="0"/>
              <a:t> </a:t>
            </a:r>
            <a:r>
              <a:rPr kumimoji="1" lang="en-US" altLang="zh-CN" dirty="0"/>
              <a:t>Atlas</a:t>
            </a:r>
            <a:r>
              <a:rPr kumimoji="1" lang="zh-CN" altLang="en-US" dirty="0"/>
              <a:t> 探针划分为四个区域分别展示性能</a:t>
            </a:r>
            <a:endParaRPr kumimoji="1" lang="en-US" altLang="zh-CN" dirty="0"/>
          </a:p>
          <a:p>
            <a:pPr marL="342900" indent="-342900">
              <a:buAutoNum type="arabicPeriod"/>
            </a:pPr>
            <a:r>
              <a:rPr kumimoji="1" lang="zh-CN" altLang="en-US" dirty="0"/>
              <a:t>采用对应</a:t>
            </a:r>
            <a:r>
              <a:rPr kumimoji="1" lang="en-US" altLang="zh-CN" dirty="0"/>
              <a:t>CDN</a:t>
            </a:r>
            <a:r>
              <a:rPr kumimoji="1" lang="zh-CN" altLang="en-US" dirty="0"/>
              <a:t>的权威 </a:t>
            </a:r>
            <a:r>
              <a:rPr kumimoji="1" lang="en-US" altLang="zh-CN" dirty="0"/>
              <a:t>DNS</a:t>
            </a:r>
            <a:r>
              <a:rPr kumimoji="1" lang="zh-CN" altLang="en-US" dirty="0"/>
              <a:t>系统作为全球任播的对照组</a:t>
            </a:r>
          </a:p>
        </p:txBody>
      </p:sp>
      <p:sp>
        <p:nvSpPr>
          <p:cNvPr id="15" name="文本框 14">
            <a:extLst>
              <a:ext uri="{FF2B5EF4-FFF2-40B4-BE49-F238E27FC236}">
                <a16:creationId xmlns:a16="http://schemas.microsoft.com/office/drawing/2014/main" id="{8AF748B2-9CB4-0048-BB8B-6735325D5B1E}"/>
              </a:ext>
            </a:extLst>
          </p:cNvPr>
          <p:cNvSpPr txBox="1"/>
          <p:nvPr/>
        </p:nvSpPr>
        <p:spPr>
          <a:xfrm>
            <a:off x="4944267" y="4799149"/>
            <a:ext cx="6628140" cy="1200329"/>
          </a:xfrm>
          <a:prstGeom prst="rect">
            <a:avLst/>
          </a:prstGeom>
          <a:noFill/>
        </p:spPr>
        <p:txBody>
          <a:bodyPr wrap="square" rtlCol="0">
            <a:spAutoFit/>
          </a:bodyPr>
          <a:lstStyle/>
          <a:p>
            <a:pPr marL="342900" indent="-342900">
              <a:buAutoNum type="arabicPeriod"/>
            </a:pPr>
            <a:r>
              <a:rPr kumimoji="1" lang="en" altLang="zh-CN" dirty="0"/>
              <a:t>EMEA</a:t>
            </a:r>
            <a:r>
              <a:rPr kumimoji="1" lang="zh-CN" altLang="en-US" dirty="0"/>
              <a:t>和</a:t>
            </a:r>
            <a:r>
              <a:rPr kumimoji="1" lang="en" altLang="zh-CN" dirty="0"/>
              <a:t>NA</a:t>
            </a:r>
            <a:r>
              <a:rPr kumimoji="1" lang="zh-CN" altLang="en-US" dirty="0"/>
              <a:t>两个区域的探针，全球任播的时延和用户</a:t>
            </a:r>
            <a:r>
              <a:rPr kumimoji="1" lang="en-US" altLang="zh-CN" dirty="0"/>
              <a:t>-</a:t>
            </a:r>
            <a:r>
              <a:rPr kumimoji="1" lang="zh-CN" altLang="en-US" dirty="0"/>
              <a:t>站点距离略优于区域任播</a:t>
            </a:r>
          </a:p>
          <a:p>
            <a:pPr marL="342900" indent="-342900">
              <a:buAutoNum type="arabicPeriod"/>
            </a:pPr>
            <a:r>
              <a:rPr kumimoji="1" lang="en-US" altLang="zh-CN" dirty="0"/>
              <a:t>SA</a:t>
            </a:r>
            <a:r>
              <a:rPr kumimoji="1" lang="zh-CN" altLang="en-US" dirty="0"/>
              <a:t>和</a:t>
            </a:r>
            <a:r>
              <a:rPr kumimoji="1" lang="en-US" altLang="zh-CN" dirty="0"/>
              <a:t>APAC</a:t>
            </a:r>
            <a:r>
              <a:rPr kumimoji="1" lang="zh-CN" altLang="en-US" dirty="0"/>
              <a:t>两个区域的探针，区域任播的性能显著优于全球任播</a:t>
            </a:r>
          </a:p>
        </p:txBody>
      </p:sp>
      <p:pic>
        <p:nvPicPr>
          <p:cNvPr id="10" name="图片 9">
            <a:extLst>
              <a:ext uri="{FF2B5EF4-FFF2-40B4-BE49-F238E27FC236}">
                <a16:creationId xmlns:a16="http://schemas.microsoft.com/office/drawing/2014/main" id="{2B3AB1D4-6C22-1B4B-A5A9-C29E78D1CD25}"/>
              </a:ext>
            </a:extLst>
          </p:cNvPr>
          <p:cNvPicPr>
            <a:picLocks noChangeAspect="1"/>
          </p:cNvPicPr>
          <p:nvPr/>
        </p:nvPicPr>
        <p:blipFill>
          <a:blip r:embed="rId4"/>
          <a:stretch>
            <a:fillRect/>
          </a:stretch>
        </p:blipFill>
        <p:spPr>
          <a:xfrm>
            <a:off x="3786890" y="2262010"/>
            <a:ext cx="4293613" cy="2465473"/>
          </a:xfrm>
          <a:prstGeom prst="rect">
            <a:avLst/>
          </a:prstGeom>
        </p:spPr>
      </p:pic>
      <p:pic>
        <p:nvPicPr>
          <p:cNvPr id="14" name="图片 13">
            <a:extLst>
              <a:ext uri="{FF2B5EF4-FFF2-40B4-BE49-F238E27FC236}">
                <a16:creationId xmlns:a16="http://schemas.microsoft.com/office/drawing/2014/main" id="{F84F5F04-C22F-314F-8F4A-A1BF3ED8CEB3}"/>
              </a:ext>
            </a:extLst>
          </p:cNvPr>
          <p:cNvPicPr>
            <a:picLocks noChangeAspect="1"/>
          </p:cNvPicPr>
          <p:nvPr/>
        </p:nvPicPr>
        <p:blipFill>
          <a:blip r:embed="rId5"/>
          <a:stretch>
            <a:fillRect/>
          </a:stretch>
        </p:blipFill>
        <p:spPr>
          <a:xfrm>
            <a:off x="647700" y="3610552"/>
            <a:ext cx="3124200" cy="1155700"/>
          </a:xfrm>
          <a:prstGeom prst="rect">
            <a:avLst/>
          </a:prstGeom>
        </p:spPr>
      </p:pic>
      <p:pic>
        <p:nvPicPr>
          <p:cNvPr id="18" name="图片 17">
            <a:extLst>
              <a:ext uri="{FF2B5EF4-FFF2-40B4-BE49-F238E27FC236}">
                <a16:creationId xmlns:a16="http://schemas.microsoft.com/office/drawing/2014/main" id="{3F0F5EB2-7A41-084D-B118-25A51319A4B2}"/>
              </a:ext>
            </a:extLst>
          </p:cNvPr>
          <p:cNvPicPr>
            <a:picLocks noChangeAspect="1"/>
          </p:cNvPicPr>
          <p:nvPr/>
        </p:nvPicPr>
        <p:blipFill>
          <a:blip r:embed="rId6"/>
          <a:stretch>
            <a:fillRect/>
          </a:stretch>
        </p:blipFill>
        <p:spPr>
          <a:xfrm>
            <a:off x="417365" y="2206399"/>
            <a:ext cx="3555321" cy="1155700"/>
          </a:xfrm>
          <a:prstGeom prst="rect">
            <a:avLst/>
          </a:prstGeom>
        </p:spPr>
      </p:pic>
      <p:sp>
        <p:nvSpPr>
          <p:cNvPr id="20" name="文本框 19">
            <a:extLst>
              <a:ext uri="{FF2B5EF4-FFF2-40B4-BE49-F238E27FC236}">
                <a16:creationId xmlns:a16="http://schemas.microsoft.com/office/drawing/2014/main" id="{C3843DB6-A956-BA4C-BC2F-B1151104A1E1}"/>
              </a:ext>
            </a:extLst>
          </p:cNvPr>
          <p:cNvSpPr txBox="1"/>
          <p:nvPr/>
        </p:nvSpPr>
        <p:spPr>
          <a:xfrm>
            <a:off x="496975" y="2262010"/>
            <a:ext cx="682449" cy="369332"/>
          </a:xfrm>
          <a:prstGeom prst="rect">
            <a:avLst/>
          </a:prstGeom>
          <a:noFill/>
        </p:spPr>
        <p:txBody>
          <a:bodyPr wrap="square" rtlCol="0">
            <a:spAutoFit/>
          </a:bodyPr>
          <a:lstStyle/>
          <a:p>
            <a:r>
              <a:rPr kumimoji="1" lang="en-US" altLang="zh-CN" dirty="0"/>
              <a:t>CDN</a:t>
            </a:r>
            <a:endParaRPr kumimoji="1" lang="zh-CN" altLang="en-US" dirty="0"/>
          </a:p>
        </p:txBody>
      </p:sp>
      <p:pic>
        <p:nvPicPr>
          <p:cNvPr id="21" name="图片 20">
            <a:extLst>
              <a:ext uri="{FF2B5EF4-FFF2-40B4-BE49-F238E27FC236}">
                <a16:creationId xmlns:a16="http://schemas.microsoft.com/office/drawing/2014/main" id="{79C3E62A-6029-5A4C-A1FF-74C00AB4387B}"/>
              </a:ext>
            </a:extLst>
          </p:cNvPr>
          <p:cNvPicPr>
            <a:picLocks noChangeAspect="1"/>
          </p:cNvPicPr>
          <p:nvPr/>
        </p:nvPicPr>
        <p:blipFill>
          <a:blip r:embed="rId7"/>
          <a:stretch>
            <a:fillRect/>
          </a:stretch>
        </p:blipFill>
        <p:spPr>
          <a:xfrm>
            <a:off x="417365" y="2145791"/>
            <a:ext cx="3555321" cy="1204859"/>
          </a:xfrm>
          <a:prstGeom prst="rect">
            <a:avLst/>
          </a:prstGeom>
        </p:spPr>
      </p:pic>
      <p:sp>
        <p:nvSpPr>
          <p:cNvPr id="22" name="文本框 21">
            <a:extLst>
              <a:ext uri="{FF2B5EF4-FFF2-40B4-BE49-F238E27FC236}">
                <a16:creationId xmlns:a16="http://schemas.microsoft.com/office/drawing/2014/main" id="{8CFF7BA2-56EF-7149-B433-20BE71D938AD}"/>
              </a:ext>
            </a:extLst>
          </p:cNvPr>
          <p:cNvSpPr txBox="1"/>
          <p:nvPr/>
        </p:nvSpPr>
        <p:spPr>
          <a:xfrm>
            <a:off x="496975" y="2274371"/>
            <a:ext cx="1062002" cy="369332"/>
          </a:xfrm>
          <a:prstGeom prst="rect">
            <a:avLst/>
          </a:prstGeom>
          <a:noFill/>
        </p:spPr>
        <p:txBody>
          <a:bodyPr wrap="square" rtlCol="0">
            <a:spAutoFit/>
          </a:bodyPr>
          <a:lstStyle/>
          <a:p>
            <a:r>
              <a:rPr kumimoji="1" lang="en-US" altLang="zh-CN" dirty="0"/>
              <a:t>CDN-NS</a:t>
            </a:r>
            <a:endParaRPr kumimoji="1" lang="zh-CN" altLang="en-US" dirty="0"/>
          </a:p>
        </p:txBody>
      </p:sp>
      <p:cxnSp>
        <p:nvCxnSpPr>
          <p:cNvPr id="24" name="直线连接符 23">
            <a:extLst>
              <a:ext uri="{FF2B5EF4-FFF2-40B4-BE49-F238E27FC236}">
                <a16:creationId xmlns:a16="http://schemas.microsoft.com/office/drawing/2014/main" id="{9302B765-0C29-2949-94BA-9C3A2AEDC485}"/>
              </a:ext>
            </a:extLst>
          </p:cNvPr>
          <p:cNvCxnSpPr>
            <a:cxnSpLocks/>
          </p:cNvCxnSpPr>
          <p:nvPr/>
        </p:nvCxnSpPr>
        <p:spPr>
          <a:xfrm>
            <a:off x="4944267" y="3350650"/>
            <a:ext cx="1256332" cy="11449"/>
          </a:xfrm>
          <a:prstGeom prst="line">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F0599C01-69D9-E64F-B79E-79F28EA808D3}"/>
              </a:ext>
            </a:extLst>
          </p:cNvPr>
          <p:cNvSpPr txBox="1"/>
          <p:nvPr/>
        </p:nvSpPr>
        <p:spPr>
          <a:xfrm>
            <a:off x="5269131" y="3192822"/>
            <a:ext cx="713651" cy="338554"/>
          </a:xfrm>
          <a:prstGeom prst="rect">
            <a:avLst/>
          </a:prstGeom>
          <a:solidFill>
            <a:schemeClr val="bg1"/>
          </a:solidFill>
        </p:spPr>
        <p:txBody>
          <a:bodyPr wrap="square" rtlCol="0">
            <a:spAutoFit/>
          </a:bodyPr>
          <a:lstStyle/>
          <a:p>
            <a:r>
              <a:rPr kumimoji="1" lang="en-US" altLang="zh-CN" sz="1600" dirty="0">
                <a:solidFill>
                  <a:srgbClr val="FF0000"/>
                </a:solidFill>
              </a:rPr>
              <a:t>80ms</a:t>
            </a:r>
            <a:endParaRPr kumimoji="1" lang="zh-CN" altLang="en-US" sz="1600" dirty="0">
              <a:solidFill>
                <a:srgbClr val="FF0000"/>
              </a:solidFill>
            </a:endParaRPr>
          </a:p>
        </p:txBody>
      </p:sp>
      <p:cxnSp>
        <p:nvCxnSpPr>
          <p:cNvPr id="29" name="直线连接符 28">
            <a:extLst>
              <a:ext uri="{FF2B5EF4-FFF2-40B4-BE49-F238E27FC236}">
                <a16:creationId xmlns:a16="http://schemas.microsoft.com/office/drawing/2014/main" id="{3D52B5EF-17C2-C14F-A805-0E3C836B8906}"/>
              </a:ext>
            </a:extLst>
          </p:cNvPr>
          <p:cNvCxnSpPr>
            <a:cxnSpLocks/>
          </p:cNvCxnSpPr>
          <p:nvPr/>
        </p:nvCxnSpPr>
        <p:spPr>
          <a:xfrm>
            <a:off x="8881054" y="3309506"/>
            <a:ext cx="1256332" cy="11449"/>
          </a:xfrm>
          <a:prstGeom prst="line">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F5C60BB4-0792-D248-A6E3-BA29FB1826E0}"/>
              </a:ext>
            </a:extLst>
          </p:cNvPr>
          <p:cNvSpPr txBox="1"/>
          <p:nvPr/>
        </p:nvSpPr>
        <p:spPr>
          <a:xfrm>
            <a:off x="9082064" y="3151678"/>
            <a:ext cx="867485" cy="338554"/>
          </a:xfrm>
          <a:prstGeom prst="rect">
            <a:avLst/>
          </a:prstGeom>
          <a:solidFill>
            <a:schemeClr val="bg1"/>
          </a:solidFill>
        </p:spPr>
        <p:txBody>
          <a:bodyPr wrap="square" rtlCol="0">
            <a:spAutoFit/>
          </a:bodyPr>
          <a:lstStyle/>
          <a:p>
            <a:r>
              <a:rPr kumimoji="1" lang="en-US" altLang="zh-CN" sz="1600" dirty="0">
                <a:solidFill>
                  <a:srgbClr val="FF0000"/>
                </a:solidFill>
              </a:rPr>
              <a:t>4500km</a:t>
            </a:r>
            <a:endParaRPr kumimoji="1" lang="zh-CN" altLang="en-US" sz="1600" dirty="0">
              <a:solidFill>
                <a:srgbClr val="FF0000"/>
              </a:solidFill>
            </a:endParaRPr>
          </a:p>
        </p:txBody>
      </p:sp>
    </p:spTree>
    <p:extLst>
      <p:ext uri="{BB962C8B-B14F-4D97-AF65-F5344CB8AC3E}">
        <p14:creationId xmlns:p14="http://schemas.microsoft.com/office/powerpoint/2010/main" val="125424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par>
                                <p:cTn id="37" presetID="9"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dissolve">
                                      <p:cBhvr>
                                        <p:cTn id="39" dur="500"/>
                                        <p:tgtEl>
                                          <p:spTgt spid="29"/>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par>
                                <p:cTn id="43" presetID="9"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dissolve">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22" grpId="0"/>
      <p:bldP spid="27" grpId="0" animBg="1"/>
      <p:bldP spid="3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研究结果：多种原因导致路由低效</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11</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7E741942-5DF0-A87B-DA2F-486A16D6831F}"/>
              </a:ext>
            </a:extLst>
          </p:cNvPr>
          <p:cNvSpPr txBox="1"/>
          <p:nvPr/>
        </p:nvSpPr>
        <p:spPr>
          <a:xfrm>
            <a:off x="421355" y="3194030"/>
            <a:ext cx="9365840" cy="400110"/>
          </a:xfrm>
          <a:prstGeom prst="rect">
            <a:avLst/>
          </a:prstGeom>
          <a:noFill/>
        </p:spPr>
        <p:txBody>
          <a:bodyPr wrap="square" rtlCol="0">
            <a:spAutoFit/>
          </a:bodyPr>
          <a:lstStyle/>
          <a:p>
            <a:r>
              <a:rPr kumimoji="1" lang="zh-CN" altLang="en-US" sz="2000" b="1" dirty="0"/>
              <a:t>任播性能低下的原因：</a:t>
            </a:r>
            <a:r>
              <a:rPr kumimoji="1" lang="en-US" altLang="zh-CN" sz="2000" b="1" dirty="0"/>
              <a:t>BGP</a:t>
            </a:r>
            <a:r>
              <a:rPr kumimoji="1" lang="zh-CN" altLang="en-US" sz="2000" b="1" dirty="0"/>
              <a:t>的选路策略并不以路径性能</a:t>
            </a:r>
            <a:r>
              <a:rPr kumimoji="1" lang="en-US" altLang="zh-CN" sz="2000" b="1" dirty="0"/>
              <a:t>(</a:t>
            </a:r>
            <a:r>
              <a:rPr kumimoji="1" lang="zh-CN" altLang="en-US" sz="2000" b="1" dirty="0"/>
              <a:t>时延</a:t>
            </a:r>
            <a:r>
              <a:rPr kumimoji="1" lang="en-US" altLang="zh-CN" sz="2000" b="1" dirty="0"/>
              <a:t>)</a:t>
            </a:r>
            <a:r>
              <a:rPr kumimoji="1" lang="zh-CN" altLang="en-US" sz="2000" b="1" dirty="0"/>
              <a:t>作为标准</a:t>
            </a:r>
          </a:p>
        </p:txBody>
      </p:sp>
      <p:sp>
        <p:nvSpPr>
          <p:cNvPr id="8" name="矩形 7">
            <a:extLst>
              <a:ext uri="{FF2B5EF4-FFF2-40B4-BE49-F238E27FC236}">
                <a16:creationId xmlns:a16="http://schemas.microsoft.com/office/drawing/2014/main" id="{3F46E6C3-86C1-2DC7-0082-06F5F08BFFB4}"/>
              </a:ext>
            </a:extLst>
          </p:cNvPr>
          <p:cNvSpPr/>
          <p:nvPr/>
        </p:nvSpPr>
        <p:spPr>
          <a:xfrm>
            <a:off x="1012370" y="4349712"/>
            <a:ext cx="3782654" cy="1621712"/>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矩形 9">
            <a:extLst>
              <a:ext uri="{FF2B5EF4-FFF2-40B4-BE49-F238E27FC236}">
                <a16:creationId xmlns:a16="http://schemas.microsoft.com/office/drawing/2014/main" id="{A90DC0D5-CE48-9367-D318-4B23CF4169BD}"/>
              </a:ext>
            </a:extLst>
          </p:cNvPr>
          <p:cNvSpPr/>
          <p:nvPr/>
        </p:nvSpPr>
        <p:spPr>
          <a:xfrm>
            <a:off x="1289039" y="4076020"/>
            <a:ext cx="1850571" cy="5143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rPr>
              <a:t>Local </a:t>
            </a:r>
            <a:r>
              <a:rPr lang="en-US" altLang="zh-CN" sz="2000" b="1" dirty="0" err="1">
                <a:solidFill>
                  <a:srgbClr val="FF0000"/>
                </a:solidFill>
              </a:rPr>
              <a:t>prefence</a:t>
            </a:r>
            <a:endParaRPr lang="zh-CN" altLang="en-US" sz="2000" b="1" dirty="0">
              <a:solidFill>
                <a:srgbClr val="FF0000"/>
              </a:solidFill>
            </a:endParaRPr>
          </a:p>
        </p:txBody>
      </p:sp>
      <p:sp>
        <p:nvSpPr>
          <p:cNvPr id="12" name="矩形 11">
            <a:extLst>
              <a:ext uri="{FF2B5EF4-FFF2-40B4-BE49-F238E27FC236}">
                <a16:creationId xmlns:a16="http://schemas.microsoft.com/office/drawing/2014/main" id="{A7B09C48-F5F1-88BD-84D8-A28FC6DFC8E1}"/>
              </a:ext>
            </a:extLst>
          </p:cNvPr>
          <p:cNvSpPr/>
          <p:nvPr/>
        </p:nvSpPr>
        <p:spPr>
          <a:xfrm>
            <a:off x="6365246" y="3734338"/>
            <a:ext cx="4048382" cy="2213337"/>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99850E64-87B0-53D0-820E-9F67E2FECD89}"/>
              </a:ext>
            </a:extLst>
          </p:cNvPr>
          <p:cNvSpPr/>
          <p:nvPr/>
        </p:nvSpPr>
        <p:spPr>
          <a:xfrm>
            <a:off x="8338068" y="3435371"/>
            <a:ext cx="1850571" cy="5143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rPr>
              <a:t>Peering type</a:t>
            </a:r>
            <a:endParaRPr lang="zh-CN" altLang="en-US" sz="2000" b="1" dirty="0">
              <a:solidFill>
                <a:srgbClr val="FF0000"/>
              </a:solidFill>
            </a:endParaRPr>
          </a:p>
        </p:txBody>
      </p:sp>
      <p:sp>
        <p:nvSpPr>
          <p:cNvPr id="15" name="文本框 14">
            <a:extLst>
              <a:ext uri="{FF2B5EF4-FFF2-40B4-BE49-F238E27FC236}">
                <a16:creationId xmlns:a16="http://schemas.microsoft.com/office/drawing/2014/main" id="{73E1188F-F5B6-464A-972B-98D764402175}"/>
              </a:ext>
            </a:extLst>
          </p:cNvPr>
          <p:cNvSpPr txBox="1"/>
          <p:nvPr/>
        </p:nvSpPr>
        <p:spPr>
          <a:xfrm>
            <a:off x="421355" y="1566455"/>
            <a:ext cx="4485182" cy="1477328"/>
          </a:xfrm>
          <a:prstGeom prst="rect">
            <a:avLst/>
          </a:prstGeom>
          <a:noFill/>
        </p:spPr>
        <p:txBody>
          <a:bodyPr wrap="square" rtlCol="0">
            <a:spAutoFit/>
          </a:bodyPr>
          <a:lstStyle/>
          <a:p>
            <a:r>
              <a:rPr kumimoji="1" lang="zh-CN" altLang="en-US" sz="2000" b="1" dirty="0"/>
              <a:t>研究方法：</a:t>
            </a:r>
            <a:endParaRPr kumimoji="1" lang="en-US" altLang="zh-CN" sz="2000" b="1" dirty="0"/>
          </a:p>
          <a:p>
            <a:pPr marL="342900" indent="-342900">
              <a:buAutoNum type="arabicPeriod"/>
            </a:pPr>
            <a:r>
              <a:rPr kumimoji="1" lang="zh-CN" altLang="en-US" sz="1400" dirty="0"/>
              <a:t>筛选出至任播站点额外距离超过 </a:t>
            </a:r>
            <a:r>
              <a:rPr kumimoji="1" lang="en-US" altLang="zh-CN" sz="1400" dirty="0"/>
              <a:t>5000 </a:t>
            </a:r>
            <a:r>
              <a:rPr kumimoji="1" lang="zh-CN" altLang="en-US" sz="1400" dirty="0"/>
              <a:t>千米的探针</a:t>
            </a:r>
            <a:endParaRPr kumimoji="1" lang="en-US" altLang="zh-CN" sz="1400" dirty="0"/>
          </a:p>
          <a:p>
            <a:pPr marL="342900" indent="-342900">
              <a:buAutoNum type="arabicPeriod"/>
            </a:pPr>
            <a:r>
              <a:rPr kumimoji="1" lang="zh-CN" altLang="en-US" sz="1400" dirty="0"/>
              <a:t>向目标任播网络发起入向</a:t>
            </a:r>
            <a:r>
              <a:rPr kumimoji="1" lang="en-US" altLang="zh-CN" sz="1400" dirty="0"/>
              <a:t>traceroute</a:t>
            </a:r>
            <a:r>
              <a:rPr kumimoji="1" lang="zh-CN" altLang="en-US" sz="1400" dirty="0"/>
              <a:t>测量 </a:t>
            </a:r>
            <a:endParaRPr kumimoji="1" lang="en-US" altLang="zh-CN" sz="1400" dirty="0"/>
          </a:p>
          <a:p>
            <a:pPr marL="342900" indent="-342900">
              <a:buAutoNum type="arabicPeriod"/>
            </a:pPr>
            <a:r>
              <a:rPr kumimoji="1" lang="zh-CN" altLang="en-US" sz="1400" dirty="0"/>
              <a:t>将测量结果转换为 </a:t>
            </a:r>
            <a:r>
              <a:rPr kumimoji="1" lang="en" altLang="zh-CN" sz="1400" dirty="0"/>
              <a:t>AS </a:t>
            </a:r>
            <a:r>
              <a:rPr kumimoji="1" lang="zh-CN" altLang="en-US" sz="1400" dirty="0"/>
              <a:t>路径</a:t>
            </a:r>
            <a:endParaRPr kumimoji="1" lang="en-US" altLang="zh-CN" sz="1400" dirty="0"/>
          </a:p>
          <a:p>
            <a:pPr marL="342900" indent="-342900">
              <a:buAutoNum type="arabicPeriod"/>
            </a:pPr>
            <a:r>
              <a:rPr kumimoji="1" lang="zh-CN" altLang="en-US" sz="1400" dirty="0"/>
              <a:t>解析路径中相邻 </a:t>
            </a:r>
            <a:r>
              <a:rPr kumimoji="1" lang="en" altLang="zh-CN" sz="1400" dirty="0"/>
              <a:t>AS </a:t>
            </a:r>
            <a:r>
              <a:rPr kumimoji="1" lang="zh-CN" altLang="en-US" sz="1400" dirty="0"/>
              <a:t>间的商业关系</a:t>
            </a:r>
            <a:endParaRPr kumimoji="1" lang="en-US" altLang="zh-CN" sz="1400" dirty="0"/>
          </a:p>
          <a:p>
            <a:pPr marL="342900" indent="-342900">
              <a:buAutoNum type="arabicPeriod"/>
            </a:pPr>
            <a:r>
              <a:rPr kumimoji="1" lang="zh-CN" altLang="en-US" sz="1400" dirty="0">
                <a:solidFill>
                  <a:srgbClr val="FF0000"/>
                </a:solidFill>
              </a:rPr>
              <a:t>登陆路由器镜像查询</a:t>
            </a:r>
            <a:r>
              <a:rPr kumimoji="1" lang="en-US" altLang="zh-CN" sz="1400" dirty="0">
                <a:solidFill>
                  <a:srgbClr val="FF0000"/>
                </a:solidFill>
              </a:rPr>
              <a:t>BGP</a:t>
            </a:r>
            <a:r>
              <a:rPr kumimoji="1" lang="zh-CN" altLang="en-US" sz="1400" dirty="0">
                <a:solidFill>
                  <a:srgbClr val="FF0000"/>
                </a:solidFill>
              </a:rPr>
              <a:t>数据</a:t>
            </a:r>
          </a:p>
        </p:txBody>
      </p:sp>
      <p:pic>
        <p:nvPicPr>
          <p:cNvPr id="6" name="图片 5">
            <a:extLst>
              <a:ext uri="{FF2B5EF4-FFF2-40B4-BE49-F238E27FC236}">
                <a16:creationId xmlns:a16="http://schemas.microsoft.com/office/drawing/2014/main" id="{EBE14A80-C83B-5443-ABBF-89C23FD8D129}"/>
              </a:ext>
            </a:extLst>
          </p:cNvPr>
          <p:cNvPicPr>
            <a:picLocks noChangeAspect="1"/>
          </p:cNvPicPr>
          <p:nvPr/>
        </p:nvPicPr>
        <p:blipFill>
          <a:blip r:embed="rId3"/>
          <a:stretch>
            <a:fillRect/>
          </a:stretch>
        </p:blipFill>
        <p:spPr>
          <a:xfrm>
            <a:off x="1096189" y="4541177"/>
            <a:ext cx="3598474" cy="1291760"/>
          </a:xfrm>
          <a:prstGeom prst="rect">
            <a:avLst/>
          </a:prstGeom>
        </p:spPr>
      </p:pic>
      <p:pic>
        <p:nvPicPr>
          <p:cNvPr id="9" name="图片 8">
            <a:extLst>
              <a:ext uri="{FF2B5EF4-FFF2-40B4-BE49-F238E27FC236}">
                <a16:creationId xmlns:a16="http://schemas.microsoft.com/office/drawing/2014/main" id="{C486252E-1F5D-554E-9EC8-7FF1E46BB0F7}"/>
              </a:ext>
            </a:extLst>
          </p:cNvPr>
          <p:cNvPicPr>
            <a:picLocks noChangeAspect="1"/>
          </p:cNvPicPr>
          <p:nvPr/>
        </p:nvPicPr>
        <p:blipFill>
          <a:blip r:embed="rId4"/>
          <a:stretch>
            <a:fillRect/>
          </a:stretch>
        </p:blipFill>
        <p:spPr>
          <a:xfrm>
            <a:off x="6578511" y="3870615"/>
            <a:ext cx="3444811" cy="2011927"/>
          </a:xfrm>
          <a:prstGeom prst="rect">
            <a:avLst/>
          </a:prstGeom>
        </p:spPr>
      </p:pic>
      <p:pic>
        <p:nvPicPr>
          <p:cNvPr id="16" name="图片 47">
            <a:extLst>
              <a:ext uri="{FF2B5EF4-FFF2-40B4-BE49-F238E27FC236}">
                <a16:creationId xmlns:a16="http://schemas.microsoft.com/office/drawing/2014/main" id="{B703BB4B-E9C4-9747-8B09-CB8FF331FAE6}"/>
              </a:ext>
            </a:extLst>
          </p:cNvPr>
          <p:cNvPicPr>
            <a:picLocks noChangeAspect="1"/>
          </p:cNvPicPr>
          <p:nvPr/>
        </p:nvPicPr>
        <p:blipFill>
          <a:blip r:embed="rId5"/>
          <a:stretch/>
        </p:blipFill>
        <p:spPr bwMode="auto">
          <a:xfrm>
            <a:off x="6868618" y="1518828"/>
            <a:ext cx="4485182" cy="1634182"/>
          </a:xfrm>
          <a:prstGeom prst="rect">
            <a:avLst/>
          </a:prstGeom>
        </p:spPr>
      </p:pic>
      <p:pic>
        <p:nvPicPr>
          <p:cNvPr id="17" name="图片 16">
            <a:extLst>
              <a:ext uri="{FF2B5EF4-FFF2-40B4-BE49-F238E27FC236}">
                <a16:creationId xmlns:a16="http://schemas.microsoft.com/office/drawing/2014/main" id="{90F7D7A7-22DA-6941-8FE4-86038AD7B892}"/>
              </a:ext>
            </a:extLst>
          </p:cNvPr>
          <p:cNvPicPr>
            <a:picLocks noChangeAspect="1"/>
          </p:cNvPicPr>
          <p:nvPr/>
        </p:nvPicPr>
        <p:blipFill>
          <a:blip r:embed="rId6"/>
          <a:stretch>
            <a:fillRect/>
          </a:stretch>
        </p:blipFill>
        <p:spPr>
          <a:xfrm>
            <a:off x="4877063" y="1574831"/>
            <a:ext cx="1149349" cy="1544075"/>
          </a:xfrm>
          <a:prstGeom prst="rect">
            <a:avLst/>
          </a:prstGeom>
        </p:spPr>
      </p:pic>
      <p:sp>
        <p:nvSpPr>
          <p:cNvPr id="20" name="文本框 19">
            <a:extLst>
              <a:ext uri="{FF2B5EF4-FFF2-40B4-BE49-F238E27FC236}">
                <a16:creationId xmlns:a16="http://schemas.microsoft.com/office/drawing/2014/main" id="{AB691309-3503-3A4E-8C7F-616CFAEE33B5}"/>
              </a:ext>
            </a:extLst>
          </p:cNvPr>
          <p:cNvSpPr txBox="1"/>
          <p:nvPr/>
        </p:nvSpPr>
        <p:spPr>
          <a:xfrm>
            <a:off x="6037431" y="2105064"/>
            <a:ext cx="6099716" cy="400110"/>
          </a:xfrm>
          <a:prstGeom prst="rect">
            <a:avLst/>
          </a:prstGeom>
          <a:noFill/>
        </p:spPr>
        <p:txBody>
          <a:bodyPr wrap="square">
            <a:spAutoFit/>
          </a:bodyPr>
          <a:lstStyle/>
          <a:p>
            <a:r>
              <a:rPr lang="zh-CN" altLang="en-US" sz="1000" dirty="0">
                <a:hlinkClick r:id="rId7"/>
              </a:rPr>
              <a:t>https://www.gin.ntt.net/</a:t>
            </a:r>
            <a:endParaRPr lang="en-US" altLang="zh-CN" sz="1000" dirty="0"/>
          </a:p>
          <a:p>
            <a:r>
              <a:rPr lang="zh-CN" altLang="en-US" sz="1000" dirty="0"/>
              <a:t>looking-glass-landing/</a:t>
            </a:r>
          </a:p>
        </p:txBody>
      </p:sp>
      <p:sp>
        <p:nvSpPr>
          <p:cNvPr id="22" name="文本框 21">
            <a:extLst>
              <a:ext uri="{FF2B5EF4-FFF2-40B4-BE49-F238E27FC236}">
                <a16:creationId xmlns:a16="http://schemas.microsoft.com/office/drawing/2014/main" id="{32AB82EA-8931-1440-BB3D-FADC668F03D7}"/>
              </a:ext>
            </a:extLst>
          </p:cNvPr>
          <p:cNvSpPr txBox="1"/>
          <p:nvPr/>
        </p:nvSpPr>
        <p:spPr>
          <a:xfrm>
            <a:off x="6365246" y="5971424"/>
            <a:ext cx="6099716" cy="369332"/>
          </a:xfrm>
          <a:prstGeom prst="rect">
            <a:avLst/>
          </a:prstGeom>
          <a:noFill/>
        </p:spPr>
        <p:txBody>
          <a:bodyPr wrap="square">
            <a:spAutoFit/>
          </a:bodyPr>
          <a:lstStyle/>
          <a:p>
            <a:pPr marL="0" indent="0">
              <a:spcBef>
                <a:spcPts val="1067"/>
              </a:spcBef>
              <a:buNone/>
              <a:defRPr/>
            </a:pPr>
            <a:r>
              <a:rPr lang="zh-CN" altLang="en-US" dirty="0"/>
              <a:t>私有对等 </a:t>
            </a:r>
            <a:r>
              <a:rPr lang="en-US" altLang="zh-CN" dirty="0"/>
              <a:t>&gt; </a:t>
            </a:r>
            <a:r>
              <a:rPr lang="zh-CN" altLang="en-US" dirty="0"/>
              <a:t>公共对等 </a:t>
            </a:r>
            <a:r>
              <a:rPr lang="en-US" altLang="zh-CN" dirty="0"/>
              <a:t>&gt; </a:t>
            </a:r>
            <a:r>
              <a:rPr lang="zh-CN" altLang="en-US" dirty="0"/>
              <a:t>路由服务器对等</a:t>
            </a:r>
            <a:endParaRPr lang="en" altLang="zh-CN" dirty="0"/>
          </a:p>
        </p:txBody>
      </p:sp>
      <p:sp>
        <p:nvSpPr>
          <p:cNvPr id="24" name="文本框 23">
            <a:extLst>
              <a:ext uri="{FF2B5EF4-FFF2-40B4-BE49-F238E27FC236}">
                <a16:creationId xmlns:a16="http://schemas.microsoft.com/office/drawing/2014/main" id="{078FA3FE-BB12-D940-821D-A692C5F688A0}"/>
              </a:ext>
            </a:extLst>
          </p:cNvPr>
          <p:cNvSpPr txBox="1"/>
          <p:nvPr/>
        </p:nvSpPr>
        <p:spPr>
          <a:xfrm>
            <a:off x="1489761" y="5979942"/>
            <a:ext cx="6233530" cy="369332"/>
          </a:xfrm>
          <a:prstGeom prst="rect">
            <a:avLst/>
          </a:prstGeom>
          <a:noFill/>
        </p:spPr>
        <p:txBody>
          <a:bodyPr wrap="square">
            <a:spAutoFit/>
          </a:bodyPr>
          <a:lstStyle/>
          <a:p>
            <a:r>
              <a:rPr lang="zh-CN" altLang="en-US" dirty="0"/>
              <a:t>客户路由</a:t>
            </a:r>
            <a:r>
              <a:rPr lang="en-US" altLang="zh-CN" dirty="0"/>
              <a:t>&gt;</a:t>
            </a:r>
            <a:r>
              <a:rPr lang="zh-CN" altLang="en-US" dirty="0"/>
              <a:t>对等和提供商路由</a:t>
            </a:r>
          </a:p>
        </p:txBody>
      </p:sp>
      <p:cxnSp>
        <p:nvCxnSpPr>
          <p:cNvPr id="26" name="直线箭头连接符 25">
            <a:extLst>
              <a:ext uri="{FF2B5EF4-FFF2-40B4-BE49-F238E27FC236}">
                <a16:creationId xmlns:a16="http://schemas.microsoft.com/office/drawing/2014/main" id="{A7EF4D38-7D32-5349-AFF7-7B92C5EE6D86}"/>
              </a:ext>
            </a:extLst>
          </p:cNvPr>
          <p:cNvCxnSpPr/>
          <p:nvPr/>
        </p:nvCxnSpPr>
        <p:spPr>
          <a:xfrm>
            <a:off x="1287618" y="3734338"/>
            <a:ext cx="922182" cy="0"/>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cxnSp>
        <p:nvCxnSpPr>
          <p:cNvPr id="28" name="直线连接符 27">
            <a:extLst>
              <a:ext uri="{FF2B5EF4-FFF2-40B4-BE49-F238E27FC236}">
                <a16:creationId xmlns:a16="http://schemas.microsoft.com/office/drawing/2014/main" id="{A62701FD-8AC9-3D4A-9E14-FE27FCA2F0CC}"/>
              </a:ext>
            </a:extLst>
          </p:cNvPr>
          <p:cNvCxnSpPr/>
          <p:nvPr/>
        </p:nvCxnSpPr>
        <p:spPr>
          <a:xfrm>
            <a:off x="3414713" y="3734338"/>
            <a:ext cx="1028700" cy="0"/>
          </a:xfrm>
          <a:prstGeom prst="line">
            <a:avLst/>
          </a:prstGeom>
          <a:ln w="158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A17BB4A6-2853-1045-86E4-C31BC6FE851E}"/>
              </a:ext>
            </a:extLst>
          </p:cNvPr>
          <p:cNvSpPr txBox="1"/>
          <p:nvPr/>
        </p:nvSpPr>
        <p:spPr>
          <a:xfrm>
            <a:off x="1096189" y="3785605"/>
            <a:ext cx="1490891" cy="335383"/>
          </a:xfrm>
          <a:prstGeom prst="rect">
            <a:avLst/>
          </a:prstGeom>
          <a:noFill/>
        </p:spPr>
        <p:txBody>
          <a:bodyPr wrap="square" rtlCol="0">
            <a:spAutoFit/>
          </a:bodyPr>
          <a:lstStyle/>
          <a:p>
            <a:r>
              <a:rPr kumimoji="1" lang="zh-CN" altLang="en-US" sz="1600" dirty="0"/>
              <a:t>客户到</a:t>
            </a:r>
            <a:r>
              <a:rPr lang="zh-CN" altLang="en-US" sz="1600" dirty="0"/>
              <a:t>提供</a:t>
            </a:r>
            <a:r>
              <a:rPr kumimoji="1" lang="zh-CN" altLang="en-US" sz="1600" dirty="0"/>
              <a:t>商</a:t>
            </a:r>
          </a:p>
        </p:txBody>
      </p:sp>
      <p:sp>
        <p:nvSpPr>
          <p:cNvPr id="30" name="文本框 29">
            <a:extLst>
              <a:ext uri="{FF2B5EF4-FFF2-40B4-BE49-F238E27FC236}">
                <a16:creationId xmlns:a16="http://schemas.microsoft.com/office/drawing/2014/main" id="{AF7840C1-A337-0240-BA23-6E99B5B033C2}"/>
              </a:ext>
            </a:extLst>
          </p:cNvPr>
          <p:cNvSpPr txBox="1"/>
          <p:nvPr/>
        </p:nvSpPr>
        <p:spPr>
          <a:xfrm>
            <a:off x="3379701" y="3809789"/>
            <a:ext cx="1490891" cy="338554"/>
          </a:xfrm>
          <a:prstGeom prst="rect">
            <a:avLst/>
          </a:prstGeom>
          <a:noFill/>
        </p:spPr>
        <p:txBody>
          <a:bodyPr wrap="square" rtlCol="0">
            <a:spAutoFit/>
          </a:bodyPr>
          <a:lstStyle/>
          <a:p>
            <a:r>
              <a:rPr kumimoji="1" lang="zh-CN" altLang="en-US" sz="1600" dirty="0"/>
              <a:t>对等到对等</a:t>
            </a:r>
          </a:p>
        </p:txBody>
      </p:sp>
    </p:spTree>
    <p:extLst>
      <p:ext uri="{BB962C8B-B14F-4D97-AF65-F5344CB8AC3E}">
        <p14:creationId xmlns:p14="http://schemas.microsoft.com/office/powerpoint/2010/main" val="413683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研究结果：任播的路由翻转</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12</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3E1188F-F5B6-464A-972B-98D764402175}"/>
              </a:ext>
            </a:extLst>
          </p:cNvPr>
          <p:cNvSpPr txBox="1"/>
          <p:nvPr/>
        </p:nvSpPr>
        <p:spPr>
          <a:xfrm>
            <a:off x="454809" y="1690688"/>
            <a:ext cx="4485182" cy="400110"/>
          </a:xfrm>
          <a:prstGeom prst="rect">
            <a:avLst/>
          </a:prstGeom>
          <a:noFill/>
        </p:spPr>
        <p:txBody>
          <a:bodyPr wrap="square" rtlCol="0">
            <a:spAutoFit/>
          </a:bodyPr>
          <a:lstStyle/>
          <a:p>
            <a:r>
              <a:rPr kumimoji="1" lang="zh-CN" altLang="en-US" sz="2000" b="1" dirty="0"/>
              <a:t>造成任播路由翻转的原因</a:t>
            </a:r>
            <a:endParaRPr kumimoji="1" lang="en-US" altLang="zh-CN" sz="2000" b="1" dirty="0"/>
          </a:p>
        </p:txBody>
      </p:sp>
      <p:pic>
        <p:nvPicPr>
          <p:cNvPr id="49" name="Picture 9">
            <a:extLst>
              <a:ext uri="{FF2B5EF4-FFF2-40B4-BE49-F238E27FC236}">
                <a16:creationId xmlns:a16="http://schemas.microsoft.com/office/drawing/2014/main" id="{AC8FD7D3-7FF7-E64B-B199-0F2CCC17DAD3}"/>
              </a:ext>
            </a:extLst>
          </p:cNvPr>
          <p:cNvPicPr>
            <a:picLocks noChangeAspect="1"/>
          </p:cNvPicPr>
          <p:nvPr/>
        </p:nvPicPr>
        <p:blipFill>
          <a:blip r:embed="rId3"/>
          <a:stretch>
            <a:fillRect/>
          </a:stretch>
        </p:blipFill>
        <p:spPr>
          <a:xfrm>
            <a:off x="319325" y="2090798"/>
            <a:ext cx="4756150" cy="2455843"/>
          </a:xfrm>
          <a:prstGeom prst="rect">
            <a:avLst/>
          </a:prstGeom>
        </p:spPr>
      </p:pic>
      <p:sp>
        <p:nvSpPr>
          <p:cNvPr id="50" name="文本框 49">
            <a:extLst>
              <a:ext uri="{FF2B5EF4-FFF2-40B4-BE49-F238E27FC236}">
                <a16:creationId xmlns:a16="http://schemas.microsoft.com/office/drawing/2014/main" id="{8561BBC3-00D3-F840-B642-B4003DF29547}"/>
              </a:ext>
            </a:extLst>
          </p:cNvPr>
          <p:cNvSpPr txBox="1"/>
          <p:nvPr/>
        </p:nvSpPr>
        <p:spPr>
          <a:xfrm>
            <a:off x="4127056" y="2623745"/>
            <a:ext cx="934131" cy="261610"/>
          </a:xfrm>
          <a:prstGeom prst="rect">
            <a:avLst/>
          </a:prstGeom>
          <a:solidFill>
            <a:schemeClr val="bg1"/>
          </a:solidFill>
        </p:spPr>
        <p:txBody>
          <a:bodyPr wrap="square" rtlCol="0">
            <a:spAutoFit/>
          </a:bodyPr>
          <a:lstStyle/>
          <a:p>
            <a:r>
              <a:rPr kumimoji="1" lang="zh-CN" altLang="en-US" sz="1100" dirty="0"/>
              <a:t>任播站点</a:t>
            </a:r>
            <a:r>
              <a:rPr kumimoji="1" lang="en-US" altLang="zh-CN" sz="1100" dirty="0"/>
              <a:t>A</a:t>
            </a:r>
            <a:endParaRPr kumimoji="1" lang="zh-CN" altLang="en-US" sz="1100" dirty="0"/>
          </a:p>
        </p:txBody>
      </p:sp>
      <p:sp>
        <p:nvSpPr>
          <p:cNvPr id="51" name="文本框 50">
            <a:extLst>
              <a:ext uri="{FF2B5EF4-FFF2-40B4-BE49-F238E27FC236}">
                <a16:creationId xmlns:a16="http://schemas.microsoft.com/office/drawing/2014/main" id="{2A3028BD-1D30-2147-8182-BA5840E65BE0}"/>
              </a:ext>
            </a:extLst>
          </p:cNvPr>
          <p:cNvSpPr txBox="1"/>
          <p:nvPr/>
        </p:nvSpPr>
        <p:spPr>
          <a:xfrm>
            <a:off x="4112768" y="3454388"/>
            <a:ext cx="962707" cy="261610"/>
          </a:xfrm>
          <a:prstGeom prst="rect">
            <a:avLst/>
          </a:prstGeom>
          <a:solidFill>
            <a:schemeClr val="bg1"/>
          </a:solidFill>
        </p:spPr>
        <p:txBody>
          <a:bodyPr wrap="square" rtlCol="0">
            <a:spAutoFit/>
          </a:bodyPr>
          <a:lstStyle/>
          <a:p>
            <a:r>
              <a:rPr kumimoji="1" lang="zh-CN" altLang="en-US" sz="1100" dirty="0"/>
              <a:t>任播站点</a:t>
            </a:r>
            <a:r>
              <a:rPr kumimoji="1" lang="en-US" altLang="zh-CN" sz="1100" dirty="0"/>
              <a:t>B</a:t>
            </a:r>
            <a:endParaRPr kumimoji="1" lang="zh-CN" altLang="en-US" sz="1100" dirty="0"/>
          </a:p>
        </p:txBody>
      </p:sp>
      <p:sp>
        <p:nvSpPr>
          <p:cNvPr id="52" name="文本框 51">
            <a:extLst>
              <a:ext uri="{FF2B5EF4-FFF2-40B4-BE49-F238E27FC236}">
                <a16:creationId xmlns:a16="http://schemas.microsoft.com/office/drawing/2014/main" id="{B658ED65-D249-8645-BED4-8FCFEE2BBF17}"/>
              </a:ext>
            </a:extLst>
          </p:cNvPr>
          <p:cNvSpPr txBox="1"/>
          <p:nvPr/>
        </p:nvSpPr>
        <p:spPr>
          <a:xfrm>
            <a:off x="4130468" y="4295804"/>
            <a:ext cx="962707" cy="261610"/>
          </a:xfrm>
          <a:prstGeom prst="rect">
            <a:avLst/>
          </a:prstGeom>
          <a:solidFill>
            <a:schemeClr val="bg1"/>
          </a:solidFill>
        </p:spPr>
        <p:txBody>
          <a:bodyPr wrap="square" rtlCol="0">
            <a:spAutoFit/>
          </a:bodyPr>
          <a:lstStyle/>
          <a:p>
            <a:r>
              <a:rPr kumimoji="1" lang="zh-CN" altLang="en-US" sz="1100" dirty="0"/>
              <a:t>任播站点</a:t>
            </a:r>
            <a:r>
              <a:rPr kumimoji="1" lang="en-US" altLang="zh-CN" sz="1100" dirty="0"/>
              <a:t>C</a:t>
            </a:r>
            <a:endParaRPr kumimoji="1" lang="zh-CN" altLang="en-US" sz="1100" dirty="0"/>
          </a:p>
        </p:txBody>
      </p:sp>
      <p:sp>
        <p:nvSpPr>
          <p:cNvPr id="53" name="文本框 52">
            <a:extLst>
              <a:ext uri="{FF2B5EF4-FFF2-40B4-BE49-F238E27FC236}">
                <a16:creationId xmlns:a16="http://schemas.microsoft.com/office/drawing/2014/main" id="{B36A07B7-E8F2-6946-A0D1-1A10B1CEAFC2}"/>
              </a:ext>
            </a:extLst>
          </p:cNvPr>
          <p:cNvSpPr txBox="1"/>
          <p:nvPr/>
        </p:nvSpPr>
        <p:spPr>
          <a:xfrm>
            <a:off x="1543050" y="3259723"/>
            <a:ext cx="828675" cy="338554"/>
          </a:xfrm>
          <a:prstGeom prst="rect">
            <a:avLst/>
          </a:prstGeom>
          <a:solidFill>
            <a:schemeClr val="bg1"/>
          </a:solidFill>
        </p:spPr>
        <p:txBody>
          <a:bodyPr wrap="square" rtlCol="0">
            <a:spAutoFit/>
          </a:bodyPr>
          <a:lstStyle/>
          <a:p>
            <a:r>
              <a:rPr kumimoji="1" lang="zh-CN" altLang="en-US" sz="1600" dirty="0"/>
              <a:t>广域网</a:t>
            </a:r>
          </a:p>
        </p:txBody>
      </p:sp>
      <p:sp>
        <p:nvSpPr>
          <p:cNvPr id="54" name="文本框 53">
            <a:extLst>
              <a:ext uri="{FF2B5EF4-FFF2-40B4-BE49-F238E27FC236}">
                <a16:creationId xmlns:a16="http://schemas.microsoft.com/office/drawing/2014/main" id="{4AD8628E-1058-524C-AEA9-7D4646D3D06E}"/>
              </a:ext>
            </a:extLst>
          </p:cNvPr>
          <p:cNvSpPr txBox="1"/>
          <p:nvPr/>
        </p:nvSpPr>
        <p:spPr>
          <a:xfrm>
            <a:off x="322737" y="3769702"/>
            <a:ext cx="1334613" cy="261610"/>
          </a:xfrm>
          <a:prstGeom prst="rect">
            <a:avLst/>
          </a:prstGeom>
          <a:solidFill>
            <a:schemeClr val="bg1"/>
          </a:solidFill>
        </p:spPr>
        <p:txBody>
          <a:bodyPr wrap="square" rtlCol="0">
            <a:spAutoFit/>
          </a:bodyPr>
          <a:lstStyle/>
          <a:p>
            <a:r>
              <a:rPr kumimoji="1" lang="zh-CN" altLang="en-US" sz="1100" dirty="0"/>
              <a:t>       客户端</a:t>
            </a:r>
          </a:p>
        </p:txBody>
      </p:sp>
      <p:cxnSp>
        <p:nvCxnSpPr>
          <p:cNvPr id="55" name="Straight Connector 4">
            <a:extLst>
              <a:ext uri="{FF2B5EF4-FFF2-40B4-BE49-F238E27FC236}">
                <a16:creationId xmlns:a16="http://schemas.microsoft.com/office/drawing/2014/main" id="{E681381C-8320-864F-B525-4613E9922C77}"/>
              </a:ext>
            </a:extLst>
          </p:cNvPr>
          <p:cNvCxnSpPr>
            <a:cxnSpLocks/>
          </p:cNvCxnSpPr>
          <p:nvPr/>
        </p:nvCxnSpPr>
        <p:spPr>
          <a:xfrm flipV="1">
            <a:off x="1367461" y="3416362"/>
            <a:ext cx="1547190" cy="1130279"/>
          </a:xfrm>
          <a:prstGeom prst="line">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DE88FB9C-8531-CC44-9503-A5BB34B8EB95}"/>
              </a:ext>
            </a:extLst>
          </p:cNvPr>
          <p:cNvSpPr txBox="1"/>
          <p:nvPr/>
        </p:nvSpPr>
        <p:spPr>
          <a:xfrm>
            <a:off x="454809" y="4602969"/>
            <a:ext cx="3472530" cy="923330"/>
          </a:xfrm>
          <a:prstGeom prst="rect">
            <a:avLst/>
          </a:prstGeom>
          <a:noFill/>
        </p:spPr>
        <p:txBody>
          <a:bodyPr wrap="square" rtlCol="0">
            <a:spAutoFit/>
          </a:bodyPr>
          <a:lstStyle/>
          <a:p>
            <a:r>
              <a:rPr kumimoji="1" lang="zh-CN" altLang="en-US" dirty="0"/>
              <a:t>由于存在多条相同前缀路由：</a:t>
            </a:r>
            <a:endParaRPr kumimoji="1" lang="en-US" altLang="zh-CN" dirty="0"/>
          </a:p>
          <a:p>
            <a:pPr marL="285750" indent="-285750">
              <a:buFont typeface="Arial" panose="020B0604020202020204" pitchFamily="34" charset="0"/>
              <a:buChar char="•"/>
            </a:pPr>
            <a:r>
              <a:rPr kumimoji="1" lang="en-US" altLang="zh-CN" dirty="0"/>
              <a:t>BGP Multipath</a:t>
            </a:r>
          </a:p>
          <a:p>
            <a:pPr marL="285750" indent="-285750">
              <a:buFont typeface="Arial" panose="020B0604020202020204" pitchFamily="34" charset="0"/>
              <a:buChar char="•"/>
            </a:pPr>
            <a:r>
              <a:rPr kumimoji="1" lang="en-US" altLang="zh-CN" dirty="0"/>
              <a:t>IGP ECMP</a:t>
            </a:r>
            <a:endParaRPr kumimoji="1" lang="zh-CN" altLang="en-US" dirty="0"/>
          </a:p>
        </p:txBody>
      </p:sp>
      <p:cxnSp>
        <p:nvCxnSpPr>
          <p:cNvPr id="59" name="Straight Connector 3">
            <a:extLst>
              <a:ext uri="{FF2B5EF4-FFF2-40B4-BE49-F238E27FC236}">
                <a16:creationId xmlns:a16="http://schemas.microsoft.com/office/drawing/2014/main" id="{3D32837A-C3D7-E04E-92BF-3E53B02980EA}"/>
              </a:ext>
            </a:extLst>
          </p:cNvPr>
          <p:cNvCxnSpPr>
            <a:cxnSpLocks/>
          </p:cNvCxnSpPr>
          <p:nvPr/>
        </p:nvCxnSpPr>
        <p:spPr>
          <a:xfrm flipV="1">
            <a:off x="1847174" y="2973425"/>
            <a:ext cx="1734226" cy="1573216"/>
          </a:xfrm>
          <a:prstGeom prst="line">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63" name="图片 62">
            <a:extLst>
              <a:ext uri="{FF2B5EF4-FFF2-40B4-BE49-F238E27FC236}">
                <a16:creationId xmlns:a16="http://schemas.microsoft.com/office/drawing/2014/main" id="{7B7E531E-2A2B-824B-8AB9-7F616E4C5B7B}"/>
              </a:ext>
            </a:extLst>
          </p:cNvPr>
          <p:cNvPicPr>
            <a:picLocks noChangeAspect="1"/>
          </p:cNvPicPr>
          <p:nvPr/>
        </p:nvPicPr>
        <p:blipFill>
          <a:blip r:embed="rId4"/>
          <a:stretch>
            <a:fillRect/>
          </a:stretch>
        </p:blipFill>
        <p:spPr>
          <a:xfrm>
            <a:off x="5038608" y="2179029"/>
            <a:ext cx="3565626" cy="2163756"/>
          </a:xfrm>
          <a:prstGeom prst="rect">
            <a:avLst/>
          </a:prstGeom>
        </p:spPr>
      </p:pic>
      <p:pic>
        <p:nvPicPr>
          <p:cNvPr id="64" name="图片 63">
            <a:extLst>
              <a:ext uri="{FF2B5EF4-FFF2-40B4-BE49-F238E27FC236}">
                <a16:creationId xmlns:a16="http://schemas.microsoft.com/office/drawing/2014/main" id="{16021E65-9F61-2446-93EA-AB4C33C27786}"/>
              </a:ext>
            </a:extLst>
          </p:cNvPr>
          <p:cNvPicPr>
            <a:picLocks noChangeAspect="1"/>
          </p:cNvPicPr>
          <p:nvPr/>
        </p:nvPicPr>
        <p:blipFill>
          <a:blip r:embed="rId5"/>
          <a:stretch>
            <a:fillRect/>
          </a:stretch>
        </p:blipFill>
        <p:spPr>
          <a:xfrm>
            <a:off x="8651534" y="2225766"/>
            <a:ext cx="3386583" cy="2067914"/>
          </a:xfrm>
          <a:prstGeom prst="rect">
            <a:avLst/>
          </a:prstGeom>
        </p:spPr>
      </p:pic>
      <p:sp>
        <p:nvSpPr>
          <p:cNvPr id="65" name="文本框 64">
            <a:extLst>
              <a:ext uri="{FF2B5EF4-FFF2-40B4-BE49-F238E27FC236}">
                <a16:creationId xmlns:a16="http://schemas.microsoft.com/office/drawing/2014/main" id="{BB1505BA-4746-7A45-9D41-4CC11A0DE608}"/>
              </a:ext>
            </a:extLst>
          </p:cNvPr>
          <p:cNvSpPr txBox="1"/>
          <p:nvPr/>
        </p:nvSpPr>
        <p:spPr>
          <a:xfrm>
            <a:off x="5836236" y="4328478"/>
            <a:ext cx="6100763" cy="1732718"/>
          </a:xfrm>
          <a:prstGeom prst="rect">
            <a:avLst/>
          </a:prstGeom>
          <a:noFill/>
        </p:spPr>
        <p:txBody>
          <a:bodyPr wrap="square" rtlCol="0">
            <a:spAutoFit/>
          </a:bodyPr>
          <a:lstStyle/>
          <a:p>
            <a:pPr marL="342900" indent="-342900">
              <a:lnSpc>
                <a:spcPct val="120000"/>
              </a:lnSpc>
              <a:buAutoNum type="arabicPeriod"/>
            </a:pPr>
            <a:r>
              <a:rPr kumimoji="1" lang="zh-CN" altLang="en-US" dirty="0"/>
              <a:t>出向探测平台配置四个任播网段</a:t>
            </a:r>
            <a:endParaRPr kumimoji="1" lang="en-US" altLang="zh-CN" dirty="0"/>
          </a:p>
          <a:p>
            <a:pPr marL="342900" indent="-342900">
              <a:lnSpc>
                <a:spcPct val="120000"/>
              </a:lnSpc>
              <a:buAutoNum type="arabicPeriod"/>
            </a:pPr>
            <a:r>
              <a:rPr kumimoji="1" lang="zh-CN" altLang="en-US" dirty="0"/>
              <a:t>每日翻转探针比例多数时间低于 </a:t>
            </a:r>
            <a:r>
              <a:rPr kumimoji="1" lang="en-US" altLang="zh-CN" dirty="0"/>
              <a:t>4%</a:t>
            </a:r>
          </a:p>
          <a:p>
            <a:pPr marL="342900" indent="-342900">
              <a:lnSpc>
                <a:spcPct val="120000"/>
              </a:lnSpc>
              <a:buAutoNum type="arabicPeriod"/>
            </a:pPr>
            <a:r>
              <a:rPr kumimoji="1" lang="zh-CN" altLang="en-US" dirty="0"/>
              <a:t>大部分路由翻转是因为网络波动产生</a:t>
            </a:r>
            <a:endParaRPr kumimoji="1" lang="en-US" altLang="zh-CN" dirty="0"/>
          </a:p>
          <a:p>
            <a:pPr marL="342900" indent="-342900">
              <a:lnSpc>
                <a:spcPct val="120000"/>
              </a:lnSpc>
              <a:buAutoNum type="arabicPeriod"/>
            </a:pPr>
            <a:r>
              <a:rPr kumimoji="1" lang="zh-CN" altLang="en-US" dirty="0"/>
              <a:t>翻转探针具有动态更替特</a:t>
            </a:r>
            <a:endParaRPr kumimoji="1" lang="en-US" altLang="zh-CN" dirty="0"/>
          </a:p>
          <a:p>
            <a:pPr marL="342900" indent="-342900">
              <a:lnSpc>
                <a:spcPct val="120000"/>
              </a:lnSpc>
              <a:buAutoNum type="arabicPeriod"/>
            </a:pPr>
            <a:r>
              <a:rPr kumimoji="1" lang="zh-CN" altLang="en-US" dirty="0"/>
              <a:t>不同网段之间翻转探针数量不同</a:t>
            </a:r>
          </a:p>
        </p:txBody>
      </p:sp>
      <p:sp>
        <p:nvSpPr>
          <p:cNvPr id="66" name="文本框 65">
            <a:extLst>
              <a:ext uri="{FF2B5EF4-FFF2-40B4-BE49-F238E27FC236}">
                <a16:creationId xmlns:a16="http://schemas.microsoft.com/office/drawing/2014/main" id="{7D589075-C07F-FA48-8D72-A3F632988B87}"/>
              </a:ext>
            </a:extLst>
          </p:cNvPr>
          <p:cNvSpPr txBox="1"/>
          <p:nvPr/>
        </p:nvSpPr>
        <p:spPr>
          <a:xfrm>
            <a:off x="5497018" y="1694616"/>
            <a:ext cx="4485182" cy="400110"/>
          </a:xfrm>
          <a:prstGeom prst="rect">
            <a:avLst/>
          </a:prstGeom>
          <a:noFill/>
        </p:spPr>
        <p:txBody>
          <a:bodyPr wrap="square" rtlCol="0">
            <a:spAutoFit/>
          </a:bodyPr>
          <a:lstStyle/>
          <a:p>
            <a:r>
              <a:rPr kumimoji="1" lang="zh-CN" altLang="en-US" sz="2000" b="1" dirty="0"/>
              <a:t>播路由翻转现象测量</a:t>
            </a:r>
            <a:endParaRPr kumimoji="1" lang="en-US" altLang="zh-CN" sz="2000" b="1" dirty="0"/>
          </a:p>
        </p:txBody>
      </p:sp>
      <p:sp>
        <p:nvSpPr>
          <p:cNvPr id="67" name="箭头: 右 52">
            <a:extLst>
              <a:ext uri="{FF2B5EF4-FFF2-40B4-BE49-F238E27FC236}">
                <a16:creationId xmlns:a16="http://schemas.microsoft.com/office/drawing/2014/main" id="{FC3FB6DD-096D-6146-BE3A-63C7006FBE19}"/>
              </a:ext>
            </a:extLst>
          </p:cNvPr>
          <p:cNvSpPr/>
          <p:nvPr/>
        </p:nvSpPr>
        <p:spPr>
          <a:xfrm>
            <a:off x="3220387" y="5063914"/>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a:extLst>
              <a:ext uri="{FF2B5EF4-FFF2-40B4-BE49-F238E27FC236}">
                <a16:creationId xmlns:a16="http://schemas.microsoft.com/office/drawing/2014/main" id="{EA1B8E4D-E783-9345-AB1D-27AC76DBB337}"/>
              </a:ext>
            </a:extLst>
          </p:cNvPr>
          <p:cNvSpPr/>
          <p:nvPr/>
        </p:nvSpPr>
        <p:spPr>
          <a:xfrm>
            <a:off x="3581401" y="4843463"/>
            <a:ext cx="1915618" cy="121773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FF0000"/>
                </a:solidFill>
              </a:rPr>
              <a:t>连接中断</a:t>
            </a:r>
            <a:endParaRPr kumimoji="1" lang="en-US" altLang="zh-CN" b="1" dirty="0">
              <a:solidFill>
                <a:srgbClr val="FF0000"/>
              </a:solidFill>
            </a:endParaRPr>
          </a:p>
          <a:p>
            <a:pPr algn="ctr"/>
            <a:r>
              <a:rPr kumimoji="1" lang="zh-CN" altLang="en-US" b="1" dirty="0">
                <a:solidFill>
                  <a:srgbClr val="FF0000"/>
                </a:solidFill>
              </a:rPr>
              <a:t>重新握手</a:t>
            </a:r>
            <a:endParaRPr kumimoji="1" lang="en-US" altLang="zh-CN" b="1" dirty="0">
              <a:solidFill>
                <a:srgbClr val="FF0000"/>
              </a:solidFill>
            </a:endParaRPr>
          </a:p>
          <a:p>
            <a:pPr algn="ctr"/>
            <a:r>
              <a:rPr kumimoji="1" lang="zh-CN" altLang="en-US" b="1" dirty="0">
                <a:solidFill>
                  <a:srgbClr val="FF0000"/>
                </a:solidFill>
              </a:rPr>
              <a:t>增加时延</a:t>
            </a:r>
            <a:endParaRPr kumimoji="1" lang="en-US" altLang="zh-CN" b="1" dirty="0">
              <a:solidFill>
                <a:srgbClr val="FF0000"/>
              </a:solidFill>
            </a:endParaRPr>
          </a:p>
          <a:p>
            <a:pPr algn="ctr"/>
            <a:r>
              <a:rPr lang="en" altLang="zh-CN" b="1" i="0" dirty="0">
                <a:solidFill>
                  <a:srgbClr val="FF0000"/>
                </a:solidFill>
                <a:effectLst/>
                <a:latin typeface="quote-cjk-patch"/>
              </a:rPr>
              <a:t>HTTP </a:t>
            </a:r>
            <a:r>
              <a:rPr lang="zh-CN" altLang="en-US" b="1" i="0" dirty="0">
                <a:solidFill>
                  <a:srgbClr val="FF0000"/>
                </a:solidFill>
                <a:effectLst/>
                <a:latin typeface="quote-cjk-patch"/>
              </a:rPr>
              <a:t>响应延迟</a:t>
            </a:r>
            <a:endParaRPr kumimoji="1" lang="zh-CN" altLang="en-US" b="1" dirty="0">
              <a:solidFill>
                <a:srgbClr val="FF0000"/>
              </a:solidFill>
            </a:endParaRPr>
          </a:p>
        </p:txBody>
      </p:sp>
    </p:spTree>
    <p:extLst>
      <p:ext uri="{BB962C8B-B14F-4D97-AF65-F5344CB8AC3E}">
        <p14:creationId xmlns:p14="http://schemas.microsoft.com/office/powerpoint/2010/main" val="96194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目录</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482390A-8D13-2A75-EBB3-68512EEFCF67}"/>
              </a:ext>
            </a:extLst>
          </p:cNvPr>
          <p:cNvSpPr txBox="1"/>
          <p:nvPr/>
        </p:nvSpPr>
        <p:spPr>
          <a:xfrm>
            <a:off x="838199" y="1957388"/>
            <a:ext cx="9924536" cy="2246769"/>
          </a:xfrm>
          <a:prstGeom prst="rect">
            <a:avLst/>
          </a:prstGeom>
          <a:noFill/>
        </p:spPr>
        <p:txBody>
          <a:bodyPr wrap="square" rtlCol="0">
            <a:spAutoFit/>
          </a:bodyPr>
          <a:lstStyle/>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任播测量框架构建与实证分析</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p>
          <a:p>
            <a:pPr marL="457200" indent="-457200">
              <a:buClr>
                <a:srgbClr val="C00000"/>
              </a:buClr>
              <a:buSzPct val="50000"/>
              <a:buFont typeface="Wingdings" pitchFamily="2" charset="0"/>
              <a:buChar char="n"/>
            </a:pPr>
            <a:r>
              <a:rPr kumimoji="1" lang="en-US" altLang="zh-CN" sz="2800" b="1" dirty="0" err="1"/>
              <a:t>AnyPro</a:t>
            </a:r>
            <a:r>
              <a:rPr kumimoji="1" lang="zh-CN" altLang="en-US" sz="2800" b="1" dirty="0"/>
              <a:t>：基于 </a:t>
            </a:r>
            <a:r>
              <a:rPr kumimoji="1" lang="en" altLang="zh-CN" sz="2800" b="1" dirty="0"/>
              <a:t>AS </a:t>
            </a:r>
            <a:r>
              <a:rPr kumimoji="1" lang="zh-CN" altLang="en-US" sz="2800" b="1" dirty="0"/>
              <a:t>路径预置的任播优化白盒模型建立</a:t>
            </a:r>
            <a:endParaRPr kumimoji="1" lang="en-US" altLang="zh-CN" sz="2800" b="1" dirty="0"/>
          </a:p>
          <a:p>
            <a:pPr marL="457200" indent="-457200">
              <a:buClr>
                <a:srgbClr val="C00000"/>
              </a:buClr>
              <a:buSzPct val="50000"/>
              <a:buFont typeface="Wingdings" pitchFamily="2" charset="0"/>
              <a:buChar char="n"/>
            </a:pP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r>
              <a:rPr kumimoji="1" lang="en-US" altLang="zh-CN" sz="2800" b="1" dirty="0" err="1">
                <a:solidFill>
                  <a:schemeClr val="bg2">
                    <a:lumMod val="75000"/>
                  </a:schemeClr>
                </a:solidFill>
              </a:rPr>
              <a:t>AnyTuner</a:t>
            </a:r>
            <a:r>
              <a:rPr kumimoji="1" lang="zh-CN" altLang="en-US" sz="2800" b="1" dirty="0">
                <a:solidFill>
                  <a:schemeClr val="bg2">
                    <a:lumMod val="75000"/>
                  </a:schemeClr>
                </a:solidFill>
              </a:rPr>
              <a:t>：基于多策略协同的任播调优框架设计</a:t>
            </a:r>
          </a:p>
        </p:txBody>
      </p:sp>
    </p:spTree>
    <p:extLst>
      <p:ext uri="{BB962C8B-B14F-4D97-AF65-F5344CB8AC3E}">
        <p14:creationId xmlns:p14="http://schemas.microsoft.com/office/powerpoint/2010/main" val="64712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研究背景</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14</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0EB11B0A-9E28-D54C-8E52-33F784B0C53B}"/>
              </a:ext>
            </a:extLst>
          </p:cNvPr>
          <p:cNvSpPr/>
          <p:nvPr/>
        </p:nvSpPr>
        <p:spPr>
          <a:xfrm>
            <a:off x="530380" y="2468130"/>
            <a:ext cx="10723059" cy="1418756"/>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0" name="矩形 49">
            <a:extLst>
              <a:ext uri="{FF2B5EF4-FFF2-40B4-BE49-F238E27FC236}">
                <a16:creationId xmlns:a16="http://schemas.microsoft.com/office/drawing/2014/main" id="{CDBBC7B1-7903-FF41-80B2-0EE3A57EA1E3}"/>
              </a:ext>
            </a:extLst>
          </p:cNvPr>
          <p:cNvSpPr/>
          <p:nvPr/>
        </p:nvSpPr>
        <p:spPr>
          <a:xfrm>
            <a:off x="846696" y="2254122"/>
            <a:ext cx="1877901" cy="5143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n>
                  <a:solidFill>
                    <a:sysClr val="windowText" lastClr="000000"/>
                  </a:solidFill>
                </a:ln>
                <a:solidFill>
                  <a:schemeClr val="tx1"/>
                </a:solidFill>
              </a:rPr>
              <a:t>AS</a:t>
            </a:r>
            <a:r>
              <a:rPr kumimoji="1" lang="zh-CN" altLang="en-US" sz="2000" dirty="0">
                <a:ln>
                  <a:solidFill>
                    <a:sysClr val="windowText" lastClr="000000"/>
                  </a:solidFill>
                </a:ln>
                <a:solidFill>
                  <a:schemeClr val="tx1"/>
                </a:solidFill>
              </a:rPr>
              <a:t>路径预置</a:t>
            </a:r>
          </a:p>
        </p:txBody>
      </p:sp>
      <p:sp>
        <p:nvSpPr>
          <p:cNvPr id="51" name="Can 18">
            <a:extLst>
              <a:ext uri="{FF2B5EF4-FFF2-40B4-BE49-F238E27FC236}">
                <a16:creationId xmlns:a16="http://schemas.microsoft.com/office/drawing/2014/main" id="{F25291DD-C496-9449-BA43-54DCA23AB9CA}"/>
              </a:ext>
            </a:extLst>
          </p:cNvPr>
          <p:cNvSpPr/>
          <p:nvPr/>
        </p:nvSpPr>
        <p:spPr>
          <a:xfrm>
            <a:off x="1476449" y="2966509"/>
            <a:ext cx="618394" cy="307948"/>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21">
            <a:extLst>
              <a:ext uri="{FF2B5EF4-FFF2-40B4-BE49-F238E27FC236}">
                <a16:creationId xmlns:a16="http://schemas.microsoft.com/office/drawing/2014/main" id="{0CB0ECD7-4A8C-5941-B3CD-EFA8C0E2C3A9}"/>
              </a:ext>
            </a:extLst>
          </p:cNvPr>
          <p:cNvCxnSpPr>
            <a:cxnSpLocks/>
          </p:cNvCxnSpPr>
          <p:nvPr/>
        </p:nvCxnSpPr>
        <p:spPr>
          <a:xfrm flipV="1">
            <a:off x="2211581" y="2850072"/>
            <a:ext cx="1558508" cy="243769"/>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3" name="Can 18">
            <a:extLst>
              <a:ext uri="{FF2B5EF4-FFF2-40B4-BE49-F238E27FC236}">
                <a16:creationId xmlns:a16="http://schemas.microsoft.com/office/drawing/2014/main" id="{B2249552-9B07-4D4E-8265-F2D94A3BC536}"/>
              </a:ext>
            </a:extLst>
          </p:cNvPr>
          <p:cNvSpPr/>
          <p:nvPr/>
        </p:nvSpPr>
        <p:spPr>
          <a:xfrm>
            <a:off x="3905351" y="2638860"/>
            <a:ext cx="618394" cy="307948"/>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21">
            <a:extLst>
              <a:ext uri="{FF2B5EF4-FFF2-40B4-BE49-F238E27FC236}">
                <a16:creationId xmlns:a16="http://schemas.microsoft.com/office/drawing/2014/main" id="{80B7439A-426F-D446-A61A-F4AC3DA9ECAB}"/>
              </a:ext>
            </a:extLst>
          </p:cNvPr>
          <p:cNvCxnSpPr>
            <a:cxnSpLocks/>
          </p:cNvCxnSpPr>
          <p:nvPr/>
        </p:nvCxnSpPr>
        <p:spPr>
          <a:xfrm>
            <a:off x="2211581" y="3146013"/>
            <a:ext cx="2888708" cy="294501"/>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5" name="Can 18">
            <a:extLst>
              <a:ext uri="{FF2B5EF4-FFF2-40B4-BE49-F238E27FC236}">
                <a16:creationId xmlns:a16="http://schemas.microsoft.com/office/drawing/2014/main" id="{F060CCB5-767F-3044-8F6A-E58592B26F4E}"/>
              </a:ext>
            </a:extLst>
          </p:cNvPr>
          <p:cNvSpPr/>
          <p:nvPr/>
        </p:nvSpPr>
        <p:spPr>
          <a:xfrm>
            <a:off x="5217027" y="3277904"/>
            <a:ext cx="618394" cy="307948"/>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文本框 55">
            <a:extLst>
              <a:ext uri="{FF2B5EF4-FFF2-40B4-BE49-F238E27FC236}">
                <a16:creationId xmlns:a16="http://schemas.microsoft.com/office/drawing/2014/main" id="{43168C26-BF4C-BA47-A98C-875DDD0D0782}"/>
              </a:ext>
            </a:extLst>
          </p:cNvPr>
          <p:cNvSpPr txBox="1"/>
          <p:nvPr/>
        </p:nvSpPr>
        <p:spPr>
          <a:xfrm>
            <a:off x="1473336" y="3297461"/>
            <a:ext cx="1243013" cy="369332"/>
          </a:xfrm>
          <a:prstGeom prst="rect">
            <a:avLst/>
          </a:prstGeom>
          <a:noFill/>
        </p:spPr>
        <p:txBody>
          <a:bodyPr wrap="square" rtlCol="0">
            <a:spAutoFit/>
          </a:bodyPr>
          <a:lstStyle/>
          <a:p>
            <a:r>
              <a:rPr kumimoji="1" lang="en-US" altLang="zh-CN" dirty="0"/>
              <a:t>AS</a:t>
            </a:r>
            <a:r>
              <a:rPr kumimoji="1" lang="zh-CN" altLang="en-US" dirty="0"/>
              <a:t> </a:t>
            </a:r>
            <a:r>
              <a:rPr kumimoji="1" lang="en-US" altLang="zh-CN" dirty="0"/>
              <a:t>A</a:t>
            </a:r>
            <a:endParaRPr kumimoji="1" lang="zh-CN" altLang="en-US" dirty="0"/>
          </a:p>
        </p:txBody>
      </p:sp>
      <p:cxnSp>
        <p:nvCxnSpPr>
          <p:cNvPr id="57" name="Straight Arrow Connector 21">
            <a:extLst>
              <a:ext uri="{FF2B5EF4-FFF2-40B4-BE49-F238E27FC236}">
                <a16:creationId xmlns:a16="http://schemas.microsoft.com/office/drawing/2014/main" id="{6263DFF8-AF7D-CD44-B08F-6D7508F344A4}"/>
              </a:ext>
            </a:extLst>
          </p:cNvPr>
          <p:cNvCxnSpPr>
            <a:cxnSpLocks/>
          </p:cNvCxnSpPr>
          <p:nvPr/>
        </p:nvCxnSpPr>
        <p:spPr>
          <a:xfrm flipH="1" flipV="1">
            <a:off x="2211581" y="3254286"/>
            <a:ext cx="2844957" cy="281014"/>
          </a:xfrm>
          <a:prstGeom prst="straightConnector1">
            <a:avLst/>
          </a:prstGeom>
          <a:ln w="38100">
            <a:solidFill>
              <a:srgbClr val="FF0000"/>
            </a:solidFill>
            <a:prstDash val="sysDot"/>
            <a:tailEnd type="triangle"/>
          </a:ln>
        </p:spPr>
        <p:style>
          <a:lnRef idx="1">
            <a:schemeClr val="dk1"/>
          </a:lnRef>
          <a:fillRef idx="0">
            <a:schemeClr val="dk1"/>
          </a:fillRef>
          <a:effectRef idx="0">
            <a:schemeClr val="dk1"/>
          </a:effectRef>
          <a:fontRef idx="minor">
            <a:schemeClr val="tx1"/>
          </a:fontRef>
        </p:style>
      </p:cxnSp>
      <p:sp>
        <p:nvSpPr>
          <p:cNvPr id="58" name="Oval 4">
            <a:extLst>
              <a:ext uri="{FF2B5EF4-FFF2-40B4-BE49-F238E27FC236}">
                <a16:creationId xmlns:a16="http://schemas.microsoft.com/office/drawing/2014/main" id="{325E635A-056E-B845-B713-AAE4729DCC41}"/>
              </a:ext>
            </a:extLst>
          </p:cNvPr>
          <p:cNvSpPr/>
          <p:nvPr/>
        </p:nvSpPr>
        <p:spPr>
          <a:xfrm>
            <a:off x="8330314" y="2931897"/>
            <a:ext cx="428231" cy="428231"/>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21">
            <a:extLst>
              <a:ext uri="{FF2B5EF4-FFF2-40B4-BE49-F238E27FC236}">
                <a16:creationId xmlns:a16="http://schemas.microsoft.com/office/drawing/2014/main" id="{9B43A525-5C8A-B74D-8035-8A6A13564F95}"/>
              </a:ext>
            </a:extLst>
          </p:cNvPr>
          <p:cNvCxnSpPr>
            <a:cxnSpLocks/>
          </p:cNvCxnSpPr>
          <p:nvPr/>
        </p:nvCxnSpPr>
        <p:spPr>
          <a:xfrm flipV="1">
            <a:off x="5880811" y="3146012"/>
            <a:ext cx="2348441" cy="283648"/>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21">
            <a:extLst>
              <a:ext uri="{FF2B5EF4-FFF2-40B4-BE49-F238E27FC236}">
                <a16:creationId xmlns:a16="http://schemas.microsoft.com/office/drawing/2014/main" id="{B38D276F-AE9F-AD47-B98A-7013E197D66A}"/>
              </a:ext>
            </a:extLst>
          </p:cNvPr>
          <p:cNvCxnSpPr>
            <a:cxnSpLocks/>
          </p:cNvCxnSpPr>
          <p:nvPr/>
        </p:nvCxnSpPr>
        <p:spPr>
          <a:xfrm>
            <a:off x="4637992" y="2760744"/>
            <a:ext cx="3591260" cy="254232"/>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1" name="文本框 60">
            <a:extLst>
              <a:ext uri="{FF2B5EF4-FFF2-40B4-BE49-F238E27FC236}">
                <a16:creationId xmlns:a16="http://schemas.microsoft.com/office/drawing/2014/main" id="{0EF5AAB4-FBBC-FF4F-925E-C605E87FFC36}"/>
              </a:ext>
            </a:extLst>
          </p:cNvPr>
          <p:cNvSpPr txBox="1"/>
          <p:nvPr/>
        </p:nvSpPr>
        <p:spPr>
          <a:xfrm>
            <a:off x="2259067" y="2635110"/>
            <a:ext cx="1514475" cy="369332"/>
          </a:xfrm>
          <a:prstGeom prst="rect">
            <a:avLst/>
          </a:prstGeom>
          <a:noFill/>
        </p:spPr>
        <p:txBody>
          <a:bodyPr wrap="square" rtlCol="0">
            <a:spAutoFit/>
          </a:bodyPr>
          <a:lstStyle/>
          <a:p>
            <a:r>
              <a:rPr kumimoji="1" lang="en-US" altLang="zh-CN" dirty="0"/>
              <a:t>&lt;A,  A&gt;</a:t>
            </a:r>
            <a:endParaRPr kumimoji="1" lang="zh-CN" altLang="en-US" dirty="0"/>
          </a:p>
        </p:txBody>
      </p:sp>
      <p:sp>
        <p:nvSpPr>
          <p:cNvPr id="62" name="文本框 61">
            <a:extLst>
              <a:ext uri="{FF2B5EF4-FFF2-40B4-BE49-F238E27FC236}">
                <a16:creationId xmlns:a16="http://schemas.microsoft.com/office/drawing/2014/main" id="{5B7AF444-2417-3747-9843-06CD8826C735}"/>
              </a:ext>
            </a:extLst>
          </p:cNvPr>
          <p:cNvSpPr txBox="1"/>
          <p:nvPr/>
        </p:nvSpPr>
        <p:spPr>
          <a:xfrm>
            <a:off x="3578553" y="3315943"/>
            <a:ext cx="1514475" cy="369332"/>
          </a:xfrm>
          <a:prstGeom prst="rect">
            <a:avLst/>
          </a:prstGeom>
          <a:noFill/>
        </p:spPr>
        <p:txBody>
          <a:bodyPr wrap="square" rtlCol="0">
            <a:spAutoFit/>
          </a:bodyPr>
          <a:lstStyle/>
          <a:p>
            <a:r>
              <a:rPr kumimoji="1" lang="zh-CN" altLang="en-US" dirty="0"/>
              <a:t> </a:t>
            </a:r>
            <a:r>
              <a:rPr kumimoji="1" lang="en-US" altLang="zh-CN" dirty="0"/>
              <a:t>&lt;A&gt;</a:t>
            </a:r>
            <a:endParaRPr kumimoji="1" lang="zh-CN" altLang="en-US" dirty="0"/>
          </a:p>
        </p:txBody>
      </p:sp>
      <p:sp>
        <p:nvSpPr>
          <p:cNvPr id="63" name="文本框 62">
            <a:extLst>
              <a:ext uri="{FF2B5EF4-FFF2-40B4-BE49-F238E27FC236}">
                <a16:creationId xmlns:a16="http://schemas.microsoft.com/office/drawing/2014/main" id="{1EA08BFC-BDCF-A841-BC98-D0E753417B3F}"/>
              </a:ext>
            </a:extLst>
          </p:cNvPr>
          <p:cNvSpPr txBox="1"/>
          <p:nvPr/>
        </p:nvSpPr>
        <p:spPr>
          <a:xfrm>
            <a:off x="5526224" y="2495946"/>
            <a:ext cx="1805722" cy="369332"/>
          </a:xfrm>
          <a:prstGeom prst="rect">
            <a:avLst/>
          </a:prstGeom>
          <a:noFill/>
        </p:spPr>
        <p:txBody>
          <a:bodyPr wrap="square" rtlCol="0">
            <a:spAutoFit/>
          </a:bodyPr>
          <a:lstStyle/>
          <a:p>
            <a:r>
              <a:rPr kumimoji="1" lang="en-US" altLang="zh-CN" dirty="0"/>
              <a:t>&lt;A, A, B&gt;</a:t>
            </a:r>
            <a:endParaRPr kumimoji="1" lang="zh-CN" altLang="en-US" dirty="0"/>
          </a:p>
        </p:txBody>
      </p:sp>
      <p:sp>
        <p:nvSpPr>
          <p:cNvPr id="64" name="文本框 63">
            <a:extLst>
              <a:ext uri="{FF2B5EF4-FFF2-40B4-BE49-F238E27FC236}">
                <a16:creationId xmlns:a16="http://schemas.microsoft.com/office/drawing/2014/main" id="{0ED322D0-8633-A44F-AF21-F98EFC5E14C6}"/>
              </a:ext>
            </a:extLst>
          </p:cNvPr>
          <p:cNvSpPr txBox="1"/>
          <p:nvPr/>
        </p:nvSpPr>
        <p:spPr>
          <a:xfrm>
            <a:off x="6574708" y="3313483"/>
            <a:ext cx="1514475" cy="369332"/>
          </a:xfrm>
          <a:prstGeom prst="rect">
            <a:avLst/>
          </a:prstGeom>
          <a:noFill/>
        </p:spPr>
        <p:txBody>
          <a:bodyPr wrap="square" rtlCol="0">
            <a:spAutoFit/>
          </a:bodyPr>
          <a:lstStyle/>
          <a:p>
            <a:r>
              <a:rPr kumimoji="1" lang="zh-CN" altLang="en-US" dirty="0"/>
              <a:t> </a:t>
            </a:r>
            <a:r>
              <a:rPr kumimoji="1" lang="en-US" altLang="zh-CN" dirty="0"/>
              <a:t>&lt;A, C&gt;</a:t>
            </a:r>
            <a:endParaRPr kumimoji="1" lang="zh-CN" altLang="en-US" dirty="0"/>
          </a:p>
        </p:txBody>
      </p:sp>
      <p:cxnSp>
        <p:nvCxnSpPr>
          <p:cNvPr id="65" name="Straight Arrow Connector 21">
            <a:extLst>
              <a:ext uri="{FF2B5EF4-FFF2-40B4-BE49-F238E27FC236}">
                <a16:creationId xmlns:a16="http://schemas.microsoft.com/office/drawing/2014/main" id="{2A67B471-8B30-4041-B527-791F5D9F8F0D}"/>
              </a:ext>
            </a:extLst>
          </p:cNvPr>
          <p:cNvCxnSpPr>
            <a:cxnSpLocks/>
          </p:cNvCxnSpPr>
          <p:nvPr/>
        </p:nvCxnSpPr>
        <p:spPr>
          <a:xfrm flipH="1">
            <a:off x="5891909" y="3243589"/>
            <a:ext cx="2256553" cy="278398"/>
          </a:xfrm>
          <a:prstGeom prst="straightConnector1">
            <a:avLst/>
          </a:prstGeom>
          <a:ln w="38100">
            <a:solidFill>
              <a:srgbClr val="FF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21">
            <a:extLst>
              <a:ext uri="{FF2B5EF4-FFF2-40B4-BE49-F238E27FC236}">
                <a16:creationId xmlns:a16="http://schemas.microsoft.com/office/drawing/2014/main" id="{6CC05C9D-98FB-9A42-AAF5-010FB2BF516C}"/>
              </a:ext>
            </a:extLst>
          </p:cNvPr>
          <p:cNvCxnSpPr>
            <a:cxnSpLocks/>
          </p:cNvCxnSpPr>
          <p:nvPr/>
        </p:nvCxnSpPr>
        <p:spPr>
          <a:xfrm>
            <a:off x="9154475" y="2659442"/>
            <a:ext cx="875485" cy="0"/>
          </a:xfrm>
          <a:prstGeom prst="straightConnector1">
            <a:avLst/>
          </a:prstGeom>
          <a:ln w="38100">
            <a:solidFill>
              <a:srgbClr val="FF0000"/>
            </a:solidFill>
            <a:prstDash val="sysDot"/>
            <a:tailEnd type="triangle"/>
          </a:ln>
        </p:spPr>
        <p:style>
          <a:lnRef idx="1">
            <a:schemeClr val="dk1"/>
          </a:lnRef>
          <a:fillRef idx="0">
            <a:schemeClr val="dk1"/>
          </a:fillRef>
          <a:effectRef idx="0">
            <a:schemeClr val="dk1"/>
          </a:effectRef>
          <a:fontRef idx="minor">
            <a:schemeClr val="tx1"/>
          </a:fontRef>
        </p:style>
      </p:cxnSp>
      <p:sp>
        <p:nvSpPr>
          <p:cNvPr id="67" name="文本框 66">
            <a:extLst>
              <a:ext uri="{FF2B5EF4-FFF2-40B4-BE49-F238E27FC236}">
                <a16:creationId xmlns:a16="http://schemas.microsoft.com/office/drawing/2014/main" id="{C6ABB063-3925-9C44-84D8-C5ED0C8CB34F}"/>
              </a:ext>
            </a:extLst>
          </p:cNvPr>
          <p:cNvSpPr txBox="1"/>
          <p:nvPr/>
        </p:nvSpPr>
        <p:spPr>
          <a:xfrm>
            <a:off x="10058051" y="2510320"/>
            <a:ext cx="1195387" cy="369332"/>
          </a:xfrm>
          <a:prstGeom prst="rect">
            <a:avLst/>
          </a:prstGeom>
          <a:noFill/>
        </p:spPr>
        <p:txBody>
          <a:bodyPr wrap="square" rtlCol="0">
            <a:spAutoFit/>
          </a:bodyPr>
          <a:lstStyle/>
          <a:p>
            <a:r>
              <a:rPr kumimoji="1" lang="zh-CN" altLang="en-US" dirty="0"/>
              <a:t>路由方向</a:t>
            </a:r>
          </a:p>
        </p:txBody>
      </p:sp>
      <p:cxnSp>
        <p:nvCxnSpPr>
          <p:cNvPr id="68" name="Straight Arrow Connector 21">
            <a:extLst>
              <a:ext uri="{FF2B5EF4-FFF2-40B4-BE49-F238E27FC236}">
                <a16:creationId xmlns:a16="http://schemas.microsoft.com/office/drawing/2014/main" id="{02005B93-1A70-4041-B1B5-6190AC873A0D}"/>
              </a:ext>
            </a:extLst>
          </p:cNvPr>
          <p:cNvCxnSpPr>
            <a:cxnSpLocks/>
          </p:cNvCxnSpPr>
          <p:nvPr/>
        </p:nvCxnSpPr>
        <p:spPr>
          <a:xfrm>
            <a:off x="9154475" y="3031644"/>
            <a:ext cx="903576"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9" name="文本框 68">
            <a:extLst>
              <a:ext uri="{FF2B5EF4-FFF2-40B4-BE49-F238E27FC236}">
                <a16:creationId xmlns:a16="http://schemas.microsoft.com/office/drawing/2014/main" id="{407C70F9-5186-6A4C-90F2-D6C87F145C2A}"/>
              </a:ext>
            </a:extLst>
          </p:cNvPr>
          <p:cNvSpPr txBox="1"/>
          <p:nvPr/>
        </p:nvSpPr>
        <p:spPr>
          <a:xfrm>
            <a:off x="10029960" y="2870836"/>
            <a:ext cx="1195387" cy="369332"/>
          </a:xfrm>
          <a:prstGeom prst="rect">
            <a:avLst/>
          </a:prstGeom>
          <a:noFill/>
        </p:spPr>
        <p:txBody>
          <a:bodyPr wrap="square" rtlCol="0">
            <a:spAutoFit/>
          </a:bodyPr>
          <a:lstStyle/>
          <a:p>
            <a:r>
              <a:rPr kumimoji="1" lang="zh-CN" altLang="en-US" dirty="0"/>
              <a:t>宣告方向</a:t>
            </a:r>
          </a:p>
        </p:txBody>
      </p:sp>
      <p:sp>
        <p:nvSpPr>
          <p:cNvPr id="74" name="文本框 73">
            <a:extLst>
              <a:ext uri="{FF2B5EF4-FFF2-40B4-BE49-F238E27FC236}">
                <a16:creationId xmlns:a16="http://schemas.microsoft.com/office/drawing/2014/main" id="{2BA671F0-29D6-874D-BC35-B96F44C3DCFE}"/>
              </a:ext>
            </a:extLst>
          </p:cNvPr>
          <p:cNvSpPr txBox="1"/>
          <p:nvPr/>
        </p:nvSpPr>
        <p:spPr>
          <a:xfrm>
            <a:off x="3932557" y="2903157"/>
            <a:ext cx="1243013" cy="369332"/>
          </a:xfrm>
          <a:prstGeom prst="rect">
            <a:avLst/>
          </a:prstGeom>
          <a:noFill/>
        </p:spPr>
        <p:txBody>
          <a:bodyPr wrap="square" rtlCol="0">
            <a:spAutoFit/>
          </a:bodyPr>
          <a:lstStyle/>
          <a:p>
            <a:r>
              <a:rPr kumimoji="1" lang="en-US" altLang="zh-CN" dirty="0"/>
              <a:t>AS</a:t>
            </a:r>
            <a:r>
              <a:rPr kumimoji="1" lang="zh-CN" altLang="en-US" dirty="0"/>
              <a:t> </a:t>
            </a:r>
            <a:r>
              <a:rPr kumimoji="1" lang="en-US" altLang="zh-CN" dirty="0"/>
              <a:t>B</a:t>
            </a:r>
            <a:endParaRPr kumimoji="1" lang="zh-CN" altLang="en-US" dirty="0"/>
          </a:p>
        </p:txBody>
      </p:sp>
      <p:sp>
        <p:nvSpPr>
          <p:cNvPr id="75" name="文本框 74">
            <a:extLst>
              <a:ext uri="{FF2B5EF4-FFF2-40B4-BE49-F238E27FC236}">
                <a16:creationId xmlns:a16="http://schemas.microsoft.com/office/drawing/2014/main" id="{D1051BFD-0ADC-6846-8124-FEDFB3495C4C}"/>
              </a:ext>
            </a:extLst>
          </p:cNvPr>
          <p:cNvSpPr txBox="1"/>
          <p:nvPr/>
        </p:nvSpPr>
        <p:spPr>
          <a:xfrm>
            <a:off x="5236996" y="3535300"/>
            <a:ext cx="1243013" cy="369332"/>
          </a:xfrm>
          <a:prstGeom prst="rect">
            <a:avLst/>
          </a:prstGeom>
          <a:noFill/>
        </p:spPr>
        <p:txBody>
          <a:bodyPr wrap="square" rtlCol="0">
            <a:spAutoFit/>
          </a:bodyPr>
          <a:lstStyle/>
          <a:p>
            <a:r>
              <a:rPr kumimoji="1" lang="en-US" altLang="zh-CN" dirty="0"/>
              <a:t>AS</a:t>
            </a:r>
            <a:r>
              <a:rPr kumimoji="1" lang="zh-CN" altLang="en-US" dirty="0"/>
              <a:t> </a:t>
            </a:r>
            <a:r>
              <a:rPr kumimoji="1" lang="en-US" altLang="zh-CN" dirty="0"/>
              <a:t>C</a:t>
            </a:r>
            <a:endParaRPr kumimoji="1" lang="zh-CN" altLang="en-US" dirty="0"/>
          </a:p>
        </p:txBody>
      </p:sp>
      <p:sp>
        <p:nvSpPr>
          <p:cNvPr id="76" name="文本框 75">
            <a:extLst>
              <a:ext uri="{FF2B5EF4-FFF2-40B4-BE49-F238E27FC236}">
                <a16:creationId xmlns:a16="http://schemas.microsoft.com/office/drawing/2014/main" id="{B86A59D8-51F8-BB42-9066-960D49A7A2A4}"/>
              </a:ext>
            </a:extLst>
          </p:cNvPr>
          <p:cNvSpPr txBox="1"/>
          <p:nvPr/>
        </p:nvSpPr>
        <p:spPr>
          <a:xfrm>
            <a:off x="532952" y="1678289"/>
            <a:ext cx="10353210" cy="646331"/>
          </a:xfrm>
          <a:prstGeom prst="rect">
            <a:avLst/>
          </a:prstGeom>
          <a:noFill/>
        </p:spPr>
        <p:txBody>
          <a:bodyPr wrap="square">
            <a:spAutoFit/>
          </a:bodyPr>
          <a:lstStyle/>
          <a:p>
            <a:r>
              <a:rPr lang="zh-CN" altLang="en-US" b="0" i="0" dirty="0">
                <a:solidFill>
                  <a:srgbClr val="34343C"/>
                </a:solidFill>
                <a:effectLst/>
                <a:latin typeface="Source Sans Pro" panose="020F0502020204030204" pitchFamily="34" charset="0"/>
              </a:rPr>
              <a:t>        通过在路由宣告的</a:t>
            </a:r>
            <a:r>
              <a:rPr lang="en" altLang="zh-CN" b="0" i="0" dirty="0">
                <a:solidFill>
                  <a:srgbClr val="34343C"/>
                </a:solidFill>
                <a:effectLst/>
                <a:latin typeface="Source Sans Pro" panose="020F0502020204030204" pitchFamily="34" charset="0"/>
              </a:rPr>
              <a:t>AS</a:t>
            </a:r>
            <a:r>
              <a:rPr lang="zh-CN" altLang="en-US" b="0" i="0" dirty="0">
                <a:solidFill>
                  <a:srgbClr val="34343C"/>
                </a:solidFill>
                <a:effectLst/>
                <a:latin typeface="Source Sans Pro" panose="020F0502020204030204" pitchFamily="34" charset="0"/>
              </a:rPr>
              <a:t>路径属性中</a:t>
            </a:r>
            <a:r>
              <a:rPr lang="zh-CN" altLang="en-US" b="1" i="0" dirty="0">
                <a:solidFill>
                  <a:srgbClr val="34343C"/>
                </a:solidFill>
                <a:effectLst/>
                <a:latin typeface="Source Sans Pro" panose="020F0502020204030204" pitchFamily="34" charset="0"/>
              </a:rPr>
              <a:t>重复添加自身</a:t>
            </a:r>
            <a:r>
              <a:rPr lang="en" altLang="zh-CN" b="1" i="0" dirty="0">
                <a:solidFill>
                  <a:srgbClr val="34343C"/>
                </a:solidFill>
                <a:effectLst/>
                <a:latin typeface="Source Sans Pro" panose="020F0502020204030204" pitchFamily="34" charset="0"/>
              </a:rPr>
              <a:t>AS</a:t>
            </a:r>
            <a:r>
              <a:rPr lang="zh-CN" altLang="en-US" b="1" i="0" dirty="0">
                <a:solidFill>
                  <a:srgbClr val="34343C"/>
                </a:solidFill>
                <a:effectLst/>
                <a:latin typeface="Source Sans Pro" panose="020F0502020204030204" pitchFamily="34" charset="0"/>
              </a:rPr>
              <a:t>号码</a:t>
            </a:r>
            <a:r>
              <a:rPr lang="zh-CN" altLang="en-US" b="0" i="0" dirty="0">
                <a:solidFill>
                  <a:srgbClr val="34343C"/>
                </a:solidFill>
                <a:effectLst/>
                <a:latin typeface="Source Sans Pro" panose="020F0502020204030204" pitchFamily="34" charset="0"/>
              </a:rPr>
              <a:t>，人为增加路径长度，从而影响其他自治系统的路由选择决策</a:t>
            </a:r>
            <a:endParaRPr lang="zh-CN" altLang="en-US" dirty="0"/>
          </a:p>
        </p:txBody>
      </p:sp>
      <p:pic>
        <p:nvPicPr>
          <p:cNvPr id="77" name="图片 76">
            <a:extLst>
              <a:ext uri="{FF2B5EF4-FFF2-40B4-BE49-F238E27FC236}">
                <a16:creationId xmlns:a16="http://schemas.microsoft.com/office/drawing/2014/main" id="{01D726B0-AD1B-3A4A-98BF-F2C828716DAE}"/>
              </a:ext>
            </a:extLst>
          </p:cNvPr>
          <p:cNvPicPr>
            <a:picLocks noChangeAspect="1"/>
          </p:cNvPicPr>
          <p:nvPr/>
        </p:nvPicPr>
        <p:blipFill>
          <a:blip r:embed="rId3"/>
          <a:stretch>
            <a:fillRect/>
          </a:stretch>
        </p:blipFill>
        <p:spPr>
          <a:xfrm>
            <a:off x="2307621" y="4046939"/>
            <a:ext cx="4492884" cy="2285511"/>
          </a:xfrm>
          <a:prstGeom prst="rect">
            <a:avLst/>
          </a:prstGeom>
        </p:spPr>
      </p:pic>
      <p:sp>
        <p:nvSpPr>
          <p:cNvPr id="8" name="文本框 7">
            <a:extLst>
              <a:ext uri="{FF2B5EF4-FFF2-40B4-BE49-F238E27FC236}">
                <a16:creationId xmlns:a16="http://schemas.microsoft.com/office/drawing/2014/main" id="{65FAC01B-2650-C44F-AC55-3013CC68CECE}"/>
              </a:ext>
            </a:extLst>
          </p:cNvPr>
          <p:cNvSpPr txBox="1"/>
          <p:nvPr/>
        </p:nvSpPr>
        <p:spPr>
          <a:xfrm>
            <a:off x="211873" y="4752983"/>
            <a:ext cx="2196790" cy="646331"/>
          </a:xfrm>
          <a:prstGeom prst="rect">
            <a:avLst/>
          </a:prstGeom>
          <a:noFill/>
        </p:spPr>
        <p:txBody>
          <a:bodyPr wrap="square" rtlCol="0">
            <a:spAutoFit/>
          </a:bodyPr>
          <a:lstStyle/>
          <a:p>
            <a:r>
              <a:rPr kumimoji="1" lang="en-US" altLang="zh-CN" b="1" dirty="0">
                <a:solidFill>
                  <a:srgbClr val="FF0000"/>
                </a:solidFill>
              </a:rPr>
              <a:t>ASPP(</a:t>
            </a:r>
            <a:r>
              <a:rPr kumimoji="1" lang="en-US" altLang="zh-CN" b="1" dirty="0" err="1">
                <a:solidFill>
                  <a:srgbClr val="FF0000"/>
                </a:solidFill>
              </a:rPr>
              <a:t>California,NTT</a:t>
            </a:r>
            <a:r>
              <a:rPr kumimoji="1" lang="en-US" altLang="zh-CN" b="1" dirty="0">
                <a:solidFill>
                  <a:srgbClr val="FF0000"/>
                </a:solidFill>
              </a:rPr>
              <a:t>): 0 -&gt; 1</a:t>
            </a:r>
            <a:endParaRPr kumimoji="1" lang="zh-CN" altLang="en-US" b="1" dirty="0">
              <a:solidFill>
                <a:srgbClr val="FF0000"/>
              </a:solidFill>
            </a:endParaRPr>
          </a:p>
        </p:txBody>
      </p:sp>
      <p:sp>
        <p:nvSpPr>
          <p:cNvPr id="11" name="文本框 10">
            <a:extLst>
              <a:ext uri="{FF2B5EF4-FFF2-40B4-BE49-F238E27FC236}">
                <a16:creationId xmlns:a16="http://schemas.microsoft.com/office/drawing/2014/main" id="{24AC50D4-D09E-BD43-BE17-9162D66F0C9A}"/>
              </a:ext>
            </a:extLst>
          </p:cNvPr>
          <p:cNvSpPr txBox="1"/>
          <p:nvPr/>
        </p:nvSpPr>
        <p:spPr>
          <a:xfrm>
            <a:off x="7331945" y="4148254"/>
            <a:ext cx="4021855" cy="1975926"/>
          </a:xfrm>
          <a:prstGeom prst="rect">
            <a:avLst/>
          </a:prstGeom>
          <a:noFill/>
        </p:spPr>
        <p:txBody>
          <a:bodyPr wrap="square" rtlCol="0">
            <a:spAutoFit/>
          </a:bodyPr>
          <a:lstStyle/>
          <a:p>
            <a:r>
              <a:rPr kumimoji="1" lang="zh-CN" altLang="en-US" dirty="0"/>
              <a:t>挑战：</a:t>
            </a:r>
            <a:endParaRPr kumimoji="1" lang="en-US" altLang="zh-CN" dirty="0"/>
          </a:p>
          <a:p>
            <a:pPr marL="742950" lvl="1" indent="-285750">
              <a:lnSpc>
                <a:spcPct val="120000"/>
              </a:lnSpc>
              <a:buFont typeface="Arial" panose="020B0604020202020204" pitchFamily="34" charset="0"/>
              <a:buChar char="•"/>
            </a:pPr>
            <a:r>
              <a:rPr lang="zh-CN" altLang="en-US" dirty="0"/>
              <a:t>动态</a:t>
            </a:r>
            <a:r>
              <a:rPr lang="en" altLang="zh-CN" dirty="0"/>
              <a:t>AS</a:t>
            </a:r>
            <a:r>
              <a:rPr lang="zh-CN" altLang="en-US" dirty="0"/>
              <a:t>路径预置下的客户端</a:t>
            </a:r>
            <a:r>
              <a:rPr lang="en-US" altLang="zh-CN" dirty="0"/>
              <a:t>-</a:t>
            </a:r>
            <a:r>
              <a:rPr lang="zh-CN" altLang="en-US" dirty="0"/>
              <a:t>站点映射难以预测</a:t>
            </a:r>
            <a:endParaRPr lang="en-US" altLang="zh-CN" dirty="0"/>
          </a:p>
          <a:p>
            <a:pPr marL="742950" lvl="1" indent="-285750">
              <a:lnSpc>
                <a:spcPct val="120000"/>
              </a:lnSpc>
              <a:buFont typeface="Arial" panose="020B0604020202020204" pitchFamily="34" charset="0"/>
              <a:buChar char="•"/>
            </a:pPr>
            <a:r>
              <a:rPr lang="zh-CN" altLang="en-US" dirty="0"/>
              <a:t>最优用户</a:t>
            </a:r>
            <a:r>
              <a:rPr lang="en-US" altLang="zh-CN" dirty="0"/>
              <a:t>-</a:t>
            </a:r>
            <a:r>
              <a:rPr lang="zh-CN" altLang="en-US" dirty="0"/>
              <a:t>站点映射的</a:t>
            </a:r>
            <a:r>
              <a:rPr lang="en-US" altLang="zh-CN" dirty="0"/>
              <a:t>ASPP</a:t>
            </a:r>
            <a:r>
              <a:rPr lang="zh-CN" altLang="en-US" dirty="0"/>
              <a:t>约束条件难以获取</a:t>
            </a:r>
            <a:endParaRPr lang="en-US" altLang="zh-CN" dirty="0"/>
          </a:p>
          <a:p>
            <a:pPr marL="742950" lvl="1" indent="-285750">
              <a:buFont typeface="Arial" panose="020B0604020202020204" pitchFamily="34" charset="0"/>
              <a:buChar char="•"/>
            </a:pPr>
            <a:endParaRPr kumimoji="1" lang="zh-CN" altLang="en-US" dirty="0"/>
          </a:p>
        </p:txBody>
      </p:sp>
    </p:spTree>
    <p:extLst>
      <p:ext uri="{BB962C8B-B14F-4D97-AF65-F5344CB8AC3E}">
        <p14:creationId xmlns:p14="http://schemas.microsoft.com/office/powerpoint/2010/main" val="1777011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研究内容：</a:t>
            </a:r>
            <a:r>
              <a:rPr kumimoji="1" lang="en-US" altLang="zh-CN" b="1" dirty="0">
                <a:latin typeface="Microsoft YaHei" panose="020B0503020204020204" pitchFamily="34" charset="-122"/>
                <a:ea typeface="Microsoft YaHei" panose="020B0503020204020204" pitchFamily="34" charset="-122"/>
              </a:rPr>
              <a:t>max-min</a:t>
            </a:r>
            <a:r>
              <a:rPr kumimoji="1" lang="zh-CN" altLang="en-US" b="1" dirty="0">
                <a:latin typeface="Microsoft YaHei" panose="020B0503020204020204" pitchFamily="34" charset="-122"/>
                <a:ea typeface="Microsoft YaHei" panose="020B0503020204020204" pitchFamily="34" charset="-122"/>
              </a:rPr>
              <a:t>轮询</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15</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EDDF2E6E-6E5E-5145-BA3D-2A3803F9C8EE}"/>
              </a:ext>
            </a:extLst>
          </p:cNvPr>
          <p:cNvPicPr>
            <a:picLocks noChangeAspect="1"/>
          </p:cNvPicPr>
          <p:nvPr/>
        </p:nvPicPr>
        <p:blipFill>
          <a:blip r:embed="rId3"/>
          <a:stretch>
            <a:fillRect/>
          </a:stretch>
        </p:blipFill>
        <p:spPr>
          <a:xfrm>
            <a:off x="146281" y="1498287"/>
            <a:ext cx="7528515" cy="2200401"/>
          </a:xfrm>
          <a:prstGeom prst="rect">
            <a:avLst/>
          </a:prstGeom>
        </p:spPr>
      </p:pic>
      <p:pic>
        <p:nvPicPr>
          <p:cNvPr id="10" name="图片 9">
            <a:extLst>
              <a:ext uri="{FF2B5EF4-FFF2-40B4-BE49-F238E27FC236}">
                <a16:creationId xmlns:a16="http://schemas.microsoft.com/office/drawing/2014/main" id="{23BCECB2-F03C-EF4C-B4A2-E1712E5E1E20}"/>
              </a:ext>
            </a:extLst>
          </p:cNvPr>
          <p:cNvPicPr>
            <a:picLocks noChangeAspect="1"/>
          </p:cNvPicPr>
          <p:nvPr/>
        </p:nvPicPr>
        <p:blipFill>
          <a:blip r:embed="rId4"/>
          <a:stretch>
            <a:fillRect/>
          </a:stretch>
        </p:blipFill>
        <p:spPr>
          <a:xfrm>
            <a:off x="245946" y="3698688"/>
            <a:ext cx="3965343" cy="2469291"/>
          </a:xfrm>
          <a:prstGeom prst="rect">
            <a:avLst/>
          </a:prstGeom>
        </p:spPr>
      </p:pic>
      <p:pic>
        <p:nvPicPr>
          <p:cNvPr id="12" name="图片 11">
            <a:extLst>
              <a:ext uri="{FF2B5EF4-FFF2-40B4-BE49-F238E27FC236}">
                <a16:creationId xmlns:a16="http://schemas.microsoft.com/office/drawing/2014/main" id="{59B3C32E-5AAD-BA4E-9D3C-50CCB1CFEB7A}"/>
              </a:ext>
            </a:extLst>
          </p:cNvPr>
          <p:cNvPicPr>
            <a:picLocks noChangeAspect="1"/>
          </p:cNvPicPr>
          <p:nvPr/>
        </p:nvPicPr>
        <p:blipFill>
          <a:blip r:embed="rId5"/>
          <a:stretch>
            <a:fillRect/>
          </a:stretch>
        </p:blipFill>
        <p:spPr>
          <a:xfrm>
            <a:off x="3385994" y="3738288"/>
            <a:ext cx="4787900" cy="2438400"/>
          </a:xfrm>
          <a:prstGeom prst="rect">
            <a:avLst/>
          </a:prstGeom>
        </p:spPr>
      </p:pic>
      <p:sp>
        <p:nvSpPr>
          <p:cNvPr id="9" name="任意形状 8">
            <a:extLst>
              <a:ext uri="{FF2B5EF4-FFF2-40B4-BE49-F238E27FC236}">
                <a16:creationId xmlns:a16="http://schemas.microsoft.com/office/drawing/2014/main" id="{5DD8D0CD-3B36-7E43-BE09-291F7F899426}"/>
              </a:ext>
            </a:extLst>
          </p:cNvPr>
          <p:cNvSpPr/>
          <p:nvPr/>
        </p:nvSpPr>
        <p:spPr>
          <a:xfrm>
            <a:off x="577656" y="2999678"/>
            <a:ext cx="414803" cy="1014761"/>
          </a:xfrm>
          <a:custGeom>
            <a:avLst/>
            <a:gdLst>
              <a:gd name="connsiteX0" fmla="*/ 414803 w 414803"/>
              <a:gd name="connsiteY0" fmla="*/ 0 h 1014761"/>
              <a:gd name="connsiteX1" fmla="*/ 2207 w 414803"/>
              <a:gd name="connsiteY1" fmla="*/ 245327 h 1014761"/>
              <a:gd name="connsiteX2" fmla="*/ 280988 w 414803"/>
              <a:gd name="connsiteY2" fmla="*/ 1014761 h 1014761"/>
            </a:gdLst>
            <a:ahLst/>
            <a:cxnLst>
              <a:cxn ang="0">
                <a:pos x="connsiteX0" y="connsiteY0"/>
              </a:cxn>
              <a:cxn ang="0">
                <a:pos x="connsiteX1" y="connsiteY1"/>
              </a:cxn>
              <a:cxn ang="0">
                <a:pos x="connsiteX2" y="connsiteY2"/>
              </a:cxn>
            </a:cxnLst>
            <a:rect l="l" t="t" r="r" b="b"/>
            <a:pathLst>
              <a:path w="414803" h="1014761">
                <a:moveTo>
                  <a:pt x="414803" y="0"/>
                </a:moveTo>
                <a:cubicBezTo>
                  <a:pt x="219656" y="38100"/>
                  <a:pt x="24509" y="76200"/>
                  <a:pt x="2207" y="245327"/>
                </a:cubicBezTo>
                <a:cubicBezTo>
                  <a:pt x="-20095" y="414454"/>
                  <a:pt x="130446" y="714607"/>
                  <a:pt x="280988" y="1014761"/>
                </a:cubicBezTo>
              </a:path>
            </a:pathLst>
          </a:custGeom>
          <a:noFill/>
          <a:ln w="28575">
            <a:solidFill>
              <a:srgbClr val="FF0000"/>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E0BE65C1-7D39-5C45-B0FD-9C378BB2FED3}"/>
              </a:ext>
            </a:extLst>
          </p:cNvPr>
          <p:cNvSpPr/>
          <p:nvPr/>
        </p:nvSpPr>
        <p:spPr>
          <a:xfrm>
            <a:off x="443059" y="4397697"/>
            <a:ext cx="2611225" cy="117741"/>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箭头连接符 14">
            <a:extLst>
              <a:ext uri="{FF2B5EF4-FFF2-40B4-BE49-F238E27FC236}">
                <a16:creationId xmlns:a16="http://schemas.microsoft.com/office/drawing/2014/main" id="{65EAF002-9125-C44D-9234-08D669B30511}"/>
              </a:ext>
            </a:extLst>
          </p:cNvPr>
          <p:cNvCxnSpPr>
            <a:cxnSpLocks/>
            <a:stCxn id="13" idx="6"/>
          </p:cNvCxnSpPr>
          <p:nvPr/>
        </p:nvCxnSpPr>
        <p:spPr>
          <a:xfrm>
            <a:off x="3054284" y="4456568"/>
            <a:ext cx="718208" cy="5272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095C5C53-C1C9-A94F-8DDB-68A92734308B}"/>
              </a:ext>
            </a:extLst>
          </p:cNvPr>
          <p:cNvSpPr/>
          <p:nvPr/>
        </p:nvSpPr>
        <p:spPr>
          <a:xfrm>
            <a:off x="507801" y="4766393"/>
            <a:ext cx="2159985" cy="132303"/>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1" name="直线箭头连接符 70">
            <a:extLst>
              <a:ext uri="{FF2B5EF4-FFF2-40B4-BE49-F238E27FC236}">
                <a16:creationId xmlns:a16="http://schemas.microsoft.com/office/drawing/2014/main" id="{0201FD14-14D2-FD46-9DDB-09353CBC2524}"/>
              </a:ext>
            </a:extLst>
          </p:cNvPr>
          <p:cNvCxnSpPr>
            <a:cxnSpLocks/>
          </p:cNvCxnSpPr>
          <p:nvPr/>
        </p:nvCxnSpPr>
        <p:spPr>
          <a:xfrm>
            <a:off x="2698184" y="4841360"/>
            <a:ext cx="1212354" cy="557954"/>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2" name="椭圆 71">
            <a:extLst>
              <a:ext uri="{FF2B5EF4-FFF2-40B4-BE49-F238E27FC236}">
                <a16:creationId xmlns:a16="http://schemas.microsoft.com/office/drawing/2014/main" id="{F4E642AE-E5E3-6B4B-A465-E2647296193A}"/>
              </a:ext>
            </a:extLst>
          </p:cNvPr>
          <p:cNvSpPr/>
          <p:nvPr/>
        </p:nvSpPr>
        <p:spPr>
          <a:xfrm>
            <a:off x="793434" y="5260887"/>
            <a:ext cx="1904749" cy="189542"/>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3" name="直线箭头连接符 72">
            <a:extLst>
              <a:ext uri="{FF2B5EF4-FFF2-40B4-BE49-F238E27FC236}">
                <a16:creationId xmlns:a16="http://schemas.microsoft.com/office/drawing/2014/main" id="{10585B76-A9B5-FE43-8847-69F3F6612503}"/>
              </a:ext>
            </a:extLst>
          </p:cNvPr>
          <p:cNvCxnSpPr>
            <a:cxnSpLocks/>
          </p:cNvCxnSpPr>
          <p:nvPr/>
        </p:nvCxnSpPr>
        <p:spPr>
          <a:xfrm>
            <a:off x="2698183" y="5359713"/>
            <a:ext cx="3209457" cy="38657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2E358EA-CE35-C045-A8AA-EA715F67757B}"/>
                  </a:ext>
                </a:extLst>
              </p:cNvPr>
              <p:cNvSpPr txBox="1"/>
              <p:nvPr/>
            </p:nvSpPr>
            <p:spPr>
              <a:xfrm>
                <a:off x="8085762" y="1690688"/>
                <a:ext cx="3801438" cy="1754326"/>
              </a:xfrm>
              <a:prstGeom prst="rect">
                <a:avLst/>
              </a:prstGeom>
              <a:noFill/>
            </p:spPr>
            <p:txBody>
              <a:bodyPr wrap="square" rtlCol="0">
                <a:spAutoFit/>
              </a:bodyPr>
              <a:lstStyle/>
              <a:p>
                <a:r>
                  <a:rPr kumimoji="1" lang="zh-CN" altLang="en-US" dirty="0"/>
                  <a:t>定理一：</a:t>
                </a:r>
                <a:r>
                  <a:rPr kumimoji="1" lang="zh-CN" altLang="en-US" dirty="0">
                    <a:latin typeface="KaiTi" panose="02010609060101010101" pitchFamily="49" charset="-122"/>
                    <a:ea typeface="KaiTi" panose="02010609060101010101" pitchFamily="49" charset="-122"/>
                  </a:rPr>
                  <a:t>对于任意多个站点，当客户端到这些站点的</a:t>
                </a:r>
                <a:r>
                  <a:rPr kumimoji="1" lang="en" altLang="zh-CN" dirty="0">
                    <a:latin typeface="KaiTi" panose="02010609060101010101" pitchFamily="49" charset="-122"/>
                    <a:ea typeface="KaiTi" panose="02010609060101010101" pitchFamily="49" charset="-122"/>
                  </a:rPr>
                  <a:t>AS</a:t>
                </a:r>
                <a:r>
                  <a:rPr kumimoji="1" lang="zh-CN" altLang="en-US" dirty="0">
                    <a:latin typeface="KaiTi" panose="02010609060101010101" pitchFamily="49" charset="-122"/>
                    <a:ea typeface="KaiTi" panose="02010609060101010101" pitchFamily="49" charset="-122"/>
                  </a:rPr>
                  <a:t>路径长度</a:t>
                </a:r>
                <a14:m>
                  <m:oMath xmlns:m="http://schemas.openxmlformats.org/officeDocument/2006/math">
                    <m:r>
                      <a:rPr kumimoji="1" lang="zh-CN" altLang="en-US" i="1" smtClean="0">
                        <a:latin typeface="Cambria Math" panose="02040503050406030204" pitchFamily="18" charset="0"/>
                        <a:ea typeface="KaiTi" panose="02010609060101010101" pitchFamily="49" charset="-122"/>
                      </a:rPr>
                      <m:t>∈</m:t>
                    </m:r>
                  </m:oMath>
                </a14:m>
                <a:r>
                  <a:rPr kumimoji="1" lang="en-US" altLang="zh-CN" dirty="0">
                    <a:latin typeface="KaiTi" panose="02010609060101010101" pitchFamily="49" charset="-122"/>
                    <a:ea typeface="KaiTi" panose="02010609060101010101" pitchFamily="49" charset="-122"/>
                  </a:rPr>
                  <a:t>[𝑀𝐼𝑁, 𝑀𝐴𝑋]</a:t>
                </a:r>
                <a:r>
                  <a:rPr kumimoji="1" lang="zh-CN" altLang="en-US" dirty="0">
                    <a:latin typeface="KaiTi" panose="02010609060101010101" pitchFamily="49" charset="-122"/>
                    <a:ea typeface="KaiTi" panose="02010609060101010101" pitchFamily="49" charset="-122"/>
                  </a:rPr>
                  <a:t>且</a:t>
                </a:r>
                <a:r>
                  <a:rPr kumimoji="1" lang="en" altLang="zh-CN" dirty="0">
                    <a:latin typeface="KaiTi" panose="02010609060101010101" pitchFamily="49" charset="-122"/>
                    <a:ea typeface="KaiTi" panose="02010609060101010101" pitchFamily="49" charset="-122"/>
                  </a:rPr>
                  <a:t>BGP</a:t>
                </a:r>
                <a:r>
                  <a:rPr kumimoji="1" lang="zh-CN" altLang="en" dirty="0">
                    <a:latin typeface="KaiTi" panose="02010609060101010101" pitchFamily="49" charset="-122"/>
                    <a:ea typeface="KaiTi" panose="02010609060101010101" pitchFamily="49" charset="-122"/>
                  </a:rPr>
                  <a:t>基于</a:t>
                </a:r>
                <a:r>
                  <a:rPr kumimoji="1" lang="en" altLang="zh-CN" dirty="0">
                    <a:latin typeface="KaiTi" panose="02010609060101010101" pitchFamily="49" charset="-122"/>
                    <a:ea typeface="KaiTi" panose="02010609060101010101" pitchFamily="49" charset="-122"/>
                  </a:rPr>
                  <a:t>AS</a:t>
                </a:r>
                <a:r>
                  <a:rPr kumimoji="1" lang="zh-CN" altLang="en-US" dirty="0">
                    <a:latin typeface="KaiTi" panose="02010609060101010101" pitchFamily="49" charset="-122"/>
                    <a:ea typeface="KaiTi" panose="02010609060101010101" pitchFamily="49" charset="-122"/>
                  </a:rPr>
                  <a:t>路径长度选路时，最大</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最小轮询能够能够完整识别该客户端通往所有站点路径。</a:t>
                </a:r>
              </a:p>
            </p:txBody>
          </p:sp>
        </mc:Choice>
        <mc:Fallback xmlns="">
          <p:sp>
            <p:nvSpPr>
              <p:cNvPr id="28" name="文本框 27">
                <a:extLst>
                  <a:ext uri="{FF2B5EF4-FFF2-40B4-BE49-F238E27FC236}">
                    <a16:creationId xmlns:a16="http://schemas.microsoft.com/office/drawing/2014/main" id="{E2E358EA-CE35-C045-A8AA-EA715F67757B}"/>
                  </a:ext>
                </a:extLst>
              </p:cNvPr>
              <p:cNvSpPr txBox="1">
                <a:spLocks noRot="1" noChangeAspect="1" noMove="1" noResize="1" noEditPoints="1" noAdjustHandles="1" noChangeArrowheads="1" noChangeShapeType="1" noTextEdit="1"/>
              </p:cNvSpPr>
              <p:nvPr/>
            </p:nvSpPr>
            <p:spPr>
              <a:xfrm>
                <a:off x="8085762" y="1690688"/>
                <a:ext cx="3801438" cy="1754326"/>
              </a:xfrm>
              <a:prstGeom prst="rect">
                <a:avLst/>
              </a:prstGeom>
              <a:blipFill>
                <a:blip r:embed="rId6"/>
                <a:stretch>
                  <a:fillRect l="-1329" t="-2143" b="-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1AD7282C-4D54-D446-BCE9-A8FC109FC568}"/>
                  </a:ext>
                </a:extLst>
              </p:cNvPr>
              <p:cNvSpPr txBox="1"/>
              <p:nvPr/>
            </p:nvSpPr>
            <p:spPr>
              <a:xfrm>
                <a:off x="8102466" y="3883033"/>
                <a:ext cx="3801438" cy="923330"/>
              </a:xfrm>
              <a:prstGeom prst="rect">
                <a:avLst/>
              </a:prstGeom>
              <a:noFill/>
            </p:spPr>
            <p:txBody>
              <a:bodyPr wrap="square" rtlCol="0">
                <a:spAutoFit/>
              </a:bodyPr>
              <a:lstStyle/>
              <a:p>
                <a:r>
                  <a:rPr kumimoji="1" lang="zh-CN" altLang="en-US" dirty="0"/>
                  <a:t>定理二：</a:t>
                </a:r>
                <a:r>
                  <a:rPr kumimoji="1" lang="zh-CN" altLang="en-US" dirty="0">
                    <a:latin typeface="KaiTi" panose="02010609060101010101" pitchFamily="49" charset="-122"/>
                    <a:ea typeface="KaiTi" panose="02010609060101010101" pitchFamily="49" charset="-122"/>
                  </a:rPr>
                  <a:t>给定客户端，其在任意两条路径选择间存在唯一一个阈值</a:t>
                </a:r>
                <a14:m>
                  <m:oMath xmlns:m="http://schemas.openxmlformats.org/officeDocument/2006/math">
                    <m:r>
                      <a:rPr kumimoji="1" lang="zh-CN" altLang="en-US" i="1" smtClean="0">
                        <a:latin typeface="Cambria Math" panose="02040503050406030204" pitchFamily="18" charset="0"/>
                        <a:ea typeface="KaiTi" panose="02010609060101010101" pitchFamily="49" charset="-122"/>
                      </a:rPr>
                      <m:t>∆</m:t>
                    </m:r>
                    <m:sSup>
                      <m:sSupPr>
                        <m:ctrlPr>
                          <a:rPr kumimoji="1" lang="en-US" altLang="zh-CN" i="1" smtClean="0">
                            <a:latin typeface="Cambria Math" panose="02040503050406030204" pitchFamily="18" charset="0"/>
                            <a:ea typeface="KaiTi" panose="02010609060101010101" pitchFamily="49" charset="-122"/>
                          </a:rPr>
                        </m:ctrlPr>
                      </m:sSupPr>
                      <m:e>
                        <m:r>
                          <a:rPr kumimoji="1" lang="en-US" altLang="zh-CN" b="0" i="1" smtClean="0">
                            <a:latin typeface="Cambria Math" panose="02040503050406030204" pitchFamily="18" charset="0"/>
                            <a:ea typeface="KaiTi" panose="02010609060101010101" pitchFamily="49" charset="-122"/>
                          </a:rPr>
                          <m:t>𝑠</m:t>
                        </m:r>
                      </m:e>
                      <m:sup>
                        <m:r>
                          <a:rPr kumimoji="1" lang="en-US" altLang="zh-CN" b="0" i="1" smtClean="0">
                            <a:latin typeface="Cambria Math" panose="02040503050406030204" pitchFamily="18" charset="0"/>
                            <a:ea typeface="KaiTi" panose="02010609060101010101" pitchFamily="49" charset="-122"/>
                          </a:rPr>
                          <m:t>∗</m:t>
                        </m:r>
                      </m:sup>
                    </m:sSup>
                  </m:oMath>
                </a14:m>
                <a:r>
                  <a:rPr kumimoji="1" lang="zh-CN" altLang="en-US" dirty="0">
                    <a:latin typeface="KaiTi" panose="02010609060101010101" pitchFamily="49" charset="-122"/>
                    <a:ea typeface="KaiTi" panose="02010609060101010101" pitchFamily="49" charset="-122"/>
                  </a:rPr>
                  <a:t>，阈值两边选路不同。</a:t>
                </a:r>
              </a:p>
            </p:txBody>
          </p:sp>
        </mc:Choice>
        <mc:Fallback xmlns="">
          <p:sp>
            <p:nvSpPr>
              <p:cNvPr id="78" name="文本框 77">
                <a:extLst>
                  <a:ext uri="{FF2B5EF4-FFF2-40B4-BE49-F238E27FC236}">
                    <a16:creationId xmlns:a16="http://schemas.microsoft.com/office/drawing/2014/main" id="{1AD7282C-4D54-D446-BCE9-A8FC109FC568}"/>
                  </a:ext>
                </a:extLst>
              </p:cNvPr>
              <p:cNvSpPr txBox="1">
                <a:spLocks noRot="1" noChangeAspect="1" noMove="1" noResize="1" noEditPoints="1" noAdjustHandles="1" noChangeArrowheads="1" noChangeShapeType="1" noTextEdit="1"/>
              </p:cNvSpPr>
              <p:nvPr/>
            </p:nvSpPr>
            <p:spPr>
              <a:xfrm>
                <a:off x="8102466" y="3883033"/>
                <a:ext cx="3801438" cy="923330"/>
              </a:xfrm>
              <a:prstGeom prst="rect">
                <a:avLst/>
              </a:prstGeom>
              <a:blipFill>
                <a:blip r:embed="rId7"/>
                <a:stretch>
                  <a:fillRect l="-997" t="-5405" r="-7309" b="-94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968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dissolve">
                                      <p:cBhvr>
                                        <p:cTn id="15" dur="500"/>
                                        <p:tgtEl>
                                          <p:spTgt spid="70"/>
                                        </p:tgtEl>
                                      </p:cBhvr>
                                    </p:animEffect>
                                  </p:childTnLst>
                                </p:cTn>
                              </p:par>
                              <p:par>
                                <p:cTn id="16" presetID="9" presetClass="entr" presetSubtype="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dissolve">
                                      <p:cBhvr>
                                        <p:cTn id="18" dur="500"/>
                                        <p:tgtEl>
                                          <p:spTgt spid="7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dissolve">
                                      <p:cBhvr>
                                        <p:cTn id="23" dur="500"/>
                                        <p:tgtEl>
                                          <p:spTgt spid="72"/>
                                        </p:tgtEl>
                                      </p:cBhvr>
                                    </p:animEffect>
                                  </p:childTnLst>
                                </p:cTn>
                              </p:par>
                              <p:par>
                                <p:cTn id="24" presetID="9" presetClass="entr" presetSubtype="0" fill="hold"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dissolve">
                                      <p:cBhvr>
                                        <p:cTn id="2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0" grpId="0" animBg="1"/>
      <p:bldP spid="7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a:xfrm>
            <a:off x="681380" y="324059"/>
            <a:ext cx="10515600" cy="1325563"/>
          </a:xfrm>
        </p:spPr>
        <p:txBody>
          <a:bodyPr/>
          <a:lstStyle/>
          <a:p>
            <a:r>
              <a:rPr kumimoji="1" lang="zh-CN" altLang="en-US" b="1" dirty="0">
                <a:latin typeface="Microsoft YaHei" panose="020B0503020204020204" pitchFamily="34" charset="-122"/>
                <a:ea typeface="Microsoft YaHei" panose="020B0503020204020204" pitchFamily="34" charset="-122"/>
              </a:rPr>
              <a:t>研究内容：约束求解及冲突化解</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16</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EDDF2E6E-6E5E-5145-BA3D-2A3803F9C8EE}"/>
              </a:ext>
            </a:extLst>
          </p:cNvPr>
          <p:cNvPicPr>
            <a:picLocks noChangeAspect="1"/>
          </p:cNvPicPr>
          <p:nvPr/>
        </p:nvPicPr>
        <p:blipFill>
          <a:blip r:embed="rId3"/>
          <a:stretch>
            <a:fillRect/>
          </a:stretch>
        </p:blipFill>
        <p:spPr>
          <a:xfrm>
            <a:off x="154113" y="1458686"/>
            <a:ext cx="7528515" cy="2200401"/>
          </a:xfrm>
          <a:prstGeom prst="rect">
            <a:avLst/>
          </a:prstGeom>
        </p:spPr>
      </p:pic>
      <p:cxnSp>
        <p:nvCxnSpPr>
          <p:cNvPr id="8" name="直线箭头连接符 7">
            <a:extLst>
              <a:ext uri="{FF2B5EF4-FFF2-40B4-BE49-F238E27FC236}">
                <a16:creationId xmlns:a16="http://schemas.microsoft.com/office/drawing/2014/main" id="{C683F193-6EC8-9645-A0BC-FE4E87159259}"/>
              </a:ext>
            </a:extLst>
          </p:cNvPr>
          <p:cNvCxnSpPr/>
          <p:nvPr/>
        </p:nvCxnSpPr>
        <p:spPr>
          <a:xfrm flipH="1">
            <a:off x="2373330" y="3596441"/>
            <a:ext cx="441789" cy="49316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DA6CCD4-EDC2-6940-88BE-0A3A13CB0540}"/>
                  </a:ext>
                </a:extLst>
              </p:cNvPr>
              <p:cNvSpPr txBox="1"/>
              <p:nvPr/>
            </p:nvSpPr>
            <p:spPr>
              <a:xfrm>
                <a:off x="431514" y="4017196"/>
                <a:ext cx="5024063" cy="1231106"/>
              </a:xfrm>
              <a:prstGeom prst="rect">
                <a:avLst/>
              </a:prstGeom>
              <a:noFill/>
            </p:spPr>
            <p:txBody>
              <a:bodyPr wrap="square" rtlCol="0">
                <a:spAutoFit/>
              </a:bodyPr>
              <a:lstStyle/>
              <a:p>
                <a:r>
                  <a:rPr kumimoji="1" lang="zh-CN" altLang="en-US" sz="1400" dirty="0"/>
                  <a:t>客户端甲：</a:t>
                </a:r>
                <a:r>
                  <a:rPr kumimoji="1" lang="en-US" altLang="zh-CN" sz="1400" dirty="0"/>
                  <a:t> ASPP</a:t>
                </a:r>
                <a:r>
                  <a:rPr kumimoji="1" lang="en-US" altLang="zh-CN" sz="1400" baseline="-25000" dirty="0"/>
                  <a:t>B</a:t>
                </a:r>
                <a:r>
                  <a:rPr kumimoji="1" lang="en-US" altLang="zh-CN" sz="1400" dirty="0"/>
                  <a:t> </a:t>
                </a:r>
                <a14:m>
                  <m:oMath xmlns:m="http://schemas.openxmlformats.org/officeDocument/2006/math">
                    <m:r>
                      <a:rPr kumimoji="1" lang="en-US" altLang="zh-CN" sz="1400" i="1" smtClean="0">
                        <a:latin typeface="Cambria Math" panose="02040503050406030204" pitchFamily="18" charset="0"/>
                        <a:ea typeface="Cambria Math" panose="02040503050406030204" pitchFamily="18" charset="0"/>
                      </a:rPr>
                      <m:t>≥</m:t>
                    </m:r>
                  </m:oMath>
                </a14:m>
                <a:r>
                  <a:rPr kumimoji="1" lang="en-US" altLang="zh-CN" sz="1400" dirty="0"/>
                  <a:t> ASPP</a:t>
                </a:r>
                <a:r>
                  <a:rPr kumimoji="1" lang="en-US" altLang="zh-CN" sz="1400" baseline="-25000" dirty="0"/>
                  <a:t>A </a:t>
                </a:r>
                <a:r>
                  <a:rPr kumimoji="1" lang="en-US" altLang="zh-CN" sz="1400" dirty="0"/>
                  <a:t>, ASPP</a:t>
                </a:r>
                <a:r>
                  <a:rPr kumimoji="1" lang="en-US" altLang="zh-CN" sz="1400" baseline="-25000" dirty="0"/>
                  <a:t>B</a:t>
                </a:r>
                <a:r>
                  <a:rPr kumimoji="1" lang="en-US" altLang="zh-CN" sz="1400" dirty="0"/>
                  <a:t> &gt; ASPP</a:t>
                </a:r>
                <a:r>
                  <a:rPr kumimoji="1" lang="en-US" altLang="zh-CN" sz="1400" baseline="-25000" dirty="0"/>
                  <a:t>C</a:t>
                </a:r>
                <a:r>
                  <a:rPr kumimoji="1" lang="en-US" altLang="zh-CN" sz="1400" dirty="0"/>
                  <a:t> + 9 …</a:t>
                </a:r>
              </a:p>
              <a:p>
                <a:r>
                  <a:rPr kumimoji="1" lang="zh-CN" altLang="en-US" sz="1400" dirty="0"/>
                  <a:t>客户端乙：</a:t>
                </a:r>
                <a:r>
                  <a:rPr kumimoji="1" lang="en-US" altLang="zh-CN" sz="1400" dirty="0"/>
                  <a:t> ASPP</a:t>
                </a:r>
                <a:r>
                  <a:rPr kumimoji="1" lang="en-US" altLang="zh-CN" sz="1400" baseline="-25000" dirty="0"/>
                  <a:t>A</a:t>
                </a:r>
                <a:r>
                  <a:rPr kumimoji="1" lang="en-US" altLang="zh-CN" sz="1400" dirty="0"/>
                  <a:t> &gt; ASPP</a:t>
                </a:r>
                <a:r>
                  <a:rPr kumimoji="1" lang="en-US" altLang="zh-CN" sz="1400" baseline="-25000" dirty="0"/>
                  <a:t>B</a:t>
                </a:r>
                <a:r>
                  <a:rPr kumimoji="1" lang="en-US" altLang="zh-CN" sz="1400" dirty="0"/>
                  <a:t> + 9, ASPP</a:t>
                </a:r>
                <a:r>
                  <a:rPr kumimoji="1" lang="en-US" altLang="zh-CN" sz="1400" baseline="-25000" dirty="0"/>
                  <a:t>A </a:t>
                </a:r>
                <a:r>
                  <a:rPr kumimoji="1" lang="en-US" altLang="zh-CN" sz="1400" dirty="0"/>
                  <a:t>&gt; ASPP</a:t>
                </a:r>
                <a:r>
                  <a:rPr kumimoji="1" lang="en-US" altLang="zh-CN" sz="1400" baseline="-25000" dirty="0"/>
                  <a:t>D</a:t>
                </a:r>
                <a:r>
                  <a:rPr kumimoji="1" lang="en-US" altLang="zh-CN" sz="1400" dirty="0"/>
                  <a:t>  … </a:t>
                </a:r>
              </a:p>
              <a:p>
                <a:r>
                  <a:rPr kumimoji="1" lang="zh-CN" altLang="en-US" sz="1400" dirty="0"/>
                  <a:t>客户端丙：</a:t>
                </a:r>
                <a:r>
                  <a:rPr kumimoji="1" lang="en-US" altLang="zh-CN" sz="1400" dirty="0"/>
                  <a:t> ASPP</a:t>
                </a:r>
                <a:r>
                  <a:rPr kumimoji="1" lang="en-US" altLang="zh-CN" sz="1400" baseline="-25000" dirty="0"/>
                  <a:t>C</a:t>
                </a:r>
                <a:r>
                  <a:rPr kumimoji="1" lang="en-US" altLang="zh-CN" sz="1400" dirty="0"/>
                  <a:t> &gt; ASPP</a:t>
                </a:r>
                <a:r>
                  <a:rPr kumimoji="1" lang="en-US" altLang="zh-CN" sz="1400" baseline="-25000" dirty="0"/>
                  <a:t>E</a:t>
                </a:r>
                <a:r>
                  <a:rPr kumimoji="1" lang="en-US" altLang="zh-CN" sz="1400" dirty="0"/>
                  <a:t>  …</a:t>
                </a:r>
              </a:p>
              <a:p>
                <a:r>
                  <a:rPr kumimoji="1" lang="zh-CN" altLang="en-US" sz="1400" dirty="0"/>
                  <a:t>客户端丁：</a:t>
                </a:r>
                <a:r>
                  <a:rPr kumimoji="1" lang="en-US" altLang="zh-CN" sz="1400" dirty="0"/>
                  <a:t> ASPP</a:t>
                </a:r>
                <a:r>
                  <a:rPr kumimoji="1" lang="en-US" altLang="zh-CN" sz="1400" baseline="-25000" dirty="0"/>
                  <a:t>D</a:t>
                </a:r>
                <a:r>
                  <a:rPr kumimoji="1" lang="en-US" altLang="zh-CN" sz="1400" dirty="0"/>
                  <a:t> &gt; ASPP</a:t>
                </a:r>
                <a:r>
                  <a:rPr kumimoji="1" lang="en-US" altLang="zh-CN" sz="1400" baseline="-25000" dirty="0"/>
                  <a:t>F</a:t>
                </a:r>
                <a:r>
                  <a:rPr kumimoji="1" lang="en-US" altLang="zh-CN" sz="1400" dirty="0"/>
                  <a:t> … </a:t>
                </a:r>
              </a:p>
              <a:p>
                <a:r>
                  <a:rPr kumimoji="1" lang="en-US" altLang="zh-CN" dirty="0"/>
                  <a:t>		…</a:t>
                </a:r>
                <a:endParaRPr kumimoji="1" lang="zh-CN" altLang="en-US" dirty="0"/>
              </a:p>
            </p:txBody>
          </p:sp>
        </mc:Choice>
        <mc:Fallback xmlns="">
          <p:sp>
            <p:nvSpPr>
              <p:cNvPr id="14" name="文本框 13">
                <a:extLst>
                  <a:ext uri="{FF2B5EF4-FFF2-40B4-BE49-F238E27FC236}">
                    <a16:creationId xmlns:a16="http://schemas.microsoft.com/office/drawing/2014/main" id="{5DA6CCD4-EDC2-6940-88BE-0A3A13CB0540}"/>
                  </a:ext>
                </a:extLst>
              </p:cNvPr>
              <p:cNvSpPr txBox="1">
                <a:spLocks noRot="1" noChangeAspect="1" noMove="1" noResize="1" noEditPoints="1" noAdjustHandles="1" noChangeArrowheads="1" noChangeShapeType="1" noTextEdit="1"/>
              </p:cNvSpPr>
              <p:nvPr/>
            </p:nvSpPr>
            <p:spPr>
              <a:xfrm>
                <a:off x="431514" y="4017196"/>
                <a:ext cx="5024063" cy="1231106"/>
              </a:xfrm>
              <a:prstGeom prst="rect">
                <a:avLst/>
              </a:prstGeom>
              <a:blipFill>
                <a:blip r:embed="rId4"/>
                <a:stretch>
                  <a:fillRect l="-505" t="-1020" b="-7143"/>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AEC21EE0-E1C8-FA4A-BFC8-17432938120A}"/>
              </a:ext>
            </a:extLst>
          </p:cNvPr>
          <p:cNvSpPr txBox="1"/>
          <p:nvPr/>
        </p:nvSpPr>
        <p:spPr>
          <a:xfrm>
            <a:off x="694000" y="5248328"/>
            <a:ext cx="3224370" cy="369332"/>
          </a:xfrm>
          <a:prstGeom prst="rect">
            <a:avLst/>
          </a:prstGeom>
          <a:noFill/>
        </p:spPr>
        <p:txBody>
          <a:bodyPr wrap="square">
            <a:spAutoFit/>
          </a:bodyPr>
          <a:lstStyle/>
          <a:p>
            <a:r>
              <a:rPr lang="zh-CN" altLang="en-US" b="1" dirty="0"/>
              <a:t>最大可满足问题（Max-SAT</a:t>
            </a:r>
            <a:r>
              <a:rPr lang="zh-CN" altLang="en-US" dirty="0"/>
              <a:t>）</a:t>
            </a:r>
          </a:p>
        </p:txBody>
      </p:sp>
      <p:sp>
        <p:nvSpPr>
          <p:cNvPr id="27" name="箭头: 右 52">
            <a:extLst>
              <a:ext uri="{FF2B5EF4-FFF2-40B4-BE49-F238E27FC236}">
                <a16:creationId xmlns:a16="http://schemas.microsoft.com/office/drawing/2014/main" id="{C4225ACF-013F-6D46-AD9B-F0DCECE7F493}"/>
              </a:ext>
            </a:extLst>
          </p:cNvPr>
          <p:cNvSpPr/>
          <p:nvPr/>
        </p:nvSpPr>
        <p:spPr>
          <a:xfrm>
            <a:off x="4021136" y="4581617"/>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6F722F4-BF0F-EF46-A118-C8E0D6CBEEF1}"/>
              </a:ext>
            </a:extLst>
          </p:cNvPr>
          <p:cNvSpPr/>
          <p:nvPr/>
        </p:nvSpPr>
        <p:spPr>
          <a:xfrm>
            <a:off x="1407560" y="4017196"/>
            <a:ext cx="1099334" cy="28767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椭圆 28">
            <a:extLst>
              <a:ext uri="{FF2B5EF4-FFF2-40B4-BE49-F238E27FC236}">
                <a16:creationId xmlns:a16="http://schemas.microsoft.com/office/drawing/2014/main" id="{F0087A9A-7344-ED43-B202-8A2FBD61838E}"/>
              </a:ext>
            </a:extLst>
          </p:cNvPr>
          <p:cNvSpPr/>
          <p:nvPr/>
        </p:nvSpPr>
        <p:spPr>
          <a:xfrm>
            <a:off x="1407560" y="4242191"/>
            <a:ext cx="1335640" cy="28767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AF4AC5B-AAFE-324F-9BAD-AF0FB89AADFD}"/>
                  </a:ext>
                </a:extLst>
              </p:cNvPr>
              <p:cNvSpPr txBox="1"/>
              <p:nvPr/>
            </p:nvSpPr>
            <p:spPr>
              <a:xfrm>
                <a:off x="4387521" y="3886639"/>
                <a:ext cx="1731941" cy="369332"/>
              </a:xfrm>
              <a:prstGeom prst="rect">
                <a:avLst/>
              </a:prstGeom>
              <a:noFill/>
            </p:spPr>
            <p:txBody>
              <a:bodyPr wrap="square" rtlCol="0">
                <a:spAutoFit/>
              </a:bodyPr>
              <a:lstStyle/>
              <a:p>
                <a:r>
                  <a:rPr kumimoji="1" lang="en-US" altLang="zh-CN" sz="1800" dirty="0"/>
                  <a:t>ASPP</a:t>
                </a:r>
                <a:r>
                  <a:rPr kumimoji="1" lang="en-US" altLang="zh-CN" sz="1800" baseline="-25000" dirty="0"/>
                  <a:t>B</a:t>
                </a:r>
                <a:r>
                  <a:rPr kumimoji="1" lang="en-US" altLang="zh-CN" sz="1400" dirty="0"/>
                  <a:t> </a:t>
                </a:r>
                <a14:m>
                  <m:oMath xmlns:m="http://schemas.openxmlformats.org/officeDocument/2006/math">
                    <m:r>
                      <a:rPr kumimoji="1" lang="en-US" altLang="zh-CN" sz="1400" i="1" smtClean="0">
                        <a:latin typeface="Cambria Math" panose="02040503050406030204" pitchFamily="18" charset="0"/>
                        <a:ea typeface="Cambria Math" panose="02040503050406030204" pitchFamily="18" charset="0"/>
                      </a:rPr>
                      <m:t>≥</m:t>
                    </m:r>
                  </m:oMath>
                </a14:m>
                <a:r>
                  <a:rPr kumimoji="1" lang="en-US" altLang="zh-CN" sz="1400" dirty="0"/>
                  <a:t> </a:t>
                </a:r>
                <a:r>
                  <a:rPr kumimoji="1" lang="en-US" altLang="zh-CN" sz="1800" dirty="0"/>
                  <a:t>ASPP</a:t>
                </a:r>
                <a:r>
                  <a:rPr kumimoji="1" lang="en-US" altLang="zh-CN" sz="1800" baseline="-25000" dirty="0"/>
                  <a:t>A</a:t>
                </a:r>
                <a:r>
                  <a:rPr kumimoji="1" lang="zh-CN" altLang="en-US" dirty="0"/>
                  <a:t>：</a:t>
                </a:r>
              </a:p>
            </p:txBody>
          </p:sp>
        </mc:Choice>
        <mc:Fallback xmlns="">
          <p:sp>
            <p:nvSpPr>
              <p:cNvPr id="19" name="文本框 18">
                <a:extLst>
                  <a:ext uri="{FF2B5EF4-FFF2-40B4-BE49-F238E27FC236}">
                    <a16:creationId xmlns:a16="http://schemas.microsoft.com/office/drawing/2014/main" id="{DAF4AC5B-AAFE-324F-9BAD-AF0FB89AADFD}"/>
                  </a:ext>
                </a:extLst>
              </p:cNvPr>
              <p:cNvSpPr txBox="1">
                <a:spLocks noRot="1" noChangeAspect="1" noMove="1" noResize="1" noEditPoints="1" noAdjustHandles="1" noChangeArrowheads="1" noChangeShapeType="1" noTextEdit="1"/>
              </p:cNvSpPr>
              <p:nvPr/>
            </p:nvSpPr>
            <p:spPr>
              <a:xfrm>
                <a:off x="4387521" y="3886639"/>
                <a:ext cx="1731941" cy="369332"/>
              </a:xfrm>
              <a:prstGeom prst="rect">
                <a:avLst/>
              </a:prstGeom>
              <a:blipFill>
                <a:blip r:embed="rId5"/>
                <a:stretch>
                  <a:fillRect l="-2920" t="-10000" r="-2920" b="-23333"/>
                </a:stretch>
              </a:blipFill>
            </p:spPr>
            <p:txBody>
              <a:bodyPr/>
              <a:lstStyle/>
              <a:p>
                <a:r>
                  <a:rPr lang="zh-CN" altLang="en-US">
                    <a:noFill/>
                  </a:rPr>
                  <a:t> </a:t>
                </a:r>
              </a:p>
            </p:txBody>
          </p:sp>
        </mc:Fallback>
      </mc:AlternateContent>
      <p:pic>
        <p:nvPicPr>
          <p:cNvPr id="34" name="Picture 60">
            <a:extLst>
              <a:ext uri="{FF2B5EF4-FFF2-40B4-BE49-F238E27FC236}">
                <a16:creationId xmlns:a16="http://schemas.microsoft.com/office/drawing/2014/main" id="{B195E401-1FF4-6344-BB39-DB829AA21CFC}"/>
              </a:ext>
            </a:extLst>
          </p:cNvPr>
          <p:cNvPicPr>
            <a:picLocks noChangeAspect="1"/>
          </p:cNvPicPr>
          <p:nvPr/>
        </p:nvPicPr>
        <p:blipFill>
          <a:blip r:embed="rId6"/>
          <a:stretch>
            <a:fillRect/>
          </a:stretch>
        </p:blipFill>
        <p:spPr>
          <a:xfrm>
            <a:off x="6319118" y="3987891"/>
            <a:ext cx="241714" cy="241714"/>
          </a:xfrm>
          <a:prstGeom prst="rect">
            <a:avLst/>
          </a:prstGeom>
        </p:spPr>
      </p:pic>
      <p:pic>
        <p:nvPicPr>
          <p:cNvPr id="35" name="Picture 61">
            <a:extLst>
              <a:ext uri="{FF2B5EF4-FFF2-40B4-BE49-F238E27FC236}">
                <a16:creationId xmlns:a16="http://schemas.microsoft.com/office/drawing/2014/main" id="{60B90747-3F26-CD41-B921-F6C363AB9D5C}"/>
              </a:ext>
            </a:extLst>
          </p:cNvPr>
          <p:cNvPicPr>
            <a:picLocks noChangeAspect="1"/>
          </p:cNvPicPr>
          <p:nvPr/>
        </p:nvPicPr>
        <p:blipFill>
          <a:blip r:embed="rId7"/>
          <a:stretch>
            <a:fillRect/>
          </a:stretch>
        </p:blipFill>
        <p:spPr>
          <a:xfrm>
            <a:off x="6771248" y="3992325"/>
            <a:ext cx="253488" cy="188306"/>
          </a:xfrm>
          <a:prstGeom prst="rect">
            <a:avLst/>
          </a:prstGeom>
        </p:spPr>
      </p:pic>
      <p:cxnSp>
        <p:nvCxnSpPr>
          <p:cNvPr id="36" name="Straight Connector 62">
            <a:extLst>
              <a:ext uri="{FF2B5EF4-FFF2-40B4-BE49-F238E27FC236}">
                <a16:creationId xmlns:a16="http://schemas.microsoft.com/office/drawing/2014/main" id="{4D20026D-85DC-1E41-9157-6B97522664D2}"/>
              </a:ext>
            </a:extLst>
          </p:cNvPr>
          <p:cNvCxnSpPr>
            <a:cxnSpLocks/>
          </p:cNvCxnSpPr>
          <p:nvPr/>
        </p:nvCxnSpPr>
        <p:spPr>
          <a:xfrm>
            <a:off x="6560098" y="4086478"/>
            <a:ext cx="190602"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7" name="TextBox 58">
            <a:extLst>
              <a:ext uri="{FF2B5EF4-FFF2-40B4-BE49-F238E27FC236}">
                <a16:creationId xmlns:a16="http://schemas.microsoft.com/office/drawing/2014/main" id="{44A006FE-9AF7-874D-BBE7-2AB64C21A3D1}"/>
              </a:ext>
            </a:extLst>
          </p:cNvPr>
          <p:cNvSpPr txBox="1"/>
          <p:nvPr/>
        </p:nvSpPr>
        <p:spPr>
          <a:xfrm>
            <a:off x="4351664" y="4250118"/>
            <a:ext cx="1484406" cy="430887"/>
          </a:xfrm>
          <a:prstGeom prst="rect">
            <a:avLst/>
          </a:prstGeom>
          <a:noFill/>
        </p:spPr>
        <p:txBody>
          <a:bodyPr wrap="square" rtlCol="0">
            <a:spAutoFit/>
          </a:bodyPr>
          <a:lstStyle/>
          <a:p>
            <a:r>
              <a:rPr lang="en-US" altLang="zh-CN" sz="1100" dirty="0">
                <a:solidFill>
                  <a:schemeClr val="accent1"/>
                </a:solidFill>
              </a:rPr>
              <a:t>ASPP</a:t>
            </a:r>
            <a:r>
              <a:rPr lang="en-US" altLang="zh-CN" sz="1100" baseline="-25000" dirty="0">
                <a:solidFill>
                  <a:schemeClr val="accent1"/>
                </a:solidFill>
              </a:rPr>
              <a:t>A</a:t>
            </a:r>
            <a:r>
              <a:rPr lang="en-US" altLang="zh-CN" sz="1100" dirty="0">
                <a:solidFill>
                  <a:schemeClr val="accent1"/>
                </a:solidFill>
              </a:rPr>
              <a:t> = 9, ASPP</a:t>
            </a:r>
            <a:r>
              <a:rPr lang="en-US" altLang="zh-CN" sz="1100" baseline="-25000" dirty="0">
                <a:solidFill>
                  <a:schemeClr val="accent1"/>
                </a:solidFill>
              </a:rPr>
              <a:t>B</a:t>
            </a:r>
            <a:r>
              <a:rPr lang="en-US" altLang="zh-CN" sz="1100" dirty="0">
                <a:solidFill>
                  <a:schemeClr val="accent1"/>
                </a:solidFill>
              </a:rPr>
              <a:t> = 9</a:t>
            </a:r>
          </a:p>
          <a:p>
            <a:r>
              <a:rPr lang="en-US" sz="1100" dirty="0">
                <a:solidFill>
                  <a:schemeClr val="accent2"/>
                </a:solidFill>
              </a:rPr>
              <a:t>ASPP</a:t>
            </a:r>
            <a:r>
              <a:rPr lang="en-US" sz="1100" baseline="-25000" dirty="0">
                <a:solidFill>
                  <a:schemeClr val="accent2"/>
                </a:solidFill>
              </a:rPr>
              <a:t>A</a:t>
            </a:r>
            <a:r>
              <a:rPr lang="en-US" sz="1100" dirty="0">
                <a:solidFill>
                  <a:schemeClr val="accent2"/>
                </a:solidFill>
              </a:rPr>
              <a:t> = 9, ASPP</a:t>
            </a:r>
            <a:r>
              <a:rPr lang="en-US" sz="1100" baseline="-25000" dirty="0">
                <a:solidFill>
                  <a:schemeClr val="accent2"/>
                </a:solidFill>
              </a:rPr>
              <a:t>B</a:t>
            </a:r>
            <a:r>
              <a:rPr lang="en-US" sz="1100" dirty="0">
                <a:solidFill>
                  <a:schemeClr val="accent2"/>
                </a:solidFill>
              </a:rPr>
              <a:t> = 0</a:t>
            </a:r>
          </a:p>
        </p:txBody>
      </p:sp>
      <p:pic>
        <p:nvPicPr>
          <p:cNvPr id="48" name="Picture 24">
            <a:extLst>
              <a:ext uri="{FF2B5EF4-FFF2-40B4-BE49-F238E27FC236}">
                <a16:creationId xmlns:a16="http://schemas.microsoft.com/office/drawing/2014/main" id="{FED6BD85-BE02-F142-8D68-73C30E450574}"/>
              </a:ext>
            </a:extLst>
          </p:cNvPr>
          <p:cNvPicPr>
            <a:picLocks noChangeAspect="1"/>
          </p:cNvPicPr>
          <p:nvPr/>
        </p:nvPicPr>
        <p:blipFill>
          <a:blip r:embed="rId8"/>
          <a:stretch>
            <a:fillRect/>
          </a:stretch>
        </p:blipFill>
        <p:spPr>
          <a:xfrm>
            <a:off x="7106509" y="4435779"/>
            <a:ext cx="358631" cy="266411"/>
          </a:xfrm>
          <a:prstGeom prst="rect">
            <a:avLst/>
          </a:prstGeom>
        </p:spPr>
      </p:pic>
      <p:cxnSp>
        <p:nvCxnSpPr>
          <p:cNvPr id="49" name="Straight Connector 26">
            <a:extLst>
              <a:ext uri="{FF2B5EF4-FFF2-40B4-BE49-F238E27FC236}">
                <a16:creationId xmlns:a16="http://schemas.microsoft.com/office/drawing/2014/main" id="{385DD0B2-165C-9049-8629-1095C9E90719}"/>
              </a:ext>
            </a:extLst>
          </p:cNvPr>
          <p:cNvCxnSpPr>
            <a:cxnSpLocks/>
          </p:cNvCxnSpPr>
          <p:nvPr/>
        </p:nvCxnSpPr>
        <p:spPr>
          <a:xfrm>
            <a:off x="6737047" y="4299689"/>
            <a:ext cx="371502" cy="22160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Oval 69">
            <a:extLst>
              <a:ext uri="{FF2B5EF4-FFF2-40B4-BE49-F238E27FC236}">
                <a16:creationId xmlns:a16="http://schemas.microsoft.com/office/drawing/2014/main" id="{5DB0969D-D099-E146-A51C-3AFAD1D291DA}"/>
              </a:ext>
            </a:extLst>
          </p:cNvPr>
          <p:cNvSpPr/>
          <p:nvPr/>
        </p:nvSpPr>
        <p:spPr>
          <a:xfrm>
            <a:off x="6176874" y="3872128"/>
            <a:ext cx="931675" cy="434818"/>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72">
            <a:extLst>
              <a:ext uri="{FF2B5EF4-FFF2-40B4-BE49-F238E27FC236}">
                <a16:creationId xmlns:a16="http://schemas.microsoft.com/office/drawing/2014/main" id="{713EE531-9880-2842-AB79-ED8A6F6625B3}"/>
              </a:ext>
            </a:extLst>
          </p:cNvPr>
          <p:cNvCxnSpPr>
            <a:cxnSpLocks/>
            <a:stCxn id="66" idx="4"/>
          </p:cNvCxnSpPr>
          <p:nvPr/>
        </p:nvCxnSpPr>
        <p:spPr>
          <a:xfrm flipH="1">
            <a:off x="7438332" y="4307928"/>
            <a:ext cx="361216" cy="195252"/>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pic>
        <p:nvPicPr>
          <p:cNvPr id="63" name="Picture 60">
            <a:extLst>
              <a:ext uri="{FF2B5EF4-FFF2-40B4-BE49-F238E27FC236}">
                <a16:creationId xmlns:a16="http://schemas.microsoft.com/office/drawing/2014/main" id="{E2D2B068-4765-6247-9A56-53ED8BCD82BE}"/>
              </a:ext>
            </a:extLst>
          </p:cNvPr>
          <p:cNvPicPr>
            <a:picLocks noChangeAspect="1"/>
          </p:cNvPicPr>
          <p:nvPr/>
        </p:nvPicPr>
        <p:blipFill>
          <a:blip r:embed="rId6"/>
          <a:stretch>
            <a:fillRect/>
          </a:stretch>
        </p:blipFill>
        <p:spPr>
          <a:xfrm>
            <a:off x="7475954" y="3988873"/>
            <a:ext cx="241714" cy="241714"/>
          </a:xfrm>
          <a:prstGeom prst="rect">
            <a:avLst/>
          </a:prstGeom>
        </p:spPr>
      </p:pic>
      <p:pic>
        <p:nvPicPr>
          <p:cNvPr id="64" name="Picture 61">
            <a:extLst>
              <a:ext uri="{FF2B5EF4-FFF2-40B4-BE49-F238E27FC236}">
                <a16:creationId xmlns:a16="http://schemas.microsoft.com/office/drawing/2014/main" id="{8DF4219C-BB8D-474B-8EA3-34DC7C7D8112}"/>
              </a:ext>
            </a:extLst>
          </p:cNvPr>
          <p:cNvPicPr>
            <a:picLocks noChangeAspect="1"/>
          </p:cNvPicPr>
          <p:nvPr/>
        </p:nvPicPr>
        <p:blipFill>
          <a:blip r:embed="rId7"/>
          <a:stretch>
            <a:fillRect/>
          </a:stretch>
        </p:blipFill>
        <p:spPr>
          <a:xfrm>
            <a:off x="7928084" y="3993307"/>
            <a:ext cx="253488" cy="188306"/>
          </a:xfrm>
          <a:prstGeom prst="rect">
            <a:avLst/>
          </a:prstGeom>
        </p:spPr>
      </p:pic>
      <p:cxnSp>
        <p:nvCxnSpPr>
          <p:cNvPr id="65" name="Straight Connector 62">
            <a:extLst>
              <a:ext uri="{FF2B5EF4-FFF2-40B4-BE49-F238E27FC236}">
                <a16:creationId xmlns:a16="http://schemas.microsoft.com/office/drawing/2014/main" id="{666227A5-A071-E045-8D8D-C3F29CF810E2}"/>
              </a:ext>
            </a:extLst>
          </p:cNvPr>
          <p:cNvCxnSpPr>
            <a:cxnSpLocks/>
          </p:cNvCxnSpPr>
          <p:nvPr/>
        </p:nvCxnSpPr>
        <p:spPr>
          <a:xfrm>
            <a:off x="7716934" y="4087460"/>
            <a:ext cx="190602"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66" name="Oval 69">
            <a:extLst>
              <a:ext uri="{FF2B5EF4-FFF2-40B4-BE49-F238E27FC236}">
                <a16:creationId xmlns:a16="http://schemas.microsoft.com/office/drawing/2014/main" id="{9E19A646-1613-C449-AC48-87D265A53F8C}"/>
              </a:ext>
            </a:extLst>
          </p:cNvPr>
          <p:cNvSpPr/>
          <p:nvPr/>
        </p:nvSpPr>
        <p:spPr>
          <a:xfrm>
            <a:off x="7333710" y="3873110"/>
            <a:ext cx="931675" cy="434818"/>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文本框 68">
            <a:extLst>
              <a:ext uri="{FF2B5EF4-FFF2-40B4-BE49-F238E27FC236}">
                <a16:creationId xmlns:a16="http://schemas.microsoft.com/office/drawing/2014/main" id="{CCE60C99-E88E-304A-8323-91918066D173}"/>
              </a:ext>
            </a:extLst>
          </p:cNvPr>
          <p:cNvSpPr txBox="1"/>
          <p:nvPr/>
        </p:nvSpPr>
        <p:spPr>
          <a:xfrm>
            <a:off x="4284325" y="5214648"/>
            <a:ext cx="2129678" cy="369332"/>
          </a:xfrm>
          <a:prstGeom prst="rect">
            <a:avLst/>
          </a:prstGeom>
          <a:noFill/>
        </p:spPr>
        <p:txBody>
          <a:bodyPr wrap="square" rtlCol="0">
            <a:spAutoFit/>
          </a:bodyPr>
          <a:lstStyle/>
          <a:p>
            <a:r>
              <a:rPr kumimoji="1" lang="en-US" altLang="zh-CN" sz="1800" dirty="0"/>
              <a:t>ASPP</a:t>
            </a:r>
            <a:r>
              <a:rPr kumimoji="1" lang="en-US" altLang="zh-CN" baseline="-25000" dirty="0"/>
              <a:t>A</a:t>
            </a:r>
            <a:r>
              <a:rPr kumimoji="1" lang="en-US" altLang="zh-CN" sz="1800" dirty="0"/>
              <a:t> &gt; ASPP</a:t>
            </a:r>
            <a:r>
              <a:rPr kumimoji="1" lang="en-US" altLang="zh-CN" baseline="-25000" dirty="0"/>
              <a:t>B</a:t>
            </a:r>
            <a:r>
              <a:rPr kumimoji="1" lang="zh-CN" altLang="en-US" baseline="-25000" dirty="0"/>
              <a:t> </a:t>
            </a:r>
            <a:r>
              <a:rPr kumimoji="1" lang="en-US" altLang="zh-CN" dirty="0"/>
              <a:t>+</a:t>
            </a:r>
            <a:r>
              <a:rPr kumimoji="1" lang="zh-CN" altLang="en-US" dirty="0"/>
              <a:t> </a:t>
            </a:r>
            <a:r>
              <a:rPr kumimoji="1" lang="en-US" altLang="zh-CN" dirty="0"/>
              <a:t>9</a:t>
            </a:r>
            <a:r>
              <a:rPr kumimoji="1" lang="zh-CN" altLang="en-US" dirty="0"/>
              <a:t>：</a:t>
            </a:r>
          </a:p>
        </p:txBody>
      </p:sp>
      <p:pic>
        <p:nvPicPr>
          <p:cNvPr id="74" name="Picture 60">
            <a:extLst>
              <a:ext uri="{FF2B5EF4-FFF2-40B4-BE49-F238E27FC236}">
                <a16:creationId xmlns:a16="http://schemas.microsoft.com/office/drawing/2014/main" id="{20155E95-FBCD-654B-8749-0C9BCCECFA48}"/>
              </a:ext>
            </a:extLst>
          </p:cNvPr>
          <p:cNvPicPr>
            <a:picLocks noChangeAspect="1"/>
          </p:cNvPicPr>
          <p:nvPr/>
        </p:nvPicPr>
        <p:blipFill>
          <a:blip r:embed="rId6"/>
          <a:stretch>
            <a:fillRect/>
          </a:stretch>
        </p:blipFill>
        <p:spPr>
          <a:xfrm>
            <a:off x="6369938" y="5315183"/>
            <a:ext cx="241714" cy="241714"/>
          </a:xfrm>
          <a:prstGeom prst="rect">
            <a:avLst/>
          </a:prstGeom>
        </p:spPr>
      </p:pic>
      <p:pic>
        <p:nvPicPr>
          <p:cNvPr id="75" name="Picture 61">
            <a:extLst>
              <a:ext uri="{FF2B5EF4-FFF2-40B4-BE49-F238E27FC236}">
                <a16:creationId xmlns:a16="http://schemas.microsoft.com/office/drawing/2014/main" id="{6133EA76-92DA-1F41-9210-CFE07BBE0CE2}"/>
              </a:ext>
            </a:extLst>
          </p:cNvPr>
          <p:cNvPicPr>
            <a:picLocks noChangeAspect="1"/>
          </p:cNvPicPr>
          <p:nvPr/>
        </p:nvPicPr>
        <p:blipFill>
          <a:blip r:embed="rId7"/>
          <a:stretch>
            <a:fillRect/>
          </a:stretch>
        </p:blipFill>
        <p:spPr>
          <a:xfrm>
            <a:off x="6822068" y="5319617"/>
            <a:ext cx="253488" cy="188306"/>
          </a:xfrm>
          <a:prstGeom prst="rect">
            <a:avLst/>
          </a:prstGeom>
        </p:spPr>
      </p:pic>
      <p:cxnSp>
        <p:nvCxnSpPr>
          <p:cNvPr id="76" name="Straight Connector 62">
            <a:extLst>
              <a:ext uri="{FF2B5EF4-FFF2-40B4-BE49-F238E27FC236}">
                <a16:creationId xmlns:a16="http://schemas.microsoft.com/office/drawing/2014/main" id="{11FF30E0-28D2-F942-AC13-2AC527703377}"/>
              </a:ext>
            </a:extLst>
          </p:cNvPr>
          <p:cNvCxnSpPr>
            <a:cxnSpLocks/>
          </p:cNvCxnSpPr>
          <p:nvPr/>
        </p:nvCxnSpPr>
        <p:spPr>
          <a:xfrm>
            <a:off x="6610918" y="5413770"/>
            <a:ext cx="190602"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77" name="TextBox 58">
            <a:extLst>
              <a:ext uri="{FF2B5EF4-FFF2-40B4-BE49-F238E27FC236}">
                <a16:creationId xmlns:a16="http://schemas.microsoft.com/office/drawing/2014/main" id="{6A3DC9BB-19CD-F74A-AAFC-182CC97ECBFB}"/>
              </a:ext>
            </a:extLst>
          </p:cNvPr>
          <p:cNvSpPr txBox="1"/>
          <p:nvPr/>
        </p:nvSpPr>
        <p:spPr>
          <a:xfrm>
            <a:off x="6389154" y="4938640"/>
            <a:ext cx="550883" cy="261610"/>
          </a:xfrm>
          <a:prstGeom prst="rect">
            <a:avLst/>
          </a:prstGeom>
          <a:noFill/>
        </p:spPr>
        <p:txBody>
          <a:bodyPr wrap="square" rtlCol="0">
            <a:spAutoFit/>
          </a:bodyPr>
          <a:lstStyle/>
          <a:p>
            <a:r>
              <a:rPr lang="en-US" sz="1100" dirty="0" err="1"/>
              <a:t>站点A</a:t>
            </a:r>
            <a:endParaRPr lang="en-US" sz="1100" dirty="0"/>
          </a:p>
        </p:txBody>
      </p:sp>
      <p:pic>
        <p:nvPicPr>
          <p:cNvPr id="79" name="Picture 24">
            <a:extLst>
              <a:ext uri="{FF2B5EF4-FFF2-40B4-BE49-F238E27FC236}">
                <a16:creationId xmlns:a16="http://schemas.microsoft.com/office/drawing/2014/main" id="{9F7CBEE5-93D1-954E-8E54-A4A09AE09705}"/>
              </a:ext>
            </a:extLst>
          </p:cNvPr>
          <p:cNvPicPr>
            <a:picLocks noChangeAspect="1"/>
          </p:cNvPicPr>
          <p:nvPr/>
        </p:nvPicPr>
        <p:blipFill>
          <a:blip r:embed="rId8"/>
          <a:stretch>
            <a:fillRect/>
          </a:stretch>
        </p:blipFill>
        <p:spPr>
          <a:xfrm>
            <a:off x="7157329" y="5763071"/>
            <a:ext cx="358631" cy="266411"/>
          </a:xfrm>
          <a:prstGeom prst="rect">
            <a:avLst/>
          </a:prstGeom>
          <a:noFill/>
          <a:ln>
            <a:noFill/>
          </a:ln>
        </p:spPr>
      </p:pic>
      <p:cxnSp>
        <p:nvCxnSpPr>
          <p:cNvPr id="80" name="Straight Connector 26">
            <a:extLst>
              <a:ext uri="{FF2B5EF4-FFF2-40B4-BE49-F238E27FC236}">
                <a16:creationId xmlns:a16="http://schemas.microsoft.com/office/drawing/2014/main" id="{2D1B48C1-EF93-A44C-A204-6799FEA30F6F}"/>
              </a:ext>
            </a:extLst>
          </p:cNvPr>
          <p:cNvCxnSpPr>
            <a:cxnSpLocks/>
          </p:cNvCxnSpPr>
          <p:nvPr/>
        </p:nvCxnSpPr>
        <p:spPr>
          <a:xfrm>
            <a:off x="6787867" y="5626981"/>
            <a:ext cx="371502" cy="22160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Oval 69">
            <a:extLst>
              <a:ext uri="{FF2B5EF4-FFF2-40B4-BE49-F238E27FC236}">
                <a16:creationId xmlns:a16="http://schemas.microsoft.com/office/drawing/2014/main" id="{0B9108FE-71BB-4448-8EB1-540EE18AE094}"/>
              </a:ext>
            </a:extLst>
          </p:cNvPr>
          <p:cNvSpPr/>
          <p:nvPr/>
        </p:nvSpPr>
        <p:spPr>
          <a:xfrm>
            <a:off x="6227694" y="5199420"/>
            <a:ext cx="931675" cy="434818"/>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2" name="Straight Connector 72">
            <a:extLst>
              <a:ext uri="{FF2B5EF4-FFF2-40B4-BE49-F238E27FC236}">
                <a16:creationId xmlns:a16="http://schemas.microsoft.com/office/drawing/2014/main" id="{7E930CEC-001A-7841-92CC-B4FAA04A7878}"/>
              </a:ext>
            </a:extLst>
          </p:cNvPr>
          <p:cNvCxnSpPr>
            <a:cxnSpLocks/>
            <a:stCxn id="86" idx="4"/>
          </p:cNvCxnSpPr>
          <p:nvPr/>
        </p:nvCxnSpPr>
        <p:spPr>
          <a:xfrm flipH="1">
            <a:off x="7489152" y="5635220"/>
            <a:ext cx="361216" cy="195252"/>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pic>
        <p:nvPicPr>
          <p:cNvPr id="83" name="Picture 60">
            <a:extLst>
              <a:ext uri="{FF2B5EF4-FFF2-40B4-BE49-F238E27FC236}">
                <a16:creationId xmlns:a16="http://schemas.microsoft.com/office/drawing/2014/main" id="{4B12DE50-B5B2-914D-B531-38D418B88437}"/>
              </a:ext>
            </a:extLst>
          </p:cNvPr>
          <p:cNvPicPr>
            <a:picLocks noChangeAspect="1"/>
          </p:cNvPicPr>
          <p:nvPr/>
        </p:nvPicPr>
        <p:blipFill>
          <a:blip r:embed="rId6"/>
          <a:stretch>
            <a:fillRect/>
          </a:stretch>
        </p:blipFill>
        <p:spPr>
          <a:xfrm>
            <a:off x="7526774" y="5316165"/>
            <a:ext cx="241714" cy="241714"/>
          </a:xfrm>
          <a:prstGeom prst="rect">
            <a:avLst/>
          </a:prstGeom>
        </p:spPr>
      </p:pic>
      <p:pic>
        <p:nvPicPr>
          <p:cNvPr id="84" name="Picture 61">
            <a:extLst>
              <a:ext uri="{FF2B5EF4-FFF2-40B4-BE49-F238E27FC236}">
                <a16:creationId xmlns:a16="http://schemas.microsoft.com/office/drawing/2014/main" id="{89EDBD8D-373B-9247-B4B8-B480A78DBE4A}"/>
              </a:ext>
            </a:extLst>
          </p:cNvPr>
          <p:cNvPicPr>
            <a:picLocks noChangeAspect="1"/>
          </p:cNvPicPr>
          <p:nvPr/>
        </p:nvPicPr>
        <p:blipFill>
          <a:blip r:embed="rId7"/>
          <a:stretch>
            <a:fillRect/>
          </a:stretch>
        </p:blipFill>
        <p:spPr>
          <a:xfrm>
            <a:off x="7978904" y="5320599"/>
            <a:ext cx="253488" cy="188306"/>
          </a:xfrm>
          <a:prstGeom prst="rect">
            <a:avLst/>
          </a:prstGeom>
        </p:spPr>
      </p:pic>
      <p:cxnSp>
        <p:nvCxnSpPr>
          <p:cNvPr id="85" name="Straight Connector 62">
            <a:extLst>
              <a:ext uri="{FF2B5EF4-FFF2-40B4-BE49-F238E27FC236}">
                <a16:creationId xmlns:a16="http://schemas.microsoft.com/office/drawing/2014/main" id="{1AA8C630-CAB0-C14B-882C-AFA4821979F6}"/>
              </a:ext>
            </a:extLst>
          </p:cNvPr>
          <p:cNvCxnSpPr>
            <a:cxnSpLocks/>
          </p:cNvCxnSpPr>
          <p:nvPr/>
        </p:nvCxnSpPr>
        <p:spPr>
          <a:xfrm>
            <a:off x="7767754" y="5414752"/>
            <a:ext cx="190602" cy="0"/>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86" name="Oval 69">
            <a:extLst>
              <a:ext uri="{FF2B5EF4-FFF2-40B4-BE49-F238E27FC236}">
                <a16:creationId xmlns:a16="http://schemas.microsoft.com/office/drawing/2014/main" id="{FEB2DE75-E77E-A14A-82B0-A459D1A261CA}"/>
              </a:ext>
            </a:extLst>
          </p:cNvPr>
          <p:cNvSpPr/>
          <p:nvPr/>
        </p:nvSpPr>
        <p:spPr>
          <a:xfrm>
            <a:off x="7384530" y="5200402"/>
            <a:ext cx="931675" cy="434818"/>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TextBox 58">
            <a:extLst>
              <a:ext uri="{FF2B5EF4-FFF2-40B4-BE49-F238E27FC236}">
                <a16:creationId xmlns:a16="http://schemas.microsoft.com/office/drawing/2014/main" id="{F6A91147-32F4-654F-A96A-CB62E9603780}"/>
              </a:ext>
            </a:extLst>
          </p:cNvPr>
          <p:cNvSpPr txBox="1"/>
          <p:nvPr/>
        </p:nvSpPr>
        <p:spPr>
          <a:xfrm>
            <a:off x="7575313" y="4949365"/>
            <a:ext cx="550883" cy="261610"/>
          </a:xfrm>
          <a:prstGeom prst="rect">
            <a:avLst/>
          </a:prstGeom>
          <a:noFill/>
        </p:spPr>
        <p:txBody>
          <a:bodyPr wrap="square" rtlCol="0">
            <a:spAutoFit/>
          </a:bodyPr>
          <a:lstStyle/>
          <a:p>
            <a:r>
              <a:rPr lang="en-US" sz="1100" dirty="0" err="1"/>
              <a:t>站点</a:t>
            </a:r>
            <a:r>
              <a:rPr lang="en-US" altLang="zh-CN" sz="1100" dirty="0" err="1"/>
              <a:t>B</a:t>
            </a:r>
            <a:endParaRPr lang="en-US" sz="1100" dirty="0"/>
          </a:p>
        </p:txBody>
      </p:sp>
      <p:sp>
        <p:nvSpPr>
          <p:cNvPr id="88" name="TextBox 58">
            <a:extLst>
              <a:ext uri="{FF2B5EF4-FFF2-40B4-BE49-F238E27FC236}">
                <a16:creationId xmlns:a16="http://schemas.microsoft.com/office/drawing/2014/main" id="{1DB1F0F0-6C29-444C-967D-06CE1285001A}"/>
              </a:ext>
            </a:extLst>
          </p:cNvPr>
          <p:cNvSpPr txBox="1"/>
          <p:nvPr/>
        </p:nvSpPr>
        <p:spPr>
          <a:xfrm>
            <a:off x="7133454" y="4677260"/>
            <a:ext cx="358632" cy="261610"/>
          </a:xfrm>
          <a:prstGeom prst="rect">
            <a:avLst/>
          </a:prstGeom>
          <a:noFill/>
        </p:spPr>
        <p:txBody>
          <a:bodyPr wrap="square" rtlCol="0">
            <a:spAutoFit/>
          </a:bodyPr>
          <a:lstStyle/>
          <a:p>
            <a:r>
              <a:rPr lang="en-US" sz="1100" dirty="0" err="1"/>
              <a:t>甲</a:t>
            </a:r>
            <a:endParaRPr lang="en-US" sz="1100" dirty="0"/>
          </a:p>
        </p:txBody>
      </p:sp>
      <p:sp>
        <p:nvSpPr>
          <p:cNvPr id="89" name="TextBox 58">
            <a:extLst>
              <a:ext uri="{FF2B5EF4-FFF2-40B4-BE49-F238E27FC236}">
                <a16:creationId xmlns:a16="http://schemas.microsoft.com/office/drawing/2014/main" id="{0528FA6A-BBF5-C34D-B2E4-E93D285D8B90}"/>
              </a:ext>
            </a:extLst>
          </p:cNvPr>
          <p:cNvSpPr txBox="1"/>
          <p:nvPr/>
        </p:nvSpPr>
        <p:spPr>
          <a:xfrm>
            <a:off x="7168142" y="6022282"/>
            <a:ext cx="358632" cy="261610"/>
          </a:xfrm>
          <a:prstGeom prst="rect">
            <a:avLst/>
          </a:prstGeom>
          <a:noFill/>
        </p:spPr>
        <p:txBody>
          <a:bodyPr wrap="square" rtlCol="0">
            <a:spAutoFit/>
          </a:bodyPr>
          <a:lstStyle/>
          <a:p>
            <a:r>
              <a:rPr lang="en-US" sz="1100" dirty="0" err="1"/>
              <a:t>乙</a:t>
            </a:r>
            <a:endParaRPr lang="en-US" sz="1100" dirty="0"/>
          </a:p>
        </p:txBody>
      </p:sp>
      <p:sp>
        <p:nvSpPr>
          <p:cNvPr id="90" name="TextBox 58">
            <a:extLst>
              <a:ext uri="{FF2B5EF4-FFF2-40B4-BE49-F238E27FC236}">
                <a16:creationId xmlns:a16="http://schemas.microsoft.com/office/drawing/2014/main" id="{C8F9E223-B328-3344-992F-249F24D6E23A}"/>
              </a:ext>
            </a:extLst>
          </p:cNvPr>
          <p:cNvSpPr txBox="1"/>
          <p:nvPr/>
        </p:nvSpPr>
        <p:spPr>
          <a:xfrm>
            <a:off x="7573376" y="3620384"/>
            <a:ext cx="615515" cy="261610"/>
          </a:xfrm>
          <a:prstGeom prst="rect">
            <a:avLst/>
          </a:prstGeom>
          <a:noFill/>
        </p:spPr>
        <p:txBody>
          <a:bodyPr wrap="square" rtlCol="0">
            <a:spAutoFit/>
          </a:bodyPr>
          <a:lstStyle/>
          <a:p>
            <a:r>
              <a:rPr lang="en-US" sz="1100" dirty="0" err="1"/>
              <a:t>站点B</a:t>
            </a:r>
            <a:endParaRPr lang="en-US" sz="1100" dirty="0"/>
          </a:p>
        </p:txBody>
      </p:sp>
      <p:sp>
        <p:nvSpPr>
          <p:cNvPr id="91" name="TextBox 58">
            <a:extLst>
              <a:ext uri="{FF2B5EF4-FFF2-40B4-BE49-F238E27FC236}">
                <a16:creationId xmlns:a16="http://schemas.microsoft.com/office/drawing/2014/main" id="{868AFF6E-240F-0842-A69B-0E69D0B404A7}"/>
              </a:ext>
            </a:extLst>
          </p:cNvPr>
          <p:cNvSpPr txBox="1"/>
          <p:nvPr/>
        </p:nvSpPr>
        <p:spPr>
          <a:xfrm>
            <a:off x="6307283" y="3616469"/>
            <a:ext cx="615515" cy="261610"/>
          </a:xfrm>
          <a:prstGeom prst="rect">
            <a:avLst/>
          </a:prstGeom>
          <a:noFill/>
        </p:spPr>
        <p:txBody>
          <a:bodyPr wrap="square" rtlCol="0">
            <a:spAutoFit/>
          </a:bodyPr>
          <a:lstStyle/>
          <a:p>
            <a:r>
              <a:rPr lang="en-US" sz="1100" dirty="0" err="1"/>
              <a:t>站点A</a:t>
            </a:r>
            <a:endParaRPr lang="en-US" sz="1100" dirty="0"/>
          </a:p>
        </p:txBody>
      </p:sp>
      <p:sp>
        <p:nvSpPr>
          <p:cNvPr id="92" name="TextBox 58">
            <a:extLst>
              <a:ext uri="{FF2B5EF4-FFF2-40B4-BE49-F238E27FC236}">
                <a16:creationId xmlns:a16="http://schemas.microsoft.com/office/drawing/2014/main" id="{4EBA7AF0-D4EF-F549-80E7-A4F9E2B55678}"/>
              </a:ext>
            </a:extLst>
          </p:cNvPr>
          <p:cNvSpPr txBox="1"/>
          <p:nvPr/>
        </p:nvSpPr>
        <p:spPr>
          <a:xfrm>
            <a:off x="4335223" y="5596088"/>
            <a:ext cx="1484406" cy="430887"/>
          </a:xfrm>
          <a:prstGeom prst="rect">
            <a:avLst/>
          </a:prstGeom>
          <a:noFill/>
        </p:spPr>
        <p:txBody>
          <a:bodyPr wrap="square" rtlCol="0">
            <a:spAutoFit/>
          </a:bodyPr>
          <a:lstStyle/>
          <a:p>
            <a:r>
              <a:rPr lang="en-US" altLang="zh-CN" sz="1100" dirty="0">
                <a:solidFill>
                  <a:schemeClr val="accent1"/>
                </a:solidFill>
              </a:rPr>
              <a:t>ASPP</a:t>
            </a:r>
            <a:r>
              <a:rPr lang="en-US" altLang="zh-CN" sz="1100" baseline="-25000" dirty="0">
                <a:solidFill>
                  <a:schemeClr val="accent1"/>
                </a:solidFill>
              </a:rPr>
              <a:t>A</a:t>
            </a:r>
            <a:r>
              <a:rPr lang="en-US" altLang="zh-CN" sz="1100" dirty="0">
                <a:solidFill>
                  <a:schemeClr val="accent1"/>
                </a:solidFill>
              </a:rPr>
              <a:t> = 9, ASPP</a:t>
            </a:r>
            <a:r>
              <a:rPr lang="en-US" altLang="zh-CN" sz="1100" baseline="-25000" dirty="0">
                <a:solidFill>
                  <a:schemeClr val="accent1"/>
                </a:solidFill>
              </a:rPr>
              <a:t>B</a:t>
            </a:r>
            <a:r>
              <a:rPr lang="en-US" altLang="zh-CN" sz="1100" dirty="0">
                <a:solidFill>
                  <a:schemeClr val="accent1"/>
                </a:solidFill>
              </a:rPr>
              <a:t> = 9</a:t>
            </a:r>
          </a:p>
          <a:p>
            <a:r>
              <a:rPr lang="en-US" sz="1100" dirty="0">
                <a:solidFill>
                  <a:schemeClr val="accent2"/>
                </a:solidFill>
              </a:rPr>
              <a:t>ASPP</a:t>
            </a:r>
            <a:r>
              <a:rPr lang="en-US" sz="1100" baseline="-25000" dirty="0">
                <a:solidFill>
                  <a:schemeClr val="accent2"/>
                </a:solidFill>
              </a:rPr>
              <a:t>A</a:t>
            </a:r>
            <a:r>
              <a:rPr lang="en-US" sz="1100" dirty="0">
                <a:solidFill>
                  <a:schemeClr val="accent2"/>
                </a:solidFill>
              </a:rPr>
              <a:t> = 9, ASPP</a:t>
            </a:r>
            <a:r>
              <a:rPr lang="en-US" sz="1100" baseline="-25000" dirty="0">
                <a:solidFill>
                  <a:schemeClr val="accent2"/>
                </a:solidFill>
              </a:rPr>
              <a:t>B</a:t>
            </a:r>
            <a:r>
              <a:rPr lang="en-US" sz="1100" dirty="0">
                <a:solidFill>
                  <a:schemeClr val="accent2"/>
                </a:solidFill>
              </a:rPr>
              <a:t> = 0</a:t>
            </a:r>
          </a:p>
        </p:txBody>
      </p:sp>
      <p:sp>
        <p:nvSpPr>
          <p:cNvPr id="93" name="箭头: 右 52">
            <a:extLst>
              <a:ext uri="{FF2B5EF4-FFF2-40B4-BE49-F238E27FC236}">
                <a16:creationId xmlns:a16="http://schemas.microsoft.com/office/drawing/2014/main" id="{BCF0327E-EEB4-0045-BA31-945FCBE27066}"/>
              </a:ext>
            </a:extLst>
          </p:cNvPr>
          <p:cNvSpPr/>
          <p:nvPr/>
        </p:nvSpPr>
        <p:spPr>
          <a:xfrm>
            <a:off x="8223519" y="4510913"/>
            <a:ext cx="244613" cy="42419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a:extLst>
              <a:ext uri="{FF2B5EF4-FFF2-40B4-BE49-F238E27FC236}">
                <a16:creationId xmlns:a16="http://schemas.microsoft.com/office/drawing/2014/main" id="{FBF22C44-7E52-E148-B415-5FAFDBFCC1FD}"/>
              </a:ext>
            </a:extLst>
          </p:cNvPr>
          <p:cNvPicPr>
            <a:picLocks noChangeAspect="1"/>
          </p:cNvPicPr>
          <p:nvPr/>
        </p:nvPicPr>
        <p:blipFill>
          <a:blip r:embed="rId9"/>
          <a:stretch>
            <a:fillRect/>
          </a:stretch>
        </p:blipFill>
        <p:spPr>
          <a:xfrm>
            <a:off x="8105648" y="1495392"/>
            <a:ext cx="3012089" cy="2126988"/>
          </a:xfrm>
          <a:prstGeom prst="rect">
            <a:avLst/>
          </a:prstGeom>
        </p:spPr>
      </p:pic>
      <p:cxnSp>
        <p:nvCxnSpPr>
          <p:cNvPr id="94" name="直线箭头连接符 93">
            <a:extLst>
              <a:ext uri="{FF2B5EF4-FFF2-40B4-BE49-F238E27FC236}">
                <a16:creationId xmlns:a16="http://schemas.microsoft.com/office/drawing/2014/main" id="{FF5A44E8-5D6F-2646-B8B4-45FD0D20045D}"/>
              </a:ext>
            </a:extLst>
          </p:cNvPr>
          <p:cNvCxnSpPr>
            <a:cxnSpLocks/>
          </p:cNvCxnSpPr>
          <p:nvPr/>
        </p:nvCxnSpPr>
        <p:spPr>
          <a:xfrm flipV="1">
            <a:off x="5253492" y="2180822"/>
            <a:ext cx="2725412" cy="64511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5C92D58D-F175-314B-9993-377B82ED9165}"/>
              </a:ext>
            </a:extLst>
          </p:cNvPr>
          <p:cNvSpPr txBox="1"/>
          <p:nvPr/>
        </p:nvSpPr>
        <p:spPr>
          <a:xfrm>
            <a:off x="8678805" y="4178160"/>
            <a:ext cx="5024063" cy="1231106"/>
          </a:xfrm>
          <a:prstGeom prst="rect">
            <a:avLst/>
          </a:prstGeom>
          <a:noFill/>
        </p:spPr>
        <p:txBody>
          <a:bodyPr wrap="square" rtlCol="0">
            <a:spAutoFit/>
          </a:bodyPr>
          <a:lstStyle/>
          <a:p>
            <a:r>
              <a:rPr kumimoji="1" lang="zh-CN" altLang="en-US" sz="1400" dirty="0"/>
              <a:t>客户端甲：</a:t>
            </a:r>
            <a:r>
              <a:rPr kumimoji="1" lang="en-US" altLang="zh-CN" sz="1400" dirty="0"/>
              <a:t> ASPP</a:t>
            </a:r>
            <a:r>
              <a:rPr kumimoji="1" lang="en-US" altLang="zh-CN" sz="1400" baseline="-25000" dirty="0"/>
              <a:t>B</a:t>
            </a:r>
            <a:r>
              <a:rPr kumimoji="1" lang="en-US" altLang="zh-CN" sz="1400" dirty="0"/>
              <a:t> &gt; ASPP</a:t>
            </a:r>
            <a:r>
              <a:rPr kumimoji="1" lang="en-US" altLang="zh-CN" sz="1400" baseline="-25000" dirty="0"/>
              <a:t>A</a:t>
            </a:r>
            <a:r>
              <a:rPr kumimoji="1" lang="en-US" altLang="zh-CN" sz="1400" dirty="0"/>
              <a:t> -</a:t>
            </a:r>
            <a:r>
              <a:rPr kumimoji="1" lang="en-US" altLang="zh-CN" sz="1400" baseline="-25000" dirty="0"/>
              <a:t> </a:t>
            </a:r>
            <a:r>
              <a:rPr kumimoji="1" lang="en-US" altLang="zh-CN" sz="1400" dirty="0"/>
              <a:t>4 …</a:t>
            </a:r>
          </a:p>
          <a:p>
            <a:r>
              <a:rPr kumimoji="1" lang="zh-CN" altLang="en-US" sz="1400" dirty="0"/>
              <a:t>客户端乙：</a:t>
            </a:r>
            <a:r>
              <a:rPr kumimoji="1" lang="en-US" altLang="zh-CN" sz="1400" dirty="0"/>
              <a:t> ASPP</a:t>
            </a:r>
            <a:r>
              <a:rPr kumimoji="1" lang="en-US" altLang="zh-CN" sz="1400" baseline="-25000" dirty="0"/>
              <a:t>A</a:t>
            </a:r>
            <a:r>
              <a:rPr kumimoji="1" lang="en-US" altLang="zh-CN" sz="1400" dirty="0"/>
              <a:t> &gt; ASPP</a:t>
            </a:r>
            <a:r>
              <a:rPr kumimoji="1" lang="en-US" altLang="zh-CN" sz="1400" baseline="-25000" dirty="0"/>
              <a:t>B</a:t>
            </a:r>
            <a:r>
              <a:rPr kumimoji="1" lang="en-US" altLang="zh-CN" sz="1400" dirty="0"/>
              <a:t> +2 … </a:t>
            </a:r>
          </a:p>
          <a:p>
            <a:r>
              <a:rPr kumimoji="1" lang="zh-CN" altLang="en-US" sz="1400" dirty="0"/>
              <a:t>客户端丙：</a:t>
            </a:r>
            <a:r>
              <a:rPr kumimoji="1" lang="en-US" altLang="zh-CN" sz="1400" dirty="0"/>
              <a:t> ASPP</a:t>
            </a:r>
            <a:r>
              <a:rPr kumimoji="1" lang="en-US" altLang="zh-CN" sz="1400" baseline="-25000" dirty="0"/>
              <a:t>C</a:t>
            </a:r>
            <a:r>
              <a:rPr kumimoji="1" lang="en-US" altLang="zh-CN" sz="1400" dirty="0"/>
              <a:t> &gt; ASPP</a:t>
            </a:r>
            <a:r>
              <a:rPr kumimoji="1" lang="en-US" altLang="zh-CN" sz="1400" baseline="-25000" dirty="0"/>
              <a:t>E</a:t>
            </a:r>
            <a:r>
              <a:rPr kumimoji="1" lang="en-US" altLang="zh-CN" sz="1400" dirty="0"/>
              <a:t>  …</a:t>
            </a:r>
          </a:p>
          <a:p>
            <a:r>
              <a:rPr kumimoji="1" lang="zh-CN" altLang="en-US" sz="1400" dirty="0"/>
              <a:t>客户端丁：</a:t>
            </a:r>
            <a:r>
              <a:rPr kumimoji="1" lang="en-US" altLang="zh-CN" sz="1400" dirty="0"/>
              <a:t> ASPP</a:t>
            </a:r>
            <a:r>
              <a:rPr kumimoji="1" lang="en-US" altLang="zh-CN" sz="1400" baseline="-25000" dirty="0"/>
              <a:t>D</a:t>
            </a:r>
            <a:r>
              <a:rPr kumimoji="1" lang="en-US" altLang="zh-CN" sz="1400" dirty="0"/>
              <a:t> &gt; ASPP</a:t>
            </a:r>
            <a:r>
              <a:rPr kumimoji="1" lang="en-US" altLang="zh-CN" sz="1400" baseline="-25000" dirty="0"/>
              <a:t>F</a:t>
            </a:r>
            <a:r>
              <a:rPr kumimoji="1" lang="en-US" altLang="zh-CN" sz="1400" dirty="0"/>
              <a:t> … </a:t>
            </a:r>
          </a:p>
          <a:p>
            <a:r>
              <a:rPr kumimoji="1" lang="en-US" altLang="zh-CN" dirty="0"/>
              <a:t>		…</a:t>
            </a:r>
            <a:endParaRPr kumimoji="1" lang="zh-CN" altLang="en-US" dirty="0"/>
          </a:p>
        </p:txBody>
      </p:sp>
      <p:cxnSp>
        <p:nvCxnSpPr>
          <p:cNvPr id="98" name="直线箭头连接符 97">
            <a:extLst>
              <a:ext uri="{FF2B5EF4-FFF2-40B4-BE49-F238E27FC236}">
                <a16:creationId xmlns:a16="http://schemas.microsoft.com/office/drawing/2014/main" id="{0B33D91E-8F42-A044-AA14-FADFCE1C6DED}"/>
              </a:ext>
            </a:extLst>
          </p:cNvPr>
          <p:cNvCxnSpPr>
            <a:cxnSpLocks/>
          </p:cNvCxnSpPr>
          <p:nvPr/>
        </p:nvCxnSpPr>
        <p:spPr>
          <a:xfrm>
            <a:off x="6984272" y="3441699"/>
            <a:ext cx="2158339" cy="64364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561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a:xfrm>
            <a:off x="681380" y="324059"/>
            <a:ext cx="10515600" cy="1325563"/>
          </a:xfrm>
        </p:spPr>
        <p:txBody>
          <a:bodyPr/>
          <a:lstStyle/>
          <a:p>
            <a:r>
              <a:rPr kumimoji="1" lang="zh-CN" altLang="en-US" b="1" dirty="0">
                <a:latin typeface="Microsoft YaHei" panose="020B0503020204020204" pitchFamily="34" charset="-122"/>
                <a:ea typeface="Microsoft YaHei" panose="020B0503020204020204" pitchFamily="34" charset="-122"/>
              </a:rPr>
              <a:t>研究结果</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17</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00E1B5C6-84C1-704F-A0F5-DE5D5958A7C6}"/>
              </a:ext>
            </a:extLst>
          </p:cNvPr>
          <p:cNvPicPr>
            <a:picLocks noChangeAspect="1"/>
          </p:cNvPicPr>
          <p:nvPr/>
        </p:nvPicPr>
        <p:blipFill>
          <a:blip r:embed="rId3"/>
          <a:stretch>
            <a:fillRect/>
          </a:stretch>
        </p:blipFill>
        <p:spPr>
          <a:xfrm>
            <a:off x="572357" y="2294202"/>
            <a:ext cx="4800600" cy="2971800"/>
          </a:xfrm>
          <a:prstGeom prst="rect">
            <a:avLst/>
          </a:prstGeom>
        </p:spPr>
      </p:pic>
      <p:sp>
        <p:nvSpPr>
          <p:cNvPr id="9" name="文本框 8">
            <a:extLst>
              <a:ext uri="{FF2B5EF4-FFF2-40B4-BE49-F238E27FC236}">
                <a16:creationId xmlns:a16="http://schemas.microsoft.com/office/drawing/2014/main" id="{597535C2-D046-6448-A2C2-5CEAE37BA607}"/>
              </a:ext>
            </a:extLst>
          </p:cNvPr>
          <p:cNvSpPr txBox="1"/>
          <p:nvPr/>
        </p:nvSpPr>
        <p:spPr>
          <a:xfrm>
            <a:off x="681380" y="1726058"/>
            <a:ext cx="4897487" cy="369332"/>
          </a:xfrm>
          <a:prstGeom prst="rect">
            <a:avLst/>
          </a:prstGeom>
          <a:noFill/>
        </p:spPr>
        <p:txBody>
          <a:bodyPr wrap="square" rtlCol="0">
            <a:spAutoFit/>
          </a:bodyPr>
          <a:lstStyle/>
          <a:p>
            <a:r>
              <a:rPr kumimoji="1" lang="zh-CN" altLang="en-US" b="1" dirty="0"/>
              <a:t>通过路径约束条件预测客户端接入情况准确性</a:t>
            </a:r>
          </a:p>
        </p:txBody>
      </p:sp>
      <p:sp>
        <p:nvSpPr>
          <p:cNvPr id="10" name="文本框 9">
            <a:extLst>
              <a:ext uri="{FF2B5EF4-FFF2-40B4-BE49-F238E27FC236}">
                <a16:creationId xmlns:a16="http://schemas.microsoft.com/office/drawing/2014/main" id="{EE519D0C-EED3-2C47-AC37-3B41E0AB0063}"/>
              </a:ext>
            </a:extLst>
          </p:cNvPr>
          <p:cNvSpPr txBox="1"/>
          <p:nvPr/>
        </p:nvSpPr>
        <p:spPr>
          <a:xfrm>
            <a:off x="592905" y="5399314"/>
            <a:ext cx="5503663" cy="58477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随着站点数量增加，预测准确率呈现渐进式下降趋势</a:t>
            </a:r>
            <a:endParaRPr kumimoji="1" lang="en-US" altLang="zh-CN" sz="1600" dirty="0"/>
          </a:p>
          <a:p>
            <a:pPr marL="285750" indent="-285750">
              <a:buFont typeface="Arial" panose="020B0604020202020204" pitchFamily="34" charset="0"/>
              <a:buChar char="•"/>
            </a:pPr>
            <a:r>
              <a:rPr kumimoji="1" lang="zh-CN" altLang="en-US" sz="1600" dirty="0"/>
              <a:t>所有测试场景中，预测准确率均稳定高于 </a:t>
            </a:r>
            <a:r>
              <a:rPr kumimoji="1" lang="en-US" altLang="zh-CN" sz="1600" dirty="0"/>
              <a:t>0.8</a:t>
            </a:r>
            <a:endParaRPr kumimoji="1" lang="zh-CN" altLang="en-US" sz="1600" dirty="0"/>
          </a:p>
        </p:txBody>
      </p:sp>
      <p:pic>
        <p:nvPicPr>
          <p:cNvPr id="11" name="图片 10">
            <a:extLst>
              <a:ext uri="{FF2B5EF4-FFF2-40B4-BE49-F238E27FC236}">
                <a16:creationId xmlns:a16="http://schemas.microsoft.com/office/drawing/2014/main" id="{9A6FBF7E-20A8-6D4E-96BB-C6EC01523EF6}"/>
              </a:ext>
            </a:extLst>
          </p:cNvPr>
          <p:cNvPicPr>
            <a:picLocks noChangeAspect="1"/>
          </p:cNvPicPr>
          <p:nvPr/>
        </p:nvPicPr>
        <p:blipFill>
          <a:blip r:embed="rId4"/>
          <a:stretch>
            <a:fillRect/>
          </a:stretch>
        </p:blipFill>
        <p:spPr>
          <a:xfrm>
            <a:off x="5771508" y="2593314"/>
            <a:ext cx="5678184" cy="2204826"/>
          </a:xfrm>
          <a:prstGeom prst="rect">
            <a:avLst/>
          </a:prstGeom>
        </p:spPr>
      </p:pic>
      <p:sp>
        <p:nvSpPr>
          <p:cNvPr id="55" name="文本框 54">
            <a:extLst>
              <a:ext uri="{FF2B5EF4-FFF2-40B4-BE49-F238E27FC236}">
                <a16:creationId xmlns:a16="http://schemas.microsoft.com/office/drawing/2014/main" id="{E626FC8A-5C0F-3F4E-A7D0-725F8B2DFF30}"/>
              </a:ext>
            </a:extLst>
          </p:cNvPr>
          <p:cNvSpPr txBox="1"/>
          <p:nvPr/>
        </p:nvSpPr>
        <p:spPr>
          <a:xfrm>
            <a:off x="6456313" y="1669984"/>
            <a:ext cx="4897487" cy="923330"/>
          </a:xfrm>
          <a:prstGeom prst="rect">
            <a:avLst/>
          </a:prstGeom>
          <a:noFill/>
        </p:spPr>
        <p:txBody>
          <a:bodyPr wrap="square" rtlCol="0">
            <a:spAutoFit/>
          </a:bodyPr>
          <a:lstStyle/>
          <a:p>
            <a:r>
              <a:rPr kumimoji="1" lang="zh-CN" altLang="en-US" b="1" dirty="0"/>
              <a:t>基于国家维度的相似度对比（相似度表示实际客户端</a:t>
            </a:r>
            <a:r>
              <a:rPr kumimoji="1" lang="en-US" altLang="zh-CN" b="1" dirty="0"/>
              <a:t>-</a:t>
            </a:r>
            <a:r>
              <a:rPr kumimoji="1" lang="zh-CN" altLang="en-US" b="1" dirty="0"/>
              <a:t>站点映射矩阵与理论最优映射矩阵的相似性）</a:t>
            </a:r>
          </a:p>
        </p:txBody>
      </p:sp>
      <p:sp>
        <p:nvSpPr>
          <p:cNvPr id="56" name="文本框 55">
            <a:extLst>
              <a:ext uri="{FF2B5EF4-FFF2-40B4-BE49-F238E27FC236}">
                <a16:creationId xmlns:a16="http://schemas.microsoft.com/office/drawing/2014/main" id="{128608C6-9BA8-1F4B-9C57-821563E026C8}"/>
              </a:ext>
            </a:extLst>
          </p:cNvPr>
          <p:cNvSpPr txBox="1"/>
          <p:nvPr/>
        </p:nvSpPr>
        <p:spPr>
          <a:xfrm>
            <a:off x="5856200" y="5234913"/>
            <a:ext cx="6097712" cy="830997"/>
          </a:xfrm>
          <a:prstGeom prst="rect">
            <a:avLst/>
          </a:prstGeom>
          <a:noFill/>
        </p:spPr>
        <p:txBody>
          <a:bodyPr wrap="square">
            <a:spAutoFit/>
          </a:bodyPr>
          <a:lstStyle/>
          <a:p>
            <a:pPr marL="285750" indent="-285750">
              <a:buFont typeface="Arial" panose="020B0604020202020204" pitchFamily="34" charset="0"/>
              <a:buChar char="•"/>
            </a:pPr>
            <a:r>
              <a:rPr lang="zh-CN" altLang="en-US" sz="1600" dirty="0"/>
              <a:t>AnyPro 优化后的任播网络在全球范围内呈现出显著的性能提升</a:t>
            </a:r>
            <a:endParaRPr lang="en-US" altLang="zh-CN" sz="1600" dirty="0"/>
          </a:p>
          <a:p>
            <a:pPr marL="285750" indent="-285750">
              <a:buFont typeface="Arial" panose="020B0604020202020204" pitchFamily="34" charset="0"/>
              <a:buChar char="•"/>
            </a:pPr>
            <a:r>
              <a:rPr lang="zh-CN" altLang="en-US" sz="1600" dirty="0"/>
              <a:t>部分国家的相似度指标在优化后出现了下降现象（如缅甸、白俄罗斯）</a:t>
            </a:r>
          </a:p>
        </p:txBody>
      </p:sp>
    </p:spTree>
    <p:extLst>
      <p:ext uri="{BB962C8B-B14F-4D97-AF65-F5344CB8AC3E}">
        <p14:creationId xmlns:p14="http://schemas.microsoft.com/office/powerpoint/2010/main" val="3302728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a:xfrm>
            <a:off x="681380" y="324059"/>
            <a:ext cx="10515600" cy="1325563"/>
          </a:xfrm>
        </p:spPr>
        <p:txBody>
          <a:bodyPr/>
          <a:lstStyle/>
          <a:p>
            <a:r>
              <a:rPr kumimoji="1" lang="zh-CN" altLang="en-US" b="1" dirty="0">
                <a:latin typeface="Microsoft YaHei" panose="020B0503020204020204" pitchFamily="34" charset="-122"/>
                <a:ea typeface="Microsoft YaHei" panose="020B0503020204020204" pitchFamily="34" charset="-122"/>
              </a:rPr>
              <a:t>研究结果</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18</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0B56EE66-7CDD-C040-8037-BA7A3FD7E9FC}"/>
              </a:ext>
            </a:extLst>
          </p:cNvPr>
          <p:cNvPicPr>
            <a:picLocks noChangeAspect="1"/>
          </p:cNvPicPr>
          <p:nvPr/>
        </p:nvPicPr>
        <p:blipFill>
          <a:blip r:embed="rId3"/>
          <a:stretch>
            <a:fillRect/>
          </a:stretch>
        </p:blipFill>
        <p:spPr>
          <a:xfrm>
            <a:off x="4838230" y="1571702"/>
            <a:ext cx="5742684" cy="3566509"/>
          </a:xfrm>
          <a:prstGeom prst="rect">
            <a:avLst/>
          </a:prstGeom>
        </p:spPr>
      </p:pic>
      <p:sp>
        <p:nvSpPr>
          <p:cNvPr id="8" name="文本框 7">
            <a:extLst>
              <a:ext uri="{FF2B5EF4-FFF2-40B4-BE49-F238E27FC236}">
                <a16:creationId xmlns:a16="http://schemas.microsoft.com/office/drawing/2014/main" id="{A13839BA-C83B-DC41-B457-312D727F6EAE}"/>
              </a:ext>
            </a:extLst>
          </p:cNvPr>
          <p:cNvSpPr txBox="1"/>
          <p:nvPr/>
        </p:nvSpPr>
        <p:spPr>
          <a:xfrm>
            <a:off x="595901" y="1710790"/>
            <a:ext cx="3441843" cy="4098879"/>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kumimoji="1" lang="zh-CN" altLang="en-US" b="1" dirty="0"/>
              <a:t>基础配置</a:t>
            </a:r>
            <a:r>
              <a:rPr kumimoji="1" lang="zh-CN" altLang="en-US" dirty="0"/>
              <a:t>：</a:t>
            </a:r>
            <a:r>
              <a:rPr kumimoji="1" lang="zh-CN" altLang="en-US" sz="1600" dirty="0"/>
              <a:t>该配置采用全站点任播部署模式；</a:t>
            </a:r>
            <a:endParaRPr kumimoji="1" lang="en-US" altLang="zh-CN" sz="1600" dirty="0"/>
          </a:p>
          <a:p>
            <a:pPr marL="285750" indent="-285750">
              <a:lnSpc>
                <a:spcPct val="120000"/>
              </a:lnSpc>
              <a:buFont typeface="Arial" panose="020B0604020202020204" pitchFamily="34" charset="0"/>
              <a:buChar char="•"/>
            </a:pPr>
            <a:r>
              <a:rPr kumimoji="1" lang="en" altLang="zh-CN" b="1" dirty="0" err="1"/>
              <a:t>AnyPro</a:t>
            </a:r>
            <a:r>
              <a:rPr kumimoji="1" lang="zh-CN" altLang="en" b="1" dirty="0"/>
              <a:t>（</a:t>
            </a:r>
            <a:r>
              <a:rPr kumimoji="1" lang="zh-CN" altLang="en-US" b="1" dirty="0"/>
              <a:t>基础版）</a:t>
            </a:r>
            <a:r>
              <a:rPr kumimoji="1" lang="zh-CN" altLang="en-US" dirty="0"/>
              <a:t>：</a:t>
            </a:r>
            <a:r>
              <a:rPr kumimoji="1" lang="zh-CN" altLang="en-US" sz="1600" dirty="0"/>
              <a:t>此版本基于最大</a:t>
            </a:r>
            <a:r>
              <a:rPr kumimoji="1" lang="en-US" altLang="zh-CN" sz="1600" dirty="0"/>
              <a:t>-</a:t>
            </a:r>
            <a:r>
              <a:rPr kumimoji="1" lang="zh-CN" altLang="en-US" sz="1600" dirty="0"/>
              <a:t>最小轮询机制生成的初始路径约束条件构建；</a:t>
            </a:r>
            <a:endParaRPr kumimoji="1" lang="en-US" altLang="zh-CN" sz="1600" dirty="0"/>
          </a:p>
          <a:p>
            <a:pPr marL="285750" indent="-285750">
              <a:lnSpc>
                <a:spcPct val="120000"/>
              </a:lnSpc>
              <a:buFont typeface="Arial" panose="020B0604020202020204" pitchFamily="34" charset="0"/>
              <a:buChar char="•"/>
            </a:pPr>
            <a:r>
              <a:rPr kumimoji="1" lang="en" altLang="zh-CN" b="1" dirty="0" err="1"/>
              <a:t>AnyPro</a:t>
            </a:r>
            <a:r>
              <a:rPr kumimoji="1" lang="zh-CN" altLang="en" b="1" dirty="0"/>
              <a:t>（</a:t>
            </a:r>
            <a:r>
              <a:rPr kumimoji="1" lang="zh-CN" altLang="en-US" b="1" dirty="0"/>
              <a:t>最终版）</a:t>
            </a:r>
            <a:r>
              <a:rPr kumimoji="1" lang="zh-CN" altLang="en-US" dirty="0"/>
              <a:t>：</a:t>
            </a:r>
            <a:r>
              <a:rPr kumimoji="1" lang="zh-CN" altLang="en-US" sz="1600" dirty="0"/>
              <a:t>该版本通过完整的 </a:t>
            </a:r>
            <a:r>
              <a:rPr kumimoji="1" lang="en" altLang="zh-CN" sz="1600" dirty="0" err="1"/>
              <a:t>AnyPro</a:t>
            </a:r>
            <a:r>
              <a:rPr kumimoji="1" lang="en" altLang="zh-CN" sz="1600" dirty="0"/>
              <a:t> </a:t>
            </a:r>
            <a:r>
              <a:rPr kumimoji="1" lang="zh-CN" altLang="en-US" sz="1600" dirty="0"/>
              <a:t>流程生成</a:t>
            </a:r>
            <a:endParaRPr kumimoji="1" lang="en-US" altLang="zh-CN" sz="1600" dirty="0"/>
          </a:p>
          <a:p>
            <a:pPr marL="285750" indent="-285750">
              <a:lnSpc>
                <a:spcPct val="120000"/>
              </a:lnSpc>
              <a:buFont typeface="Arial" panose="020B0604020202020204" pitchFamily="34" charset="0"/>
              <a:buChar char="•"/>
            </a:pPr>
            <a:r>
              <a:rPr kumimoji="1" lang="en" altLang="zh-CN" b="1" dirty="0" err="1"/>
              <a:t>AnyOpt</a:t>
            </a:r>
            <a:r>
              <a:rPr kumimoji="1" lang="zh-CN" altLang="en" dirty="0"/>
              <a:t>：</a:t>
            </a:r>
            <a:r>
              <a:rPr kumimoji="1" lang="zh-CN" altLang="en-US" sz="1600" dirty="0"/>
              <a:t>已有工作挑选任播站点子集</a:t>
            </a:r>
            <a:endParaRPr kumimoji="1" lang="en-US" altLang="zh-CN" sz="1600" dirty="0"/>
          </a:p>
          <a:p>
            <a:pPr marL="285750" indent="-285750">
              <a:lnSpc>
                <a:spcPct val="120000"/>
              </a:lnSpc>
              <a:buFont typeface="Arial" panose="020B0604020202020204" pitchFamily="34" charset="0"/>
              <a:buChar char="•"/>
            </a:pPr>
            <a:r>
              <a:rPr kumimoji="1" lang="en" altLang="zh-CN" b="1" dirty="0" err="1"/>
              <a:t>AnyOpt+AnyPro</a:t>
            </a:r>
            <a:r>
              <a:rPr kumimoji="1" lang="zh-CN" altLang="en" dirty="0"/>
              <a:t>：</a:t>
            </a:r>
            <a:r>
              <a:rPr kumimoji="1" lang="zh-CN" altLang="en-US" sz="1600" dirty="0"/>
              <a:t>首先基于 </a:t>
            </a:r>
            <a:r>
              <a:rPr kumimoji="1" lang="en" altLang="zh-CN" sz="1600" dirty="0" err="1"/>
              <a:t>AnyOpt</a:t>
            </a:r>
            <a:r>
              <a:rPr kumimoji="1" lang="en" altLang="zh-CN" sz="1600" dirty="0"/>
              <a:t> </a:t>
            </a:r>
            <a:r>
              <a:rPr kumimoji="1" lang="zh-CN" altLang="en-US" sz="1600" dirty="0"/>
              <a:t>算法筛选出进行任播前缀宣告的站点子集，随后在该子集上运行完整的 </a:t>
            </a:r>
            <a:r>
              <a:rPr kumimoji="1" lang="en" altLang="zh-CN" sz="1600" dirty="0" err="1"/>
              <a:t>AnyPro</a:t>
            </a:r>
            <a:r>
              <a:rPr kumimoji="1" lang="en" altLang="zh-CN" sz="1600" dirty="0"/>
              <a:t> </a:t>
            </a:r>
            <a:r>
              <a:rPr kumimoji="1" lang="zh-CN" altLang="en-US" sz="1600" dirty="0"/>
              <a:t>流程</a:t>
            </a:r>
            <a:endParaRPr kumimoji="1" lang="zh-CN" altLang="en-US" dirty="0"/>
          </a:p>
        </p:txBody>
      </p:sp>
      <p:sp>
        <p:nvSpPr>
          <p:cNvPr id="12" name="文本框 11">
            <a:extLst>
              <a:ext uri="{FF2B5EF4-FFF2-40B4-BE49-F238E27FC236}">
                <a16:creationId xmlns:a16="http://schemas.microsoft.com/office/drawing/2014/main" id="{B050F108-C53F-834E-B559-D452805B4EB9}"/>
              </a:ext>
            </a:extLst>
          </p:cNvPr>
          <p:cNvSpPr txBox="1"/>
          <p:nvPr/>
        </p:nvSpPr>
        <p:spPr>
          <a:xfrm>
            <a:off x="4836762" y="5251226"/>
            <a:ext cx="6626832" cy="701731"/>
          </a:xfrm>
          <a:prstGeom prst="rect">
            <a:avLst/>
          </a:prstGeom>
          <a:noFill/>
        </p:spPr>
        <p:txBody>
          <a:bodyPr wrap="square" rtlCol="0">
            <a:spAutoFit/>
          </a:bodyPr>
          <a:lstStyle/>
          <a:p>
            <a:pPr marL="342900" indent="-342900">
              <a:lnSpc>
                <a:spcPct val="120000"/>
              </a:lnSpc>
              <a:buFont typeface="+mj-lt"/>
              <a:buAutoNum type="arabicPeriod"/>
            </a:pPr>
            <a:r>
              <a:rPr kumimoji="1" lang="en-US" altLang="zh-CN" dirty="0" err="1"/>
              <a:t>AnyPro</a:t>
            </a:r>
            <a:r>
              <a:rPr kumimoji="1" lang="zh-CN" altLang="en-US" dirty="0"/>
              <a:t> 基础版和最终版相较于基础配置都有较大提升</a:t>
            </a:r>
            <a:endParaRPr kumimoji="1" lang="en-US" altLang="zh-CN" dirty="0"/>
          </a:p>
          <a:p>
            <a:pPr marL="342900" indent="-342900">
              <a:buFont typeface="+mj-lt"/>
              <a:buAutoNum type="arabicPeriod"/>
            </a:pPr>
            <a:r>
              <a:rPr kumimoji="1" lang="zh-CN" altLang="en-US" dirty="0"/>
              <a:t>采用</a:t>
            </a:r>
            <a:r>
              <a:rPr kumimoji="1" lang="en" altLang="zh-CN" dirty="0" err="1"/>
              <a:t>AnyOpt+AnyPro</a:t>
            </a:r>
            <a:r>
              <a:rPr kumimoji="1" lang="zh-CN" altLang="en-US" dirty="0"/>
              <a:t>组合策略时，网络尾部时延呈现显著优化</a:t>
            </a:r>
          </a:p>
        </p:txBody>
      </p:sp>
    </p:spTree>
    <p:extLst>
      <p:ext uri="{BB962C8B-B14F-4D97-AF65-F5344CB8AC3E}">
        <p14:creationId xmlns:p14="http://schemas.microsoft.com/office/powerpoint/2010/main" val="4111561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目录</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19</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482390A-8D13-2A75-EBB3-68512EEFCF67}"/>
              </a:ext>
            </a:extLst>
          </p:cNvPr>
          <p:cNvSpPr txBox="1"/>
          <p:nvPr/>
        </p:nvSpPr>
        <p:spPr>
          <a:xfrm>
            <a:off x="838199" y="1957388"/>
            <a:ext cx="9356125" cy="2246769"/>
          </a:xfrm>
          <a:prstGeom prst="rect">
            <a:avLst/>
          </a:prstGeom>
          <a:noFill/>
        </p:spPr>
        <p:txBody>
          <a:bodyPr wrap="square" rtlCol="0">
            <a:spAutoFit/>
          </a:bodyPr>
          <a:lstStyle/>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任播测量框架构建与实证分析</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p>
          <a:p>
            <a:pPr marL="457200" indent="-457200">
              <a:buClr>
                <a:srgbClr val="C00000"/>
              </a:buClr>
              <a:buSzPct val="50000"/>
              <a:buFont typeface="Wingdings" pitchFamily="2" charset="0"/>
              <a:buChar char="n"/>
            </a:pPr>
            <a:r>
              <a:rPr kumimoji="1" lang="en-US" altLang="zh-CN" sz="2800" b="1" dirty="0" err="1">
                <a:solidFill>
                  <a:schemeClr val="bg1">
                    <a:lumMod val="65000"/>
                  </a:schemeClr>
                </a:solidFill>
              </a:rPr>
              <a:t>AnyPro</a:t>
            </a:r>
            <a:r>
              <a:rPr kumimoji="1" lang="zh-CN" altLang="en-US" sz="2800" b="1" dirty="0">
                <a:solidFill>
                  <a:schemeClr val="bg1">
                    <a:lumMod val="65000"/>
                  </a:schemeClr>
                </a:solidFill>
              </a:rPr>
              <a:t>：基于 </a:t>
            </a:r>
            <a:r>
              <a:rPr kumimoji="1" lang="en" altLang="zh-CN" sz="2800" b="1" dirty="0">
                <a:solidFill>
                  <a:schemeClr val="bg1">
                    <a:lumMod val="65000"/>
                  </a:schemeClr>
                </a:solidFill>
              </a:rPr>
              <a:t>AS </a:t>
            </a:r>
            <a:r>
              <a:rPr kumimoji="1" lang="zh-CN" altLang="en-US" sz="2800" b="1" dirty="0">
                <a:solidFill>
                  <a:schemeClr val="bg1">
                    <a:lumMod val="65000"/>
                  </a:schemeClr>
                </a:solidFill>
              </a:rPr>
              <a:t>路径预置的任播优化白盒模型建立</a:t>
            </a:r>
            <a:endParaRPr kumimoji="1" lang="en-US" altLang="zh-CN" sz="2800" b="1" dirty="0">
              <a:solidFill>
                <a:schemeClr val="bg1">
                  <a:lumMod val="65000"/>
                </a:schemeClr>
              </a:solidFill>
            </a:endParaRPr>
          </a:p>
          <a:p>
            <a:pPr marL="457200" indent="-457200">
              <a:buClr>
                <a:srgbClr val="C00000"/>
              </a:buClr>
              <a:buSzPct val="50000"/>
              <a:buFont typeface="Wingdings" pitchFamily="2" charset="0"/>
              <a:buChar char="n"/>
            </a:pP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r>
              <a:rPr kumimoji="1" lang="en-US" altLang="zh-CN" sz="2800" b="1" dirty="0" err="1"/>
              <a:t>AnyTuner</a:t>
            </a:r>
            <a:r>
              <a:rPr kumimoji="1" lang="zh-CN" altLang="en-US" sz="2800" b="1" dirty="0"/>
              <a:t>：基于多策略协同的任播调优框架设计</a:t>
            </a:r>
          </a:p>
        </p:txBody>
      </p:sp>
    </p:spTree>
    <p:extLst>
      <p:ext uri="{BB962C8B-B14F-4D97-AF65-F5344CB8AC3E}">
        <p14:creationId xmlns:p14="http://schemas.microsoft.com/office/powerpoint/2010/main" val="3527692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研究背景</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20</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244B21D1-AD0A-094B-B5F0-2F59D0B3FB3F}"/>
              </a:ext>
            </a:extLst>
          </p:cNvPr>
          <p:cNvSpPr txBox="1"/>
          <p:nvPr/>
        </p:nvSpPr>
        <p:spPr>
          <a:xfrm>
            <a:off x="745733" y="1526247"/>
            <a:ext cx="8418817" cy="2726900"/>
          </a:xfrm>
          <a:prstGeom prst="rect">
            <a:avLst/>
          </a:prstGeom>
          <a:noFill/>
        </p:spPr>
        <p:txBody>
          <a:bodyPr wrap="square" rtlCol="0">
            <a:spAutoFit/>
          </a:bodyPr>
          <a:lstStyle/>
          <a:p>
            <a:pPr>
              <a:lnSpc>
                <a:spcPct val="120000"/>
              </a:lnSpc>
            </a:pPr>
            <a:r>
              <a:rPr kumimoji="1" lang="zh-CN" altLang="en-US" sz="2400" b="1" dirty="0"/>
              <a:t>现有</a:t>
            </a:r>
            <a:r>
              <a:rPr kumimoji="1" lang="en-US" altLang="zh-CN" sz="2400" b="1" dirty="0"/>
              <a:t>BGP</a:t>
            </a:r>
            <a:r>
              <a:rPr kumimoji="1" lang="zh-CN" altLang="en-US" sz="2400" b="1" dirty="0"/>
              <a:t>入口流量调度策略</a:t>
            </a:r>
            <a:endParaRPr kumimoji="1" lang="en-US" altLang="zh-CN" sz="2400" b="1" dirty="0"/>
          </a:p>
          <a:p>
            <a:pPr marL="800100" lvl="1" indent="-342900">
              <a:lnSpc>
                <a:spcPct val="120000"/>
              </a:lnSpc>
              <a:buFont typeface="Arial" panose="020B0604020202020204" pitchFamily="34" charset="0"/>
              <a:buChar char="•"/>
            </a:pPr>
            <a:r>
              <a:rPr kumimoji="1" lang="en-US" altLang="zh-CN" sz="2000" dirty="0"/>
              <a:t>AS</a:t>
            </a:r>
            <a:r>
              <a:rPr kumimoji="1" lang="zh-CN" altLang="en-US" sz="2000" dirty="0"/>
              <a:t>路径预置</a:t>
            </a:r>
            <a:endParaRPr kumimoji="1" lang="en-US" altLang="zh-CN" sz="2000" dirty="0"/>
          </a:p>
          <a:p>
            <a:pPr marL="800100" lvl="1" indent="-342900">
              <a:lnSpc>
                <a:spcPct val="120000"/>
              </a:lnSpc>
              <a:buFont typeface="Arial" panose="020B0604020202020204" pitchFamily="34" charset="0"/>
              <a:buChar char="•"/>
            </a:pPr>
            <a:r>
              <a:rPr kumimoji="1" lang="en-US" altLang="zh-CN" sz="2000" dirty="0"/>
              <a:t>BGP</a:t>
            </a:r>
            <a:r>
              <a:rPr kumimoji="1" lang="zh-CN" altLang="en-US" sz="2000" dirty="0"/>
              <a:t> </a:t>
            </a:r>
            <a:r>
              <a:rPr kumimoji="1" lang="en-US" altLang="zh-CN" sz="2000" dirty="0"/>
              <a:t>community</a:t>
            </a:r>
            <a:r>
              <a:rPr kumimoji="1" lang="zh-CN" altLang="en-US" sz="2000" dirty="0"/>
              <a:t>属性：</a:t>
            </a:r>
            <a:endParaRPr kumimoji="1" lang="en-US" altLang="zh-CN" sz="2000" dirty="0"/>
          </a:p>
          <a:p>
            <a:pPr marL="1257300" lvl="2" indent="-342900">
              <a:lnSpc>
                <a:spcPct val="120000"/>
              </a:lnSpc>
              <a:buFont typeface="Arial" panose="020B0604020202020204" pitchFamily="34" charset="0"/>
              <a:buChar char="•"/>
            </a:pPr>
            <a:r>
              <a:rPr kumimoji="1" lang="zh-CN" altLang="en-US" sz="2000" dirty="0"/>
              <a:t>格式：</a:t>
            </a:r>
            <a:r>
              <a:rPr kumimoji="1" lang="en" altLang="zh-CN" sz="2000" dirty="0"/>
              <a:t>AA </a:t>
            </a:r>
            <a:r>
              <a:rPr kumimoji="1" lang="en-US" altLang="zh-CN" sz="2000" dirty="0"/>
              <a:t>(AS</a:t>
            </a:r>
            <a:r>
              <a:rPr kumimoji="1" lang="zh-CN" altLang="en-US" sz="2000" dirty="0"/>
              <a:t>号</a:t>
            </a:r>
            <a:r>
              <a:rPr kumimoji="1" lang="en-US" altLang="zh-CN" sz="2000" dirty="0"/>
              <a:t>)</a:t>
            </a:r>
            <a:r>
              <a:rPr kumimoji="1" lang="zh-CN" altLang="en" sz="2000" dirty="0"/>
              <a:t>：</a:t>
            </a:r>
            <a:r>
              <a:rPr kumimoji="1" lang="en" altLang="zh-CN" sz="2000" dirty="0"/>
              <a:t>NN (</a:t>
            </a:r>
            <a:r>
              <a:rPr kumimoji="1" lang="zh-CN" altLang="en-US" sz="2000" dirty="0"/>
              <a:t>基于管理目的设置的标示符</a:t>
            </a:r>
            <a:r>
              <a:rPr kumimoji="1" lang="en" altLang="zh-CN" sz="2000" dirty="0"/>
              <a:t>)</a:t>
            </a:r>
          </a:p>
          <a:p>
            <a:pPr marL="1257300" lvl="2" indent="-342900">
              <a:lnSpc>
                <a:spcPct val="120000"/>
              </a:lnSpc>
              <a:buFont typeface="Arial" panose="020B0604020202020204" pitchFamily="34" charset="0"/>
              <a:buChar char="•"/>
            </a:pPr>
            <a:r>
              <a:rPr kumimoji="1" lang="zh-CN" altLang="en-US" sz="2000" dirty="0"/>
              <a:t>简化路由策略的应用和降低维护管理的难度</a:t>
            </a:r>
            <a:endParaRPr kumimoji="1" lang="en-US" altLang="zh-CN" sz="2000" dirty="0"/>
          </a:p>
          <a:p>
            <a:pPr marL="1257300" lvl="2" indent="-342900">
              <a:lnSpc>
                <a:spcPct val="120000"/>
              </a:lnSpc>
              <a:buFont typeface="Arial" panose="020B0604020202020204" pitchFamily="34" charset="0"/>
              <a:buChar char="•"/>
            </a:pPr>
            <a:r>
              <a:rPr kumimoji="1" lang="zh-CN" altLang="en-US" sz="2000" dirty="0"/>
              <a:t>常见属性：</a:t>
            </a:r>
            <a:r>
              <a:rPr kumimoji="1" lang="en" altLang="zh-CN" sz="2000" dirty="0" err="1"/>
              <a:t>noExport</a:t>
            </a:r>
            <a:r>
              <a:rPr kumimoji="1" lang="zh-CN" altLang="en-US" sz="2000" dirty="0"/>
              <a:t>，</a:t>
            </a:r>
            <a:r>
              <a:rPr kumimoji="1" lang="en-US" altLang="zh-CN" sz="2000" dirty="0" err="1"/>
              <a:t>noPeer</a:t>
            </a:r>
            <a:r>
              <a:rPr kumimoji="1" lang="zh-CN" altLang="en-US" sz="2000" dirty="0"/>
              <a:t>，</a:t>
            </a:r>
            <a:r>
              <a:rPr kumimoji="1" lang="en-US" altLang="zh-CN" sz="2000" dirty="0"/>
              <a:t> selective</a:t>
            </a:r>
            <a:r>
              <a:rPr kumimoji="1" lang="zh-CN" altLang="en-US" sz="2000" dirty="0"/>
              <a:t> </a:t>
            </a:r>
            <a:r>
              <a:rPr kumimoji="1" lang="en-US" altLang="zh-CN" sz="2000" dirty="0"/>
              <a:t>announcement</a:t>
            </a:r>
          </a:p>
          <a:p>
            <a:pPr marL="1257300" lvl="2" indent="-342900">
              <a:lnSpc>
                <a:spcPct val="120000"/>
              </a:lnSpc>
              <a:buFont typeface="Arial" panose="020B0604020202020204" pitchFamily="34" charset="0"/>
              <a:buChar char="•"/>
            </a:pPr>
            <a:r>
              <a:rPr kumimoji="1" lang="zh-CN" altLang="en-US" sz="2000" dirty="0"/>
              <a:t>通过变更路由宣告实现入向（任播）流量调度</a:t>
            </a:r>
          </a:p>
        </p:txBody>
      </p:sp>
      <p:pic>
        <p:nvPicPr>
          <p:cNvPr id="28" name="图片 27">
            <a:extLst>
              <a:ext uri="{FF2B5EF4-FFF2-40B4-BE49-F238E27FC236}">
                <a16:creationId xmlns:a16="http://schemas.microsoft.com/office/drawing/2014/main" id="{E8FC4685-A7E6-684C-911C-B30F85C9B593}"/>
              </a:ext>
            </a:extLst>
          </p:cNvPr>
          <p:cNvPicPr>
            <a:picLocks noChangeAspect="1"/>
          </p:cNvPicPr>
          <p:nvPr/>
        </p:nvPicPr>
        <p:blipFill>
          <a:blip r:embed="rId3"/>
          <a:stretch>
            <a:fillRect/>
          </a:stretch>
        </p:blipFill>
        <p:spPr>
          <a:xfrm>
            <a:off x="745733" y="4425422"/>
            <a:ext cx="5557838" cy="1432126"/>
          </a:xfrm>
          <a:prstGeom prst="rect">
            <a:avLst/>
          </a:prstGeom>
        </p:spPr>
      </p:pic>
      <p:sp>
        <p:nvSpPr>
          <p:cNvPr id="11" name="文本框 10">
            <a:extLst>
              <a:ext uri="{FF2B5EF4-FFF2-40B4-BE49-F238E27FC236}">
                <a16:creationId xmlns:a16="http://schemas.microsoft.com/office/drawing/2014/main" id="{18E93A46-456C-C648-AC59-4EEBDA836153}"/>
              </a:ext>
            </a:extLst>
          </p:cNvPr>
          <p:cNvSpPr txBox="1"/>
          <p:nvPr/>
        </p:nvSpPr>
        <p:spPr>
          <a:xfrm>
            <a:off x="6565186" y="4425422"/>
            <a:ext cx="5424755" cy="1698927"/>
          </a:xfrm>
          <a:prstGeom prst="rect">
            <a:avLst/>
          </a:prstGeom>
          <a:noFill/>
        </p:spPr>
        <p:txBody>
          <a:bodyPr wrap="square" rtlCol="0">
            <a:spAutoFit/>
          </a:bodyPr>
          <a:lstStyle/>
          <a:p>
            <a:pPr>
              <a:lnSpc>
                <a:spcPct val="120000"/>
              </a:lnSpc>
            </a:pPr>
            <a:r>
              <a:rPr kumimoji="1" lang="zh-CN" altLang="en-US" b="1" dirty="0"/>
              <a:t>挑战</a:t>
            </a:r>
            <a:r>
              <a:rPr kumimoji="1" lang="zh-CN" altLang="en-US" dirty="0"/>
              <a:t>：</a:t>
            </a:r>
            <a:endParaRPr kumimoji="1" lang="en-US" altLang="zh-CN" dirty="0"/>
          </a:p>
          <a:p>
            <a:pPr marL="742950" lvl="1" indent="-285750">
              <a:lnSpc>
                <a:spcPct val="120000"/>
              </a:lnSpc>
              <a:buFont typeface="Arial" panose="020B0604020202020204" pitchFamily="34" charset="0"/>
              <a:buChar char="•"/>
            </a:pPr>
            <a:r>
              <a:rPr kumimoji="1" lang="en-US" altLang="zh-CN" sz="1800" dirty="0"/>
              <a:t>BGP</a:t>
            </a:r>
            <a:r>
              <a:rPr kumimoji="1" lang="zh-CN" altLang="en-US" sz="1800" dirty="0"/>
              <a:t> </a:t>
            </a:r>
            <a:r>
              <a:rPr kumimoji="1" lang="en-US" altLang="zh-CN" sz="1800" dirty="0"/>
              <a:t>community</a:t>
            </a:r>
            <a:r>
              <a:rPr kumimoji="1" lang="zh-CN" altLang="en-US" sz="1800" dirty="0"/>
              <a:t> 缺乏统一管理</a:t>
            </a:r>
            <a:endParaRPr kumimoji="1" lang="en-US" altLang="zh-CN" dirty="0"/>
          </a:p>
          <a:p>
            <a:pPr marL="742950" lvl="1" indent="-285750">
              <a:lnSpc>
                <a:spcPct val="120000"/>
              </a:lnSpc>
              <a:buFont typeface="Arial" panose="020B0604020202020204" pitchFamily="34" charset="0"/>
              <a:buChar char="•"/>
            </a:pPr>
            <a:r>
              <a:rPr kumimoji="1" lang="zh-CN" altLang="en-US" dirty="0"/>
              <a:t>配置组合空间爆炸：</a:t>
            </a:r>
            <a:endParaRPr kumimoji="1" lang="en-US" altLang="zh-CN" dirty="0"/>
          </a:p>
          <a:p>
            <a:pPr marL="1657350" lvl="3" indent="-285750">
              <a:lnSpc>
                <a:spcPct val="120000"/>
              </a:lnSpc>
              <a:buFont typeface="Arial" panose="020B0604020202020204" pitchFamily="34" charset="0"/>
              <a:buChar char="•"/>
            </a:pPr>
            <a:r>
              <a:rPr kumimoji="1" lang="en-US" altLang="zh-CN" dirty="0"/>
              <a:t> 𝑂(𝑛</a:t>
            </a:r>
            <a:r>
              <a:rPr kumimoji="1" lang="en-US" altLang="zh-CN" baseline="30000" dirty="0"/>
              <a:t>𝑘</a:t>
            </a:r>
            <a:r>
              <a:rPr kumimoji="1" lang="en-US" altLang="zh-CN" dirty="0"/>
              <a:t> × 𝑇 (𝐴𝑛𝑦𝑃𝑟𝑜))</a:t>
            </a:r>
          </a:p>
          <a:p>
            <a:pPr marL="742950" lvl="1" indent="-285750">
              <a:buFont typeface="Arial" panose="020B0604020202020204" pitchFamily="34" charset="0"/>
              <a:buChar char="•"/>
            </a:pPr>
            <a:endParaRPr kumimoji="1" lang="zh-CN" altLang="en-US" dirty="0"/>
          </a:p>
        </p:txBody>
      </p:sp>
    </p:spTree>
    <p:extLst>
      <p:ext uri="{BB962C8B-B14F-4D97-AF65-F5344CB8AC3E}">
        <p14:creationId xmlns:p14="http://schemas.microsoft.com/office/powerpoint/2010/main" val="732395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研究内容：</a:t>
            </a:r>
            <a:r>
              <a:rPr kumimoji="1" lang="en-US" altLang="zh-CN" sz="4000" b="1" dirty="0" err="1">
                <a:latin typeface="Microsoft YaHei" panose="020B0503020204020204" pitchFamily="34" charset="-122"/>
                <a:ea typeface="Microsoft YaHei" panose="020B0503020204020204" pitchFamily="34" charset="-122"/>
              </a:rPr>
              <a:t>AnyTuner</a:t>
            </a:r>
            <a:endParaRPr kumimoji="1" lang="zh-CN" altLang="en-US" sz="4000" b="1"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21</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378205"/>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TextBox 15">
            <a:extLst>
              <a:ext uri="{FF2B5EF4-FFF2-40B4-BE49-F238E27FC236}">
                <a16:creationId xmlns:a16="http://schemas.microsoft.com/office/drawing/2014/main" id="{82A09FD3-8D81-1C9F-4B58-76F52CC5D923}"/>
              </a:ext>
            </a:extLst>
          </p:cNvPr>
          <p:cNvSpPr txBox="1"/>
          <p:nvPr/>
        </p:nvSpPr>
        <p:spPr>
          <a:xfrm>
            <a:off x="12745736" y="530607"/>
            <a:ext cx="578205" cy="1815882"/>
          </a:xfrm>
          <a:prstGeom prst="rect">
            <a:avLst/>
          </a:prstGeom>
          <a:noFill/>
        </p:spPr>
        <p:txBody>
          <a:bodyPr wrap="square" rtlCol="0">
            <a:spAutoFit/>
          </a:bodyPr>
          <a:lstStyle/>
          <a:p>
            <a:r>
              <a:rPr lang="en-US" sz="2800" dirty="0"/>
              <a:t>95</a:t>
            </a:r>
            <a:r>
              <a:rPr lang="en-US" sz="2800" baseline="30000" dirty="0"/>
              <a:t>th</a:t>
            </a:r>
            <a:r>
              <a:rPr lang="en-US" sz="2800" dirty="0"/>
              <a:t> RTT</a:t>
            </a:r>
          </a:p>
        </p:txBody>
      </p:sp>
      <p:pic>
        <p:nvPicPr>
          <p:cNvPr id="5" name="图片 4">
            <a:extLst>
              <a:ext uri="{FF2B5EF4-FFF2-40B4-BE49-F238E27FC236}">
                <a16:creationId xmlns:a16="http://schemas.microsoft.com/office/drawing/2014/main" id="{39100C3B-4ED7-D741-8F0B-0E36F4DDC058}"/>
              </a:ext>
            </a:extLst>
          </p:cNvPr>
          <p:cNvPicPr>
            <a:picLocks noChangeAspect="1"/>
          </p:cNvPicPr>
          <p:nvPr/>
        </p:nvPicPr>
        <p:blipFill>
          <a:blip r:embed="rId3"/>
          <a:stretch>
            <a:fillRect/>
          </a:stretch>
        </p:blipFill>
        <p:spPr>
          <a:xfrm>
            <a:off x="2393887" y="2530810"/>
            <a:ext cx="5384800" cy="3136900"/>
          </a:xfrm>
          <a:prstGeom prst="rect">
            <a:avLst/>
          </a:prstGeom>
        </p:spPr>
      </p:pic>
      <p:sp>
        <p:nvSpPr>
          <p:cNvPr id="6" name="文本框 5">
            <a:extLst>
              <a:ext uri="{FF2B5EF4-FFF2-40B4-BE49-F238E27FC236}">
                <a16:creationId xmlns:a16="http://schemas.microsoft.com/office/drawing/2014/main" id="{40F6E683-FB5E-2F49-BD13-8741E5444837}"/>
              </a:ext>
            </a:extLst>
          </p:cNvPr>
          <p:cNvSpPr txBox="1"/>
          <p:nvPr/>
        </p:nvSpPr>
        <p:spPr>
          <a:xfrm>
            <a:off x="838200" y="1598779"/>
            <a:ext cx="2994061" cy="369332"/>
          </a:xfrm>
          <a:prstGeom prst="rect">
            <a:avLst/>
          </a:prstGeom>
          <a:noFill/>
        </p:spPr>
        <p:txBody>
          <a:bodyPr wrap="square" rtlCol="0">
            <a:spAutoFit/>
          </a:bodyPr>
          <a:lstStyle/>
          <a:p>
            <a:r>
              <a:rPr kumimoji="1" lang="zh-CN" altLang="en-US" b="1" dirty="0"/>
              <a:t>系统概览</a:t>
            </a:r>
          </a:p>
        </p:txBody>
      </p:sp>
      <p:sp>
        <p:nvSpPr>
          <p:cNvPr id="9" name="文本框 8">
            <a:extLst>
              <a:ext uri="{FF2B5EF4-FFF2-40B4-BE49-F238E27FC236}">
                <a16:creationId xmlns:a16="http://schemas.microsoft.com/office/drawing/2014/main" id="{FFD4252F-FA2B-2D47-86A1-82C8CBFD495B}"/>
              </a:ext>
            </a:extLst>
          </p:cNvPr>
          <p:cNvSpPr txBox="1"/>
          <p:nvPr/>
        </p:nvSpPr>
        <p:spPr>
          <a:xfrm>
            <a:off x="782270" y="4697189"/>
            <a:ext cx="2140164" cy="83099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实时采集探针与站点之间的网络连接数据映射关系</a:t>
            </a:r>
          </a:p>
        </p:txBody>
      </p:sp>
      <p:sp>
        <p:nvSpPr>
          <p:cNvPr id="19" name="文本框 18">
            <a:extLst>
              <a:ext uri="{FF2B5EF4-FFF2-40B4-BE49-F238E27FC236}">
                <a16:creationId xmlns:a16="http://schemas.microsoft.com/office/drawing/2014/main" id="{244650B6-769C-9348-8B77-EE825FAE769B}"/>
              </a:ext>
            </a:extLst>
          </p:cNvPr>
          <p:cNvSpPr txBox="1"/>
          <p:nvPr/>
        </p:nvSpPr>
        <p:spPr>
          <a:xfrm>
            <a:off x="782270" y="2530810"/>
            <a:ext cx="2140164" cy="58477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实时下发更新站点配置</a:t>
            </a:r>
          </a:p>
        </p:txBody>
      </p:sp>
      <p:sp>
        <p:nvSpPr>
          <p:cNvPr id="20" name="文本框 19">
            <a:extLst>
              <a:ext uri="{FF2B5EF4-FFF2-40B4-BE49-F238E27FC236}">
                <a16:creationId xmlns:a16="http://schemas.microsoft.com/office/drawing/2014/main" id="{B09430B2-F482-6C49-9811-17D58B49DBD9}"/>
              </a:ext>
            </a:extLst>
          </p:cNvPr>
          <p:cNvSpPr txBox="1"/>
          <p:nvPr/>
        </p:nvSpPr>
        <p:spPr>
          <a:xfrm>
            <a:off x="3671237" y="1642840"/>
            <a:ext cx="2140164" cy="1077218"/>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基于神经网络搭建的流量预测模型，用于预测不同配置下，任播流量分布</a:t>
            </a:r>
          </a:p>
        </p:txBody>
      </p:sp>
      <p:sp>
        <p:nvSpPr>
          <p:cNvPr id="21" name="文本框 20">
            <a:extLst>
              <a:ext uri="{FF2B5EF4-FFF2-40B4-BE49-F238E27FC236}">
                <a16:creationId xmlns:a16="http://schemas.microsoft.com/office/drawing/2014/main" id="{AAB9EB89-A564-254F-8D44-4E00EDF79F4F}"/>
              </a:ext>
            </a:extLst>
          </p:cNvPr>
          <p:cNvSpPr txBox="1"/>
          <p:nvPr/>
        </p:nvSpPr>
        <p:spPr>
          <a:xfrm>
            <a:off x="6585102" y="3343855"/>
            <a:ext cx="2140164" cy="83099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分析当前流量分布状态并生成推荐配置</a:t>
            </a:r>
          </a:p>
        </p:txBody>
      </p:sp>
      <p:sp>
        <p:nvSpPr>
          <p:cNvPr id="22" name="文本框 21">
            <a:extLst>
              <a:ext uri="{FF2B5EF4-FFF2-40B4-BE49-F238E27FC236}">
                <a16:creationId xmlns:a16="http://schemas.microsoft.com/office/drawing/2014/main" id="{8BBB735A-A619-7846-8789-DCE260CC5E94}"/>
              </a:ext>
            </a:extLst>
          </p:cNvPr>
          <p:cNvSpPr txBox="1"/>
          <p:nvPr/>
        </p:nvSpPr>
        <p:spPr>
          <a:xfrm>
            <a:off x="6631404" y="4765535"/>
            <a:ext cx="2140164" cy="83099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600" dirty="0"/>
              <a:t>将原始数据加工成站点流量矩阵方便进一步分析</a:t>
            </a:r>
          </a:p>
        </p:txBody>
      </p:sp>
      <p:sp>
        <p:nvSpPr>
          <p:cNvPr id="10" name="椭圆 9">
            <a:extLst>
              <a:ext uri="{FF2B5EF4-FFF2-40B4-BE49-F238E27FC236}">
                <a16:creationId xmlns:a16="http://schemas.microsoft.com/office/drawing/2014/main" id="{27D4E522-721A-7842-9F82-F218F135DAFC}"/>
              </a:ext>
            </a:extLst>
          </p:cNvPr>
          <p:cNvSpPr/>
          <p:nvPr/>
        </p:nvSpPr>
        <p:spPr>
          <a:xfrm>
            <a:off x="5811401" y="3136612"/>
            <a:ext cx="1017141" cy="58477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椭圆 23">
            <a:extLst>
              <a:ext uri="{FF2B5EF4-FFF2-40B4-BE49-F238E27FC236}">
                <a16:creationId xmlns:a16="http://schemas.microsoft.com/office/drawing/2014/main" id="{609F9CDE-EA30-1840-A7CA-B38271FF469E}"/>
              </a:ext>
            </a:extLst>
          </p:cNvPr>
          <p:cNvSpPr/>
          <p:nvPr/>
        </p:nvSpPr>
        <p:spPr>
          <a:xfrm>
            <a:off x="5567961" y="4922772"/>
            <a:ext cx="1017141" cy="58477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5" name="椭圆 24">
            <a:extLst>
              <a:ext uri="{FF2B5EF4-FFF2-40B4-BE49-F238E27FC236}">
                <a16:creationId xmlns:a16="http://schemas.microsoft.com/office/drawing/2014/main" id="{5F5BEAD1-FF79-3F4A-9CCE-77C130E9AADB}"/>
              </a:ext>
            </a:extLst>
          </p:cNvPr>
          <p:cNvSpPr/>
          <p:nvPr/>
        </p:nvSpPr>
        <p:spPr>
          <a:xfrm>
            <a:off x="3575058" y="3909448"/>
            <a:ext cx="1017141" cy="58477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53114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dissolve">
                                      <p:cBhvr>
                                        <p:cTn id="10" dur="500"/>
                                        <p:tgtEl>
                                          <p:spTgt spid="2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dissolve">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4"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研究内容：数据处理</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22</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7392FF2D-F6CB-8844-AF0B-F712FF306636}"/>
              </a:ext>
            </a:extLst>
          </p:cNvPr>
          <p:cNvPicPr>
            <a:picLocks noChangeAspect="1"/>
          </p:cNvPicPr>
          <p:nvPr/>
        </p:nvPicPr>
        <p:blipFill>
          <a:blip r:embed="rId3"/>
          <a:stretch>
            <a:fillRect/>
          </a:stretch>
        </p:blipFill>
        <p:spPr>
          <a:xfrm>
            <a:off x="3859465" y="1814327"/>
            <a:ext cx="5704671" cy="4253854"/>
          </a:xfrm>
          <a:prstGeom prst="rect">
            <a:avLst/>
          </a:prstGeom>
        </p:spPr>
      </p:pic>
      <p:sp>
        <p:nvSpPr>
          <p:cNvPr id="6" name="文本框 5">
            <a:extLst>
              <a:ext uri="{FF2B5EF4-FFF2-40B4-BE49-F238E27FC236}">
                <a16:creationId xmlns:a16="http://schemas.microsoft.com/office/drawing/2014/main" id="{B76DA292-6B63-7F4C-BD34-DF42BF858211}"/>
              </a:ext>
            </a:extLst>
          </p:cNvPr>
          <p:cNvSpPr txBox="1"/>
          <p:nvPr/>
        </p:nvSpPr>
        <p:spPr>
          <a:xfrm>
            <a:off x="430012" y="1638494"/>
            <a:ext cx="3692703" cy="2122953"/>
          </a:xfrm>
          <a:prstGeom prst="rect">
            <a:avLst/>
          </a:prstGeom>
          <a:noFill/>
        </p:spPr>
        <p:txBody>
          <a:bodyPr wrap="square" rtlCol="0">
            <a:spAutoFit/>
          </a:bodyPr>
          <a:lstStyle/>
          <a:p>
            <a:r>
              <a:rPr kumimoji="1" lang="zh-CN" altLang="en-US" sz="1800" b="1" dirty="0"/>
              <a:t>站点流量矩阵生成</a:t>
            </a:r>
            <a:r>
              <a:rPr kumimoji="1" lang="zh-CN" altLang="en-US" b="1" dirty="0"/>
              <a:t>：</a:t>
            </a:r>
            <a:endParaRPr kumimoji="1" lang="en-US" altLang="zh-CN" b="1" dirty="0"/>
          </a:p>
          <a:p>
            <a:pPr marL="742950" lvl="1" indent="-285750">
              <a:lnSpc>
                <a:spcPct val="120000"/>
              </a:lnSpc>
              <a:buFont typeface="Arial" panose="020B0604020202020204" pitchFamily="34" charset="0"/>
              <a:buChar char="•"/>
            </a:pPr>
            <a:r>
              <a:rPr kumimoji="1" lang="zh-CN" altLang="en-US" sz="1600" dirty="0"/>
              <a:t>针对每一个客户端，人工分配其期望接入站点，与期望接入区域</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测量每个客户端实际接入站点</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形成实际站点</a:t>
            </a:r>
            <a:r>
              <a:rPr kumimoji="1" lang="en-US" altLang="zh-CN" sz="1600" dirty="0"/>
              <a:t>-</a:t>
            </a:r>
            <a:r>
              <a:rPr kumimoji="1" lang="zh-CN" altLang="en-US" sz="1600" dirty="0"/>
              <a:t>期望站点映射对</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整合成</a:t>
            </a:r>
            <a:r>
              <a:rPr kumimoji="1" lang="zh-CN" altLang="en-US" sz="1600" b="1" dirty="0">
                <a:solidFill>
                  <a:srgbClr val="FF0000"/>
                </a:solidFill>
              </a:rPr>
              <a:t>站点流量矩阵</a:t>
            </a:r>
            <a:endParaRPr kumimoji="1" lang="en-US" altLang="zh-CN" sz="1600" b="1" dirty="0">
              <a:solidFill>
                <a:srgbClr val="FF0000"/>
              </a:solidFill>
            </a:endParaRPr>
          </a:p>
        </p:txBody>
      </p:sp>
      <p:sp>
        <p:nvSpPr>
          <p:cNvPr id="8" name="文本框 7">
            <a:extLst>
              <a:ext uri="{FF2B5EF4-FFF2-40B4-BE49-F238E27FC236}">
                <a16:creationId xmlns:a16="http://schemas.microsoft.com/office/drawing/2014/main" id="{1D3D0866-C16F-A948-B5D6-C6A5BC4EFAD1}"/>
              </a:ext>
            </a:extLst>
          </p:cNvPr>
          <p:cNvSpPr txBox="1"/>
          <p:nvPr/>
        </p:nvSpPr>
        <p:spPr>
          <a:xfrm>
            <a:off x="430012" y="3800129"/>
            <a:ext cx="3873357" cy="2388346"/>
          </a:xfrm>
          <a:prstGeom prst="rect">
            <a:avLst/>
          </a:prstGeom>
          <a:noFill/>
        </p:spPr>
        <p:txBody>
          <a:bodyPr wrap="square" rtlCol="0">
            <a:spAutoFit/>
          </a:bodyPr>
          <a:lstStyle/>
          <a:p>
            <a:r>
              <a:rPr kumimoji="1" lang="zh-CN" altLang="en-US" sz="1800" b="1" dirty="0"/>
              <a:t>站点流量矩阵属性：</a:t>
            </a:r>
            <a:endParaRPr kumimoji="1" lang="en-US" altLang="zh-CN" sz="1800" b="1" dirty="0"/>
          </a:p>
          <a:p>
            <a:pPr marL="742950" lvl="1" indent="-285750">
              <a:lnSpc>
                <a:spcPct val="120000"/>
              </a:lnSpc>
              <a:buFont typeface="Arial" panose="020B0604020202020204" pitchFamily="34" charset="0"/>
              <a:buChar char="•"/>
            </a:pPr>
            <a:r>
              <a:rPr kumimoji="1" lang="zh-CN" altLang="en-US" sz="1600" dirty="0"/>
              <a:t>行向量的元素总和反映各站点的实际服务客户端总量</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列向量的元素累计值对应各站点的预期服务客户端数量</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对角线元素集合展示正确接入预期站点的客户端规模</a:t>
            </a:r>
            <a:endParaRPr kumimoji="1" lang="en-US" altLang="zh-CN" sz="1600" dirty="0"/>
          </a:p>
          <a:p>
            <a:pPr marL="742950" lvl="1" indent="-285750">
              <a:buFont typeface="Arial" panose="020B0604020202020204" pitchFamily="34" charset="0"/>
              <a:buChar char="•"/>
            </a:pPr>
            <a:endParaRPr kumimoji="1" lang="zh-CN" altLang="en-US" sz="1600" dirty="0"/>
          </a:p>
        </p:txBody>
      </p:sp>
      <p:sp>
        <p:nvSpPr>
          <p:cNvPr id="36" name="文本框 35">
            <a:extLst>
              <a:ext uri="{FF2B5EF4-FFF2-40B4-BE49-F238E27FC236}">
                <a16:creationId xmlns:a16="http://schemas.microsoft.com/office/drawing/2014/main" id="{FDE77DE3-DFBC-234D-9463-CBCB6EBEFFD6}"/>
              </a:ext>
            </a:extLst>
          </p:cNvPr>
          <p:cNvSpPr txBox="1"/>
          <p:nvPr/>
        </p:nvSpPr>
        <p:spPr>
          <a:xfrm>
            <a:off x="8906631" y="1882429"/>
            <a:ext cx="2447169" cy="2436886"/>
          </a:xfrm>
          <a:prstGeom prst="rect">
            <a:avLst/>
          </a:prstGeom>
          <a:noFill/>
        </p:spPr>
        <p:txBody>
          <a:bodyPr wrap="square" rtlCol="0">
            <a:spAutoFit/>
          </a:bodyPr>
          <a:lstStyle/>
          <a:p>
            <a:pPr marL="742950" lvl="1" indent="-285750">
              <a:lnSpc>
                <a:spcPct val="120000"/>
              </a:lnSpc>
              <a:buFont typeface="Arial" panose="020B0604020202020204" pitchFamily="34" charset="0"/>
              <a:buChar char="•"/>
            </a:pPr>
            <a:r>
              <a:rPr kumimoji="1" lang="zh-CN" altLang="en-US" sz="1600" dirty="0"/>
              <a:t>黄色区域内非对角线元素表示流量仍保留在本地接入区域但未达最优站点</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区域外异常值则反映低效的跨区域路由问题</a:t>
            </a:r>
          </a:p>
        </p:txBody>
      </p:sp>
    </p:spTree>
    <p:extLst>
      <p:ext uri="{BB962C8B-B14F-4D97-AF65-F5344CB8AC3E}">
        <p14:creationId xmlns:p14="http://schemas.microsoft.com/office/powerpoint/2010/main" val="2789395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研究内容：推荐引擎</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7392FF2D-F6CB-8844-AF0B-F712FF306636}"/>
              </a:ext>
            </a:extLst>
          </p:cNvPr>
          <p:cNvPicPr>
            <a:picLocks noChangeAspect="1"/>
          </p:cNvPicPr>
          <p:nvPr/>
        </p:nvPicPr>
        <p:blipFill>
          <a:blip r:embed="rId3"/>
          <a:stretch>
            <a:fillRect/>
          </a:stretch>
        </p:blipFill>
        <p:spPr>
          <a:xfrm>
            <a:off x="566772" y="1647729"/>
            <a:ext cx="5704671" cy="4253854"/>
          </a:xfrm>
          <a:prstGeom prst="rect">
            <a:avLst/>
          </a:prstGeom>
        </p:spPr>
      </p:pic>
      <p:sp>
        <p:nvSpPr>
          <p:cNvPr id="6" name="文本框 5">
            <a:extLst>
              <a:ext uri="{FF2B5EF4-FFF2-40B4-BE49-F238E27FC236}">
                <a16:creationId xmlns:a16="http://schemas.microsoft.com/office/drawing/2014/main" id="{B76DA292-6B63-7F4C-BD34-DF42BF858211}"/>
              </a:ext>
            </a:extLst>
          </p:cNvPr>
          <p:cNvSpPr txBox="1"/>
          <p:nvPr/>
        </p:nvSpPr>
        <p:spPr>
          <a:xfrm>
            <a:off x="6466651" y="1694552"/>
            <a:ext cx="5158577" cy="2122953"/>
          </a:xfrm>
          <a:prstGeom prst="rect">
            <a:avLst/>
          </a:prstGeom>
          <a:noFill/>
        </p:spPr>
        <p:txBody>
          <a:bodyPr wrap="square" rtlCol="0">
            <a:spAutoFit/>
          </a:bodyPr>
          <a:lstStyle/>
          <a:p>
            <a:r>
              <a:rPr kumimoji="1" lang="zh-CN" altLang="en-US" b="1" dirty="0"/>
              <a:t>站点分类：</a:t>
            </a:r>
            <a:endParaRPr kumimoji="1" lang="en-US" altLang="zh-CN" b="1" dirty="0"/>
          </a:p>
          <a:p>
            <a:pPr marL="742950" lvl="1" indent="-285750">
              <a:lnSpc>
                <a:spcPct val="120000"/>
              </a:lnSpc>
              <a:buFont typeface="Arial" panose="020B0604020202020204" pitchFamily="34" charset="0"/>
              <a:buChar char="•"/>
            </a:pPr>
            <a:r>
              <a:rPr kumimoji="1" lang="zh-CN" altLang="en-US" sz="1600" dirty="0"/>
              <a:t>过吸收站点：实际路由至该站点的流量显著大于预设的客户端预期覆盖范围 （行向量和 </a:t>
            </a:r>
            <a:r>
              <a:rPr kumimoji="1" lang="en-US" altLang="zh-CN" sz="1600" dirty="0"/>
              <a:t>&gt; </a:t>
            </a:r>
            <a:r>
              <a:rPr kumimoji="1" lang="zh-CN" altLang="en-US" sz="1600" dirty="0"/>
              <a:t>列向量和）</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欠吸收站点：实际路由至该站点的流量显著小于预设的客户端预期覆盖范围 （行向量和 </a:t>
            </a:r>
            <a:r>
              <a:rPr kumimoji="1" lang="en-US" altLang="zh-CN" sz="1600" dirty="0"/>
              <a:t>&lt; </a:t>
            </a:r>
            <a:r>
              <a:rPr kumimoji="1" lang="zh-CN" altLang="en-US" sz="1600" dirty="0"/>
              <a:t>列向量和）</a:t>
            </a:r>
            <a:endParaRPr kumimoji="1" lang="en-US" altLang="zh-CN" sz="1600" dirty="0"/>
          </a:p>
        </p:txBody>
      </p:sp>
      <p:sp>
        <p:nvSpPr>
          <p:cNvPr id="9" name="椭圆 8">
            <a:extLst>
              <a:ext uri="{FF2B5EF4-FFF2-40B4-BE49-F238E27FC236}">
                <a16:creationId xmlns:a16="http://schemas.microsoft.com/office/drawing/2014/main" id="{BE24FA0C-2FC3-C848-9997-C84B981DE4A0}"/>
              </a:ext>
            </a:extLst>
          </p:cNvPr>
          <p:cNvSpPr/>
          <p:nvPr/>
        </p:nvSpPr>
        <p:spPr>
          <a:xfrm>
            <a:off x="1623317" y="5013789"/>
            <a:ext cx="3575407" cy="195209"/>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a:extLst>
              <a:ext uri="{FF2B5EF4-FFF2-40B4-BE49-F238E27FC236}">
                <a16:creationId xmlns:a16="http://schemas.microsoft.com/office/drawing/2014/main" id="{81FEF5EB-A12A-944E-ABF4-BABAD582B789}"/>
              </a:ext>
            </a:extLst>
          </p:cNvPr>
          <p:cNvSpPr/>
          <p:nvPr/>
        </p:nvSpPr>
        <p:spPr>
          <a:xfrm rot="5400000">
            <a:off x="3313416" y="3337828"/>
            <a:ext cx="3575407" cy="195209"/>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3C29E3B6-706B-A947-911F-E018BA8F316B}"/>
              </a:ext>
            </a:extLst>
          </p:cNvPr>
          <p:cNvSpPr txBox="1"/>
          <p:nvPr/>
        </p:nvSpPr>
        <p:spPr>
          <a:xfrm>
            <a:off x="30823" y="4942116"/>
            <a:ext cx="1520576" cy="338554"/>
          </a:xfrm>
          <a:prstGeom prst="rect">
            <a:avLst/>
          </a:prstGeom>
          <a:noFill/>
        </p:spPr>
        <p:txBody>
          <a:bodyPr wrap="square" rtlCol="0">
            <a:spAutoFit/>
          </a:bodyPr>
          <a:lstStyle/>
          <a:p>
            <a:r>
              <a:rPr kumimoji="1" lang="en-US" altLang="zh-CN" sz="1600" b="1" dirty="0" err="1">
                <a:solidFill>
                  <a:srgbClr val="FF0000"/>
                </a:solidFill>
              </a:rPr>
              <a:t>Sum</a:t>
            </a:r>
            <a:r>
              <a:rPr kumimoji="1" lang="en-US" altLang="zh-CN" sz="1600" b="1" baseline="-25000" dirty="0" err="1">
                <a:solidFill>
                  <a:srgbClr val="FF0000"/>
                </a:solidFill>
              </a:rPr>
              <a:t>row</a:t>
            </a:r>
            <a:r>
              <a:rPr kumimoji="1" lang="en-US" altLang="zh-CN" sz="1600" b="1" dirty="0">
                <a:solidFill>
                  <a:srgbClr val="FF0000"/>
                </a:solidFill>
              </a:rPr>
              <a:t> = 85.5</a:t>
            </a:r>
            <a:endParaRPr kumimoji="1" lang="zh-CN" altLang="en-US" sz="1600" b="1" dirty="0">
              <a:solidFill>
                <a:srgbClr val="FF0000"/>
              </a:solidFill>
            </a:endParaRPr>
          </a:p>
        </p:txBody>
      </p:sp>
      <p:sp>
        <p:nvSpPr>
          <p:cNvPr id="13" name="文本框 12">
            <a:extLst>
              <a:ext uri="{FF2B5EF4-FFF2-40B4-BE49-F238E27FC236}">
                <a16:creationId xmlns:a16="http://schemas.microsoft.com/office/drawing/2014/main" id="{CF646373-6DF6-7D45-A828-320D268AA8C9}"/>
              </a:ext>
            </a:extLst>
          </p:cNvPr>
          <p:cNvSpPr txBox="1"/>
          <p:nvPr/>
        </p:nvSpPr>
        <p:spPr>
          <a:xfrm>
            <a:off x="4438436" y="5570397"/>
            <a:ext cx="1520576" cy="338554"/>
          </a:xfrm>
          <a:prstGeom prst="rect">
            <a:avLst/>
          </a:prstGeom>
          <a:noFill/>
        </p:spPr>
        <p:txBody>
          <a:bodyPr wrap="square" rtlCol="0">
            <a:spAutoFit/>
          </a:bodyPr>
          <a:lstStyle/>
          <a:p>
            <a:r>
              <a:rPr kumimoji="1" lang="en-US" altLang="zh-CN" sz="1600" b="1" dirty="0" err="1">
                <a:solidFill>
                  <a:srgbClr val="FF0000"/>
                </a:solidFill>
              </a:rPr>
              <a:t>Sum</a:t>
            </a:r>
            <a:r>
              <a:rPr kumimoji="1" lang="en-US" altLang="zh-CN" sz="1600" b="1" baseline="-25000" dirty="0" err="1">
                <a:solidFill>
                  <a:srgbClr val="FF0000"/>
                </a:solidFill>
              </a:rPr>
              <a:t>col</a:t>
            </a:r>
            <a:r>
              <a:rPr kumimoji="1" lang="en-US" altLang="zh-CN" sz="1600" b="1" dirty="0">
                <a:solidFill>
                  <a:srgbClr val="FF0000"/>
                </a:solidFill>
              </a:rPr>
              <a:t> = 28.15</a:t>
            </a:r>
            <a:endParaRPr kumimoji="1" lang="zh-CN" altLang="en-US" sz="1600" b="1" dirty="0">
              <a:solidFill>
                <a:srgbClr val="FF0000"/>
              </a:solidFill>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2E12B9B-410D-644C-AB7B-15BA00888C74}"/>
                  </a:ext>
                </a:extLst>
              </p:cNvPr>
              <p:cNvSpPr txBox="1"/>
              <p:nvPr/>
            </p:nvSpPr>
            <p:spPr>
              <a:xfrm>
                <a:off x="6491099" y="3997532"/>
                <a:ext cx="5334456" cy="1531510"/>
              </a:xfrm>
              <a:prstGeom prst="rect">
                <a:avLst/>
              </a:prstGeom>
              <a:noFill/>
            </p:spPr>
            <p:txBody>
              <a:bodyPr wrap="square" rtlCol="0">
                <a:spAutoFit/>
              </a:bodyPr>
              <a:lstStyle/>
              <a:p>
                <a:r>
                  <a:rPr kumimoji="1" lang="zh-CN" altLang="en-US" b="1" dirty="0"/>
                  <a:t>配置推荐：</a:t>
                </a:r>
                <a:endParaRPr kumimoji="1" lang="en-US" altLang="zh-CN" b="1" dirty="0"/>
              </a:p>
              <a:p>
                <a:pPr marL="742950" lvl="1" indent="-285750">
                  <a:lnSpc>
                    <a:spcPct val="120000"/>
                  </a:lnSpc>
                  <a:buFont typeface="Arial" panose="020B0604020202020204" pitchFamily="34" charset="0"/>
                  <a:buChar char="•"/>
                </a:pPr>
                <a:r>
                  <a:rPr kumimoji="1" lang="zh-CN" altLang="en-US" sz="1600" dirty="0"/>
                  <a:t>按照对路由影响力由强至弱依序排列如下：禁用站点、</a:t>
                </a:r>
                <a:r>
                  <a:rPr kumimoji="1" lang="en" altLang="zh-CN" sz="1600" dirty="0" err="1"/>
                  <a:t>No_Export</a:t>
                </a:r>
                <a:r>
                  <a:rPr kumimoji="1" lang="zh-CN" altLang="en" sz="1600" dirty="0"/>
                  <a:t>、</a:t>
                </a:r>
                <a:r>
                  <a:rPr kumimoji="1" lang="zh-CN" altLang="en-US" sz="1600" dirty="0"/>
                  <a:t>区域宣告、国家宣告、</a:t>
                </a:r>
                <a:r>
                  <a:rPr kumimoji="1" lang="en-US" altLang="zh-CN" sz="1600" dirty="0"/>
                  <a:t>9</a:t>
                </a:r>
                <a14:m>
                  <m:oMath xmlns:m="http://schemas.openxmlformats.org/officeDocument/2006/math">
                    <m:r>
                      <a:rPr kumimoji="1" lang="en-US" altLang="zh-CN" sz="1600" i="1" smtClean="0">
                        <a:latin typeface="Cambria Math" panose="02040503050406030204" pitchFamily="18" charset="0"/>
                        <a:ea typeface="Cambria Math" panose="02040503050406030204" pitchFamily="18" charset="0"/>
                      </a:rPr>
                      <m:t>×</m:t>
                    </m:r>
                  </m:oMath>
                </a14:m>
                <a:r>
                  <a:rPr kumimoji="1" lang="en-US" altLang="zh-CN" sz="1600" dirty="0"/>
                  <a:t>Prepend</a:t>
                </a:r>
                <a:r>
                  <a:rPr kumimoji="1" lang="zh-CN" altLang="en-US" sz="1600" dirty="0"/>
                  <a:t>、</a:t>
                </a:r>
                <a:r>
                  <a:rPr kumimoji="1" lang="en-US" altLang="zh-CN" sz="1600" dirty="0"/>
                  <a:t> 9</a:t>
                </a:r>
                <a:r>
                  <a:rPr kumimoji="1" lang="en-US" altLang="zh-CN" sz="1600" dirty="0">
                    <a:ea typeface="Cambria Math" panose="02040503050406030204" pitchFamily="18" charset="0"/>
                  </a:rPr>
                  <a:t> </a:t>
                </a:r>
                <a14:m>
                  <m:oMath xmlns:m="http://schemas.openxmlformats.org/officeDocument/2006/math">
                    <m:r>
                      <a:rPr kumimoji="1" lang="en-US" altLang="zh-CN" sz="1600" i="1">
                        <a:latin typeface="Cambria Math" panose="02040503050406030204" pitchFamily="18" charset="0"/>
                        <a:ea typeface="Cambria Math" panose="02040503050406030204" pitchFamily="18" charset="0"/>
                      </a:rPr>
                      <m:t>× </m:t>
                    </m:r>
                  </m:oMath>
                </a14:m>
                <a:r>
                  <a:rPr kumimoji="1" lang="en-US" altLang="zh-CN" sz="1600" dirty="0"/>
                  <a:t>Prepend </a:t>
                </a:r>
                <a:r>
                  <a:rPr kumimoji="1" lang="zh-CN" altLang="en-US" sz="1600" dirty="0"/>
                  <a:t>、</a:t>
                </a:r>
                <a:r>
                  <a:rPr kumimoji="1" lang="en-US" altLang="zh-CN" sz="1600" dirty="0"/>
                  <a:t> 1</a:t>
                </a:r>
                <a:r>
                  <a:rPr kumimoji="1" lang="en-US" altLang="zh-CN" sz="1600" dirty="0">
                    <a:ea typeface="Cambria Math" panose="02040503050406030204" pitchFamily="18" charset="0"/>
                  </a:rPr>
                  <a:t> </a:t>
                </a:r>
                <a14:m>
                  <m:oMath xmlns:m="http://schemas.openxmlformats.org/officeDocument/2006/math">
                    <m:r>
                      <a:rPr kumimoji="1" lang="en-US" altLang="zh-CN" sz="1600" i="1">
                        <a:latin typeface="Cambria Math" panose="02040503050406030204" pitchFamily="18" charset="0"/>
                        <a:ea typeface="Cambria Math" panose="02040503050406030204" pitchFamily="18" charset="0"/>
                      </a:rPr>
                      <m:t>× </m:t>
                    </m:r>
                  </m:oMath>
                </a14:m>
                <a:r>
                  <a:rPr kumimoji="1" lang="en-US" altLang="zh-CN" sz="1600" dirty="0"/>
                  <a:t>Prepend</a:t>
                </a:r>
                <a:r>
                  <a:rPr kumimoji="1" lang="zh-CN" altLang="en-US" sz="1600" dirty="0"/>
                  <a:t>、无预置</a:t>
                </a:r>
                <a:endParaRPr kumimoji="1" lang="en-US" altLang="zh-CN" sz="1600" dirty="0"/>
              </a:p>
              <a:p>
                <a:pPr marL="742950" lvl="1" indent="-285750">
                  <a:lnSpc>
                    <a:spcPct val="120000"/>
                  </a:lnSpc>
                  <a:buFont typeface="Arial" panose="020B0604020202020204" pitchFamily="34" charset="0"/>
                  <a:buChar char="•"/>
                </a:pPr>
                <a:r>
                  <a:rPr kumimoji="1" lang="zh-CN" altLang="en-US" sz="1600" dirty="0"/>
                  <a:t>结合当前配置，给出相应推荐</a:t>
                </a:r>
              </a:p>
            </p:txBody>
          </p:sp>
        </mc:Choice>
        <mc:Fallback xmlns="">
          <p:sp>
            <p:nvSpPr>
              <p:cNvPr id="14" name="文本框 13">
                <a:extLst>
                  <a:ext uri="{FF2B5EF4-FFF2-40B4-BE49-F238E27FC236}">
                    <a16:creationId xmlns:a16="http://schemas.microsoft.com/office/drawing/2014/main" id="{72E12B9B-410D-644C-AB7B-15BA00888C74}"/>
                  </a:ext>
                </a:extLst>
              </p:cNvPr>
              <p:cNvSpPr txBox="1">
                <a:spLocks noRot="1" noChangeAspect="1" noMove="1" noResize="1" noEditPoints="1" noAdjustHandles="1" noChangeArrowheads="1" noChangeShapeType="1" noTextEdit="1"/>
              </p:cNvSpPr>
              <p:nvPr/>
            </p:nvSpPr>
            <p:spPr>
              <a:xfrm>
                <a:off x="6491099" y="3997532"/>
                <a:ext cx="5334456" cy="1531510"/>
              </a:xfrm>
              <a:prstGeom prst="rect">
                <a:avLst/>
              </a:prstGeom>
              <a:blipFill>
                <a:blip r:embed="rId4"/>
                <a:stretch>
                  <a:fillRect l="-1188" t="-1639" b="-40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2831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0"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研究内容：流量模型</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24</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42EB452D-4FDA-5348-BB37-976996C78395}"/>
              </a:ext>
            </a:extLst>
          </p:cNvPr>
          <p:cNvPicPr>
            <a:picLocks noChangeAspect="1"/>
          </p:cNvPicPr>
          <p:nvPr/>
        </p:nvPicPr>
        <p:blipFill>
          <a:blip r:embed="rId3"/>
          <a:stretch>
            <a:fillRect/>
          </a:stretch>
        </p:blipFill>
        <p:spPr>
          <a:xfrm>
            <a:off x="564138" y="4481335"/>
            <a:ext cx="7214691" cy="1503663"/>
          </a:xfrm>
          <a:prstGeom prst="rect">
            <a:avLst/>
          </a:prstGeom>
        </p:spPr>
      </p:pic>
      <p:sp>
        <p:nvSpPr>
          <p:cNvPr id="15" name="文本框 14">
            <a:extLst>
              <a:ext uri="{FF2B5EF4-FFF2-40B4-BE49-F238E27FC236}">
                <a16:creationId xmlns:a16="http://schemas.microsoft.com/office/drawing/2014/main" id="{0DCB66CC-A709-A641-80BC-C4E0580BC68F}"/>
              </a:ext>
            </a:extLst>
          </p:cNvPr>
          <p:cNvSpPr txBox="1"/>
          <p:nvPr/>
        </p:nvSpPr>
        <p:spPr>
          <a:xfrm>
            <a:off x="8245202" y="3725073"/>
            <a:ext cx="4017196" cy="584775"/>
          </a:xfrm>
          <a:prstGeom prst="rect">
            <a:avLst/>
          </a:prstGeom>
          <a:noFill/>
        </p:spPr>
        <p:txBody>
          <a:bodyPr wrap="square" rtlCol="0">
            <a:spAutoFit/>
          </a:bodyPr>
          <a:lstStyle/>
          <a:p>
            <a:r>
              <a:rPr kumimoji="1" lang="en-US" altLang="zh-CN" sz="3200" dirty="0"/>
              <a:t>𝑇</a:t>
            </a:r>
            <a:endParaRPr kumimoji="1" lang="zh-CN" altLang="en-US" sz="3200" dirty="0"/>
          </a:p>
        </p:txBody>
      </p:sp>
      <p:pic>
        <p:nvPicPr>
          <p:cNvPr id="16" name="图片 15">
            <a:extLst>
              <a:ext uri="{FF2B5EF4-FFF2-40B4-BE49-F238E27FC236}">
                <a16:creationId xmlns:a16="http://schemas.microsoft.com/office/drawing/2014/main" id="{23EE5ADB-0421-B641-8F3D-4F57296FBAAA}"/>
              </a:ext>
            </a:extLst>
          </p:cNvPr>
          <p:cNvPicPr>
            <a:picLocks noChangeAspect="1"/>
          </p:cNvPicPr>
          <p:nvPr/>
        </p:nvPicPr>
        <p:blipFill>
          <a:blip r:embed="rId4"/>
          <a:stretch>
            <a:fillRect/>
          </a:stretch>
        </p:blipFill>
        <p:spPr>
          <a:xfrm>
            <a:off x="7019551" y="1625857"/>
            <a:ext cx="2931560" cy="2186003"/>
          </a:xfrm>
          <a:prstGeom prst="rect">
            <a:avLst/>
          </a:prstGeom>
        </p:spPr>
      </p:pic>
      <p:sp>
        <p:nvSpPr>
          <p:cNvPr id="17" name="文本框 16">
            <a:extLst>
              <a:ext uri="{FF2B5EF4-FFF2-40B4-BE49-F238E27FC236}">
                <a16:creationId xmlns:a16="http://schemas.microsoft.com/office/drawing/2014/main" id="{D1161D27-0BBA-7842-A16F-1C8B427DC5A0}"/>
              </a:ext>
            </a:extLst>
          </p:cNvPr>
          <p:cNvSpPr txBox="1"/>
          <p:nvPr/>
        </p:nvSpPr>
        <p:spPr>
          <a:xfrm>
            <a:off x="920393" y="2599583"/>
            <a:ext cx="4648200" cy="461665"/>
          </a:xfrm>
          <a:prstGeom prst="rect">
            <a:avLst/>
          </a:prstGeom>
          <a:noFill/>
        </p:spPr>
        <p:txBody>
          <a:bodyPr wrap="square" rtlCol="0">
            <a:spAutoFit/>
          </a:bodyPr>
          <a:lstStyle/>
          <a:p>
            <a:r>
              <a:rPr kumimoji="1" lang="en-US" altLang="zh-CN" sz="2400" dirty="0"/>
              <a:t>[r1, r2, …, </a:t>
            </a:r>
            <a:r>
              <a:rPr kumimoji="1" lang="en-US" altLang="zh-CN" sz="2400" dirty="0" err="1"/>
              <a:t>r</a:t>
            </a:r>
            <a:r>
              <a:rPr kumimoji="1" lang="en-US" altLang="zh-CN" sz="2400" baseline="-25000" dirty="0" err="1"/>
              <a:t>k</a:t>
            </a:r>
            <a:r>
              <a:rPr kumimoji="1" lang="en-US" altLang="zh-CN" sz="2400" dirty="0"/>
              <a:t>, r</a:t>
            </a:r>
            <a:r>
              <a:rPr kumimoji="1" lang="en-US" altLang="zh-CN" sz="2400" baseline="-25000" dirty="0"/>
              <a:t>k+1</a:t>
            </a:r>
            <a:r>
              <a:rPr kumimoji="1" lang="en-US" altLang="zh-CN" sz="2400" dirty="0"/>
              <a:t>, r</a:t>
            </a:r>
            <a:r>
              <a:rPr kumimoji="1" lang="en-US" altLang="zh-CN" sz="2400" baseline="-25000" dirty="0"/>
              <a:t>k+2</a:t>
            </a:r>
            <a:r>
              <a:rPr kumimoji="1" lang="en-US" altLang="zh-CN" sz="2400" dirty="0"/>
              <a:t>, …, r</a:t>
            </a:r>
            <a:r>
              <a:rPr kumimoji="1" lang="en-US" altLang="zh-CN" sz="2400" baseline="-25000" dirty="0"/>
              <a:t>2k</a:t>
            </a:r>
            <a:r>
              <a:rPr kumimoji="1" lang="en-US" altLang="zh-CN" sz="2400" dirty="0"/>
              <a:t>, …… </a:t>
            </a:r>
            <a:r>
              <a:rPr kumimoji="1" lang="en-US" altLang="zh-CN" sz="2400" dirty="0" err="1"/>
              <a:t>r</a:t>
            </a:r>
            <a:r>
              <a:rPr kumimoji="1" lang="en-US" altLang="zh-CN" sz="2400" baseline="-25000" dirty="0" err="1"/>
              <a:t>s</a:t>
            </a:r>
            <a:r>
              <a:rPr kumimoji="1" lang="en-US" altLang="zh-CN" sz="2400" baseline="-25000" dirty="0"/>
              <a:t>*k</a:t>
            </a:r>
            <a:r>
              <a:rPr kumimoji="1" lang="en-US" altLang="zh-CN" sz="2400" dirty="0"/>
              <a:t>]</a:t>
            </a:r>
            <a:endParaRPr kumimoji="1" lang="zh-CN" altLang="en-US" sz="2400" dirty="0"/>
          </a:p>
        </p:txBody>
      </p:sp>
      <p:cxnSp>
        <p:nvCxnSpPr>
          <p:cNvPr id="19" name="直线箭头连接符 18">
            <a:extLst>
              <a:ext uri="{FF2B5EF4-FFF2-40B4-BE49-F238E27FC236}">
                <a16:creationId xmlns:a16="http://schemas.microsoft.com/office/drawing/2014/main" id="{09F6D734-710C-734B-B360-DCD2B52447F7}"/>
              </a:ext>
            </a:extLst>
          </p:cNvPr>
          <p:cNvCxnSpPr>
            <a:cxnSpLocks/>
          </p:cNvCxnSpPr>
          <p:nvPr/>
        </p:nvCxnSpPr>
        <p:spPr>
          <a:xfrm flipV="1">
            <a:off x="1150706" y="2311685"/>
            <a:ext cx="0" cy="28268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E8103C89-F106-7D44-954C-0D1F3B1C1D90}"/>
              </a:ext>
            </a:extLst>
          </p:cNvPr>
          <p:cNvSpPr txBox="1"/>
          <p:nvPr/>
        </p:nvSpPr>
        <p:spPr>
          <a:xfrm>
            <a:off x="254521" y="1953152"/>
            <a:ext cx="2077712" cy="338554"/>
          </a:xfrm>
          <a:prstGeom prst="rect">
            <a:avLst/>
          </a:prstGeom>
          <a:noFill/>
        </p:spPr>
        <p:txBody>
          <a:bodyPr wrap="square" rtlCol="0">
            <a:spAutoFit/>
          </a:bodyPr>
          <a:lstStyle/>
          <a:p>
            <a:r>
              <a:rPr kumimoji="1" lang="zh-CN" altLang="en-US" sz="1600" dirty="0"/>
              <a:t>单个入口点</a:t>
            </a:r>
            <a:r>
              <a:rPr kumimoji="1" lang="en-US" altLang="zh-CN" sz="1600" dirty="0"/>
              <a:t>BGP</a:t>
            </a:r>
            <a:r>
              <a:rPr kumimoji="1" lang="zh-CN" altLang="en-US" sz="1600" dirty="0"/>
              <a:t>配置</a:t>
            </a:r>
          </a:p>
        </p:txBody>
      </p:sp>
      <p:sp>
        <p:nvSpPr>
          <p:cNvPr id="22" name="左大括号 21">
            <a:extLst>
              <a:ext uri="{FF2B5EF4-FFF2-40B4-BE49-F238E27FC236}">
                <a16:creationId xmlns:a16="http://schemas.microsoft.com/office/drawing/2014/main" id="{1942F6FE-DAB2-8C4F-800C-2FC09FF3CA73}"/>
              </a:ext>
            </a:extLst>
          </p:cNvPr>
          <p:cNvSpPr/>
          <p:nvPr/>
        </p:nvSpPr>
        <p:spPr>
          <a:xfrm rot="16200000">
            <a:off x="1680634" y="2559896"/>
            <a:ext cx="214590" cy="1274446"/>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7F75B680-39B2-3D41-BF0B-98C784BDA14F}"/>
              </a:ext>
            </a:extLst>
          </p:cNvPr>
          <p:cNvSpPr txBox="1"/>
          <p:nvPr/>
        </p:nvSpPr>
        <p:spPr>
          <a:xfrm>
            <a:off x="749073" y="3456815"/>
            <a:ext cx="2077712" cy="338554"/>
          </a:xfrm>
          <a:prstGeom prst="rect">
            <a:avLst/>
          </a:prstGeom>
          <a:noFill/>
        </p:spPr>
        <p:txBody>
          <a:bodyPr wrap="square" rtlCol="0">
            <a:spAutoFit/>
          </a:bodyPr>
          <a:lstStyle/>
          <a:p>
            <a:r>
              <a:rPr kumimoji="1" lang="zh-CN" altLang="en-US" sz="1600" dirty="0"/>
              <a:t>单个站点</a:t>
            </a:r>
            <a:r>
              <a:rPr kumimoji="1" lang="en-US" altLang="zh-CN" sz="1600" dirty="0"/>
              <a:t>BGP</a:t>
            </a:r>
            <a:r>
              <a:rPr kumimoji="1" lang="zh-CN" altLang="en-US" sz="1600" dirty="0"/>
              <a:t>配置</a:t>
            </a:r>
          </a:p>
        </p:txBody>
      </p:sp>
      <p:sp>
        <p:nvSpPr>
          <p:cNvPr id="24" name="左大括号 23">
            <a:extLst>
              <a:ext uri="{FF2B5EF4-FFF2-40B4-BE49-F238E27FC236}">
                <a16:creationId xmlns:a16="http://schemas.microsoft.com/office/drawing/2014/main" id="{E5CAC8CB-5247-B64A-B313-BF6074C3EE23}"/>
              </a:ext>
            </a:extLst>
          </p:cNvPr>
          <p:cNvSpPr/>
          <p:nvPr/>
        </p:nvSpPr>
        <p:spPr>
          <a:xfrm rot="16200000">
            <a:off x="3091381" y="1281857"/>
            <a:ext cx="311361" cy="4232096"/>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E87D7736-FEBF-2949-8C38-B572F25A31AD}"/>
              </a:ext>
            </a:extLst>
          </p:cNvPr>
          <p:cNvSpPr txBox="1"/>
          <p:nvPr/>
        </p:nvSpPr>
        <p:spPr>
          <a:xfrm>
            <a:off x="2785310" y="3725073"/>
            <a:ext cx="1175056" cy="584775"/>
          </a:xfrm>
          <a:prstGeom prst="rect">
            <a:avLst/>
          </a:prstGeom>
          <a:noFill/>
        </p:spPr>
        <p:txBody>
          <a:bodyPr wrap="square">
            <a:spAutoFit/>
          </a:bodyPr>
          <a:lstStyle/>
          <a:p>
            <a:r>
              <a:rPr kumimoji="1" lang="en-US" altLang="zh-CN" sz="3200" dirty="0" err="1"/>
              <a:t>ℝ</a:t>
            </a:r>
            <a:r>
              <a:rPr kumimoji="1" lang="en-US" altLang="zh-CN" sz="3200" baseline="30000" dirty="0"/>
              <a:t>𝑠×𝑘 </a:t>
            </a:r>
            <a:endParaRPr lang="zh-CN" altLang="en-US" sz="3200" dirty="0"/>
          </a:p>
        </p:txBody>
      </p:sp>
      <p:sp>
        <p:nvSpPr>
          <p:cNvPr id="28" name="文本框 27">
            <a:extLst>
              <a:ext uri="{FF2B5EF4-FFF2-40B4-BE49-F238E27FC236}">
                <a16:creationId xmlns:a16="http://schemas.microsoft.com/office/drawing/2014/main" id="{74DA62F9-50B2-5E4A-BA98-545CCB9582F9}"/>
              </a:ext>
            </a:extLst>
          </p:cNvPr>
          <p:cNvSpPr txBox="1"/>
          <p:nvPr/>
        </p:nvSpPr>
        <p:spPr>
          <a:xfrm>
            <a:off x="6032644" y="3338487"/>
            <a:ext cx="6159356" cy="523220"/>
          </a:xfrm>
          <a:prstGeom prst="rect">
            <a:avLst/>
          </a:prstGeom>
          <a:noFill/>
        </p:spPr>
        <p:txBody>
          <a:bodyPr wrap="square">
            <a:spAutoFit/>
          </a:bodyPr>
          <a:lstStyle/>
          <a:p>
            <a:r>
              <a:rPr kumimoji="1" lang="en-US" altLang="zh-CN" sz="2800" dirty="0"/>
              <a:t>→</a:t>
            </a:r>
            <a:endParaRPr lang="zh-CN" altLang="en-US" sz="2800" dirty="0"/>
          </a:p>
        </p:txBody>
      </p:sp>
      <p:sp>
        <p:nvSpPr>
          <p:cNvPr id="29" name="文本框 28">
            <a:extLst>
              <a:ext uri="{FF2B5EF4-FFF2-40B4-BE49-F238E27FC236}">
                <a16:creationId xmlns:a16="http://schemas.microsoft.com/office/drawing/2014/main" id="{6F774899-EC72-EF46-82C3-FEFC3F05DE2C}"/>
              </a:ext>
            </a:extLst>
          </p:cNvPr>
          <p:cNvSpPr txBox="1"/>
          <p:nvPr/>
        </p:nvSpPr>
        <p:spPr>
          <a:xfrm>
            <a:off x="7778829" y="4771802"/>
            <a:ext cx="4180290" cy="1255024"/>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kumimoji="1" lang="zh-CN" altLang="en-US" sz="1600" dirty="0"/>
              <a:t>训练集：</a:t>
            </a:r>
            <a:r>
              <a:rPr kumimoji="1" lang="en-US" altLang="zh-CN" sz="1600" dirty="0"/>
              <a:t>2024.11.2 ~ 11.30 </a:t>
            </a:r>
            <a:r>
              <a:rPr kumimoji="1" lang="zh-CN" altLang="en-US" sz="1600" dirty="0"/>
              <a:t>间</a:t>
            </a:r>
            <a:r>
              <a:rPr kumimoji="1" lang="en-US" altLang="zh-CN" sz="1600" dirty="0"/>
              <a:t>322 </a:t>
            </a:r>
            <a:r>
              <a:rPr kumimoji="1" lang="zh-CN" altLang="en-US" sz="1600" dirty="0"/>
              <a:t>组不同任播配置下的流量分布数据。</a:t>
            </a:r>
            <a:endParaRPr kumimoji="1" lang="en-US" altLang="zh-CN" sz="1600" dirty="0"/>
          </a:p>
          <a:p>
            <a:pPr marL="285750" indent="-285750">
              <a:lnSpc>
                <a:spcPct val="120000"/>
              </a:lnSpc>
              <a:buFont typeface="Arial" panose="020B0604020202020204" pitchFamily="34" charset="0"/>
              <a:buChar char="•"/>
            </a:pPr>
            <a:r>
              <a:rPr kumimoji="1" lang="zh-CN" altLang="en-US" sz="1600" dirty="0"/>
              <a:t>测试集：</a:t>
            </a:r>
            <a:r>
              <a:rPr kumimoji="1" lang="en-US" altLang="zh-CN" sz="1600" dirty="0"/>
              <a:t> 2024.12.1 ~ 12.7</a:t>
            </a:r>
            <a:r>
              <a:rPr kumimoji="1" lang="zh-CN" altLang="en-US" sz="1600" dirty="0"/>
              <a:t> 间</a:t>
            </a:r>
            <a:r>
              <a:rPr kumimoji="1" lang="en-US" altLang="zh-CN" sz="1600" dirty="0"/>
              <a:t>58</a:t>
            </a:r>
            <a:r>
              <a:rPr kumimoji="1" lang="zh-CN" altLang="en-US" sz="1600" dirty="0"/>
              <a:t>组新增配置数据</a:t>
            </a:r>
          </a:p>
        </p:txBody>
      </p:sp>
      <p:sp>
        <p:nvSpPr>
          <p:cNvPr id="30" name="椭圆 29">
            <a:extLst>
              <a:ext uri="{FF2B5EF4-FFF2-40B4-BE49-F238E27FC236}">
                <a16:creationId xmlns:a16="http://schemas.microsoft.com/office/drawing/2014/main" id="{68905455-8416-2B48-8F57-EB6D8523836A}"/>
              </a:ext>
            </a:extLst>
          </p:cNvPr>
          <p:cNvSpPr/>
          <p:nvPr/>
        </p:nvSpPr>
        <p:spPr>
          <a:xfrm>
            <a:off x="838200" y="5609690"/>
            <a:ext cx="1165261" cy="277402"/>
          </a:xfrm>
          <a:prstGeom prst="ellipse">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9830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研究结果</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25</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B1B11406-95B2-C147-89E3-B07B1D8D7952}"/>
              </a:ext>
            </a:extLst>
          </p:cNvPr>
          <p:cNvPicPr>
            <a:picLocks noChangeAspect="1"/>
          </p:cNvPicPr>
          <p:nvPr/>
        </p:nvPicPr>
        <p:blipFill>
          <a:blip r:embed="rId3"/>
          <a:stretch>
            <a:fillRect/>
          </a:stretch>
        </p:blipFill>
        <p:spPr>
          <a:xfrm>
            <a:off x="988406" y="1935543"/>
            <a:ext cx="4381857" cy="2750942"/>
          </a:xfrm>
          <a:prstGeom prst="rect">
            <a:avLst/>
          </a:prstGeom>
        </p:spPr>
      </p:pic>
      <p:pic>
        <p:nvPicPr>
          <p:cNvPr id="6" name="图片 5">
            <a:extLst>
              <a:ext uri="{FF2B5EF4-FFF2-40B4-BE49-F238E27FC236}">
                <a16:creationId xmlns:a16="http://schemas.microsoft.com/office/drawing/2014/main" id="{647FCE5D-7C6D-CC4A-B0B3-5D82CBBCC0AA}"/>
              </a:ext>
            </a:extLst>
          </p:cNvPr>
          <p:cNvPicPr>
            <a:picLocks noChangeAspect="1"/>
          </p:cNvPicPr>
          <p:nvPr/>
        </p:nvPicPr>
        <p:blipFill>
          <a:blip r:embed="rId4"/>
          <a:stretch>
            <a:fillRect/>
          </a:stretch>
        </p:blipFill>
        <p:spPr>
          <a:xfrm>
            <a:off x="5794625" y="1903570"/>
            <a:ext cx="4895493" cy="2782915"/>
          </a:xfrm>
          <a:prstGeom prst="rect">
            <a:avLst/>
          </a:prstGeom>
        </p:spPr>
      </p:pic>
      <p:sp>
        <p:nvSpPr>
          <p:cNvPr id="25" name="文本框 24">
            <a:extLst>
              <a:ext uri="{FF2B5EF4-FFF2-40B4-BE49-F238E27FC236}">
                <a16:creationId xmlns:a16="http://schemas.microsoft.com/office/drawing/2014/main" id="{D946F048-2F7B-1D4E-A585-19289101799C}"/>
              </a:ext>
            </a:extLst>
          </p:cNvPr>
          <p:cNvSpPr txBox="1"/>
          <p:nvPr/>
        </p:nvSpPr>
        <p:spPr>
          <a:xfrm>
            <a:off x="693399" y="1599335"/>
            <a:ext cx="5101226" cy="369332"/>
          </a:xfrm>
          <a:prstGeom prst="rect">
            <a:avLst/>
          </a:prstGeom>
          <a:noFill/>
        </p:spPr>
        <p:txBody>
          <a:bodyPr wrap="square" rtlCol="0">
            <a:spAutoFit/>
          </a:bodyPr>
          <a:lstStyle/>
          <a:p>
            <a:r>
              <a:rPr kumimoji="1" lang="zh-CN" altLang="en-US" b="1" dirty="0"/>
              <a:t>出向探测平台观测结果（大部分为网络中间设备）</a:t>
            </a:r>
          </a:p>
        </p:txBody>
      </p:sp>
      <p:sp>
        <p:nvSpPr>
          <p:cNvPr id="27" name="文本框 26">
            <a:extLst>
              <a:ext uri="{FF2B5EF4-FFF2-40B4-BE49-F238E27FC236}">
                <a16:creationId xmlns:a16="http://schemas.microsoft.com/office/drawing/2014/main" id="{29FD6A3D-462D-3E4D-94D3-07B5F4869A7D}"/>
              </a:ext>
            </a:extLst>
          </p:cNvPr>
          <p:cNvSpPr txBox="1"/>
          <p:nvPr/>
        </p:nvSpPr>
        <p:spPr>
          <a:xfrm>
            <a:off x="6068782" y="1595901"/>
            <a:ext cx="4897487" cy="369332"/>
          </a:xfrm>
          <a:prstGeom prst="rect">
            <a:avLst/>
          </a:prstGeom>
          <a:noFill/>
        </p:spPr>
        <p:txBody>
          <a:bodyPr wrap="square" rtlCol="0">
            <a:spAutoFit/>
          </a:bodyPr>
          <a:lstStyle/>
          <a:p>
            <a:r>
              <a:rPr kumimoji="1" lang="en" altLang="zh-CN" b="1" dirty="0"/>
              <a:t>RIPE Atlas </a:t>
            </a:r>
            <a:r>
              <a:rPr kumimoji="1" lang="zh-CN" altLang="en" b="1" dirty="0"/>
              <a:t>平台</a:t>
            </a:r>
            <a:r>
              <a:rPr kumimoji="1" lang="zh-CN" altLang="en-US" b="1" dirty="0"/>
              <a:t>观测结果 （更接近普通客户端）</a:t>
            </a:r>
          </a:p>
        </p:txBody>
      </p:sp>
      <p:sp>
        <p:nvSpPr>
          <p:cNvPr id="9" name="文本框 8">
            <a:extLst>
              <a:ext uri="{FF2B5EF4-FFF2-40B4-BE49-F238E27FC236}">
                <a16:creationId xmlns:a16="http://schemas.microsoft.com/office/drawing/2014/main" id="{43F85D30-E682-8944-9213-7B7F75A390F7}"/>
              </a:ext>
            </a:extLst>
          </p:cNvPr>
          <p:cNvSpPr txBox="1"/>
          <p:nvPr/>
        </p:nvSpPr>
        <p:spPr>
          <a:xfrm>
            <a:off x="1818526" y="4931340"/>
            <a:ext cx="8762388" cy="735522"/>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kumimoji="1" lang="zh-CN" altLang="en-US" dirty="0"/>
              <a:t>预优化：在调优前先做一次</a:t>
            </a:r>
            <a:r>
              <a:rPr kumimoji="1" lang="en-US" altLang="zh-CN" dirty="0" err="1"/>
              <a:t>AnyPro</a:t>
            </a:r>
            <a:r>
              <a:rPr kumimoji="1" lang="zh-CN" altLang="en-US" dirty="0"/>
              <a:t>的</a:t>
            </a:r>
            <a:r>
              <a:rPr kumimoji="1" lang="en-US" altLang="zh-CN" dirty="0"/>
              <a:t>max-min</a:t>
            </a:r>
            <a:r>
              <a:rPr kumimoji="1" lang="zh-CN" altLang="en-US" dirty="0"/>
              <a:t>轮询，确定</a:t>
            </a:r>
            <a:r>
              <a:rPr kumimoji="1" lang="en-US" altLang="zh-CN" dirty="0"/>
              <a:t>AS</a:t>
            </a:r>
            <a:r>
              <a:rPr kumimoji="1" lang="zh-CN" altLang="en-US" dirty="0"/>
              <a:t>路径前缀的基础配置</a:t>
            </a:r>
            <a:endParaRPr kumimoji="1" lang="en-US" altLang="zh-CN" dirty="0"/>
          </a:p>
          <a:p>
            <a:pPr marL="285750" indent="-285750">
              <a:lnSpc>
                <a:spcPct val="120000"/>
              </a:lnSpc>
              <a:buFont typeface="Arial" panose="020B0604020202020204" pitchFamily="34" charset="0"/>
              <a:buChar char="•"/>
            </a:pPr>
            <a:r>
              <a:rPr kumimoji="1" lang="zh-CN" altLang="en-US" dirty="0"/>
              <a:t>相比基础配置，中位数时延降幅达到 </a:t>
            </a:r>
            <a:r>
              <a:rPr kumimoji="1" lang="en-US" altLang="zh-CN" dirty="0"/>
              <a:t>63.3%-66.2%</a:t>
            </a:r>
            <a:endParaRPr kumimoji="1" lang="zh-CN" altLang="en-US" dirty="0"/>
          </a:p>
        </p:txBody>
      </p:sp>
      <p:cxnSp>
        <p:nvCxnSpPr>
          <p:cNvPr id="11" name="直线连接符 10">
            <a:extLst>
              <a:ext uri="{FF2B5EF4-FFF2-40B4-BE49-F238E27FC236}">
                <a16:creationId xmlns:a16="http://schemas.microsoft.com/office/drawing/2014/main" id="{3727D4C3-C98F-BA47-981D-F539933BBC7B}"/>
              </a:ext>
            </a:extLst>
          </p:cNvPr>
          <p:cNvCxnSpPr/>
          <p:nvPr/>
        </p:nvCxnSpPr>
        <p:spPr>
          <a:xfrm>
            <a:off x="1664413" y="3184989"/>
            <a:ext cx="3349376" cy="0"/>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779F5E7A-39F1-5140-9B58-9098B00C0939}"/>
              </a:ext>
            </a:extLst>
          </p:cNvPr>
          <p:cNvCxnSpPr/>
          <p:nvPr/>
        </p:nvCxnSpPr>
        <p:spPr>
          <a:xfrm>
            <a:off x="6707312" y="3152455"/>
            <a:ext cx="3349376" cy="0"/>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60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normAutofit/>
          </a:bodyPr>
          <a:lstStyle/>
          <a:p>
            <a:r>
              <a:rPr kumimoji="1" lang="zh-CN" altLang="en-US" sz="4000" b="1" dirty="0">
                <a:latin typeface="Microsoft YaHei" panose="020B0503020204020204" pitchFamily="34" charset="-122"/>
                <a:ea typeface="Microsoft YaHei" panose="020B0503020204020204" pitchFamily="34" charset="-122"/>
              </a:rPr>
              <a:t>研究结果</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26</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F23EA252-207C-6943-B60A-7A8476883F2D}"/>
              </a:ext>
            </a:extLst>
          </p:cNvPr>
          <p:cNvPicPr>
            <a:picLocks noChangeAspect="1"/>
          </p:cNvPicPr>
          <p:nvPr/>
        </p:nvPicPr>
        <p:blipFill>
          <a:blip r:embed="rId3"/>
          <a:stretch>
            <a:fillRect/>
          </a:stretch>
        </p:blipFill>
        <p:spPr>
          <a:xfrm>
            <a:off x="2708454" y="1577672"/>
            <a:ext cx="5829372" cy="3424566"/>
          </a:xfrm>
          <a:prstGeom prst="rect">
            <a:avLst/>
          </a:prstGeom>
        </p:spPr>
      </p:pic>
      <p:sp>
        <p:nvSpPr>
          <p:cNvPr id="15" name="文本框 14">
            <a:extLst>
              <a:ext uri="{FF2B5EF4-FFF2-40B4-BE49-F238E27FC236}">
                <a16:creationId xmlns:a16="http://schemas.microsoft.com/office/drawing/2014/main" id="{F8B8EA06-6A6D-8D4F-857A-E2358758AC00}"/>
              </a:ext>
            </a:extLst>
          </p:cNvPr>
          <p:cNvSpPr txBox="1"/>
          <p:nvPr/>
        </p:nvSpPr>
        <p:spPr>
          <a:xfrm>
            <a:off x="1800118" y="5017205"/>
            <a:ext cx="8920537" cy="1067921"/>
          </a:xfrm>
          <a:prstGeom prst="rect">
            <a:avLst/>
          </a:prstGeom>
          <a:noFill/>
        </p:spPr>
        <p:txBody>
          <a:bodyPr wrap="square">
            <a:spAutoFit/>
          </a:bodyPr>
          <a:lstStyle/>
          <a:p>
            <a:pPr marL="285750" indent="-285750">
              <a:lnSpc>
                <a:spcPct val="120000"/>
              </a:lnSpc>
              <a:buFont typeface="Arial" panose="020B0604020202020204" pitchFamily="34" charset="0"/>
              <a:buChar char="•"/>
            </a:pPr>
            <a:r>
              <a:rPr lang="zh-CN" altLang="en-US" dirty="0"/>
              <a:t>欠吸收站点的配置调整对系统性能的影响幅度显著高于过吸收站点</a:t>
            </a:r>
            <a:endParaRPr lang="en-US" altLang="zh-CN" dirty="0"/>
          </a:p>
          <a:p>
            <a:pPr marL="285750" indent="-285750">
              <a:lnSpc>
                <a:spcPct val="120000"/>
              </a:lnSpc>
              <a:buFont typeface="Arial" panose="020B0604020202020204" pitchFamily="34" charset="0"/>
              <a:buChar char="•"/>
            </a:pPr>
            <a:r>
              <a:rPr lang="zh-CN" altLang="en-US" dirty="0"/>
              <a:t>启示：建立策略影响力评估模型，通过分析路由宣告策略与流量吸附范围的映射关系，预判不同优化方向的影响潜力</a:t>
            </a:r>
          </a:p>
        </p:txBody>
      </p:sp>
    </p:spTree>
    <p:extLst>
      <p:ext uri="{BB962C8B-B14F-4D97-AF65-F5344CB8AC3E}">
        <p14:creationId xmlns:p14="http://schemas.microsoft.com/office/powerpoint/2010/main" val="81606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27</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9309D2C1-6D82-4646-98D6-914EAC4F5EEC}"/>
              </a:ext>
            </a:extLst>
          </p:cNvPr>
          <p:cNvSpPr txBox="1"/>
          <p:nvPr/>
        </p:nvSpPr>
        <p:spPr>
          <a:xfrm>
            <a:off x="2843373" y="2394147"/>
            <a:ext cx="6097712" cy="923330"/>
          </a:xfrm>
          <a:prstGeom prst="rect">
            <a:avLst/>
          </a:prstGeom>
          <a:noFill/>
        </p:spPr>
        <p:txBody>
          <a:bodyPr wrap="square">
            <a:spAutoFit/>
          </a:bodyPr>
          <a:lstStyle/>
          <a:p>
            <a:r>
              <a:rPr kumimoji="1" lang="zh-CN" altLang="en-US" sz="5400" b="1" dirty="0">
                <a:latin typeface="SimHei" panose="02010609060101010101" pitchFamily="49" charset="-122"/>
                <a:ea typeface="SimHei" panose="02010609060101010101" pitchFamily="49" charset="-122"/>
              </a:rPr>
              <a:t>谢谢！</a:t>
            </a:r>
            <a:endParaRPr lang="zh-CN" altLang="en-US" sz="1800" dirty="0"/>
          </a:p>
        </p:txBody>
      </p:sp>
    </p:spTree>
    <p:extLst>
      <p:ext uri="{BB962C8B-B14F-4D97-AF65-F5344CB8AC3E}">
        <p14:creationId xmlns:p14="http://schemas.microsoft.com/office/powerpoint/2010/main" val="2763864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目录</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28</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482390A-8D13-2A75-EBB3-68512EEFCF67}"/>
              </a:ext>
            </a:extLst>
          </p:cNvPr>
          <p:cNvSpPr txBox="1"/>
          <p:nvPr/>
        </p:nvSpPr>
        <p:spPr>
          <a:xfrm>
            <a:off x="838200" y="1957388"/>
            <a:ext cx="3976688" cy="2246769"/>
          </a:xfrm>
          <a:prstGeom prst="rect">
            <a:avLst/>
          </a:prstGeom>
          <a:noFill/>
        </p:spPr>
        <p:txBody>
          <a:bodyPr wrap="square" rtlCol="0">
            <a:spAutoFit/>
          </a:bodyPr>
          <a:lstStyle/>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课程学习</a:t>
            </a:r>
            <a:r>
              <a:rPr kumimoji="1" lang="en-US" altLang="zh-CN" sz="2800" b="1" dirty="0">
                <a:solidFill>
                  <a:schemeClr val="bg2">
                    <a:lumMod val="75000"/>
                  </a:schemeClr>
                </a:solidFill>
              </a:rPr>
              <a:t>&amp;</a:t>
            </a:r>
            <a:r>
              <a:rPr kumimoji="1" lang="zh-CN" altLang="en-US" sz="2800" b="1" dirty="0">
                <a:solidFill>
                  <a:schemeClr val="bg2">
                    <a:lumMod val="75000"/>
                  </a:schemeClr>
                </a:solidFill>
              </a:rPr>
              <a:t>科研工作</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p>
          <a:p>
            <a:pPr marL="457200" indent="-457200">
              <a:buClr>
                <a:srgbClr val="C00000"/>
              </a:buClr>
              <a:buSzPct val="50000"/>
              <a:buFont typeface="Wingdings" pitchFamily="2" charset="0"/>
              <a:buChar char="n"/>
            </a:pPr>
            <a:r>
              <a:rPr kumimoji="1" lang="zh-CN" altLang="en-US" sz="2800" b="1" dirty="0"/>
              <a:t>主持项目</a:t>
            </a:r>
            <a:r>
              <a:rPr kumimoji="1" lang="en-US" altLang="zh-CN" sz="2800" b="1" dirty="0"/>
              <a:t>&amp;</a:t>
            </a:r>
            <a:r>
              <a:rPr kumimoji="1" lang="zh-CN" altLang="en-US" sz="2800" b="1" dirty="0"/>
              <a:t>应用落地</a:t>
            </a:r>
            <a:endParaRPr kumimoji="1" lang="en-US" altLang="zh-CN" sz="2800" b="1" dirty="0"/>
          </a:p>
          <a:p>
            <a:pPr marL="457200" indent="-457200">
              <a:buClr>
                <a:srgbClr val="C00000"/>
              </a:buClr>
              <a:buSzPct val="50000"/>
              <a:buFont typeface="Wingdings" pitchFamily="2" charset="0"/>
              <a:buChar char="n"/>
            </a:pP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服务贡献</a:t>
            </a:r>
            <a:r>
              <a:rPr kumimoji="1" lang="en-US" altLang="zh-CN" sz="2800" b="1" dirty="0">
                <a:solidFill>
                  <a:schemeClr val="bg2">
                    <a:lumMod val="75000"/>
                  </a:schemeClr>
                </a:solidFill>
              </a:rPr>
              <a:t>&amp;</a:t>
            </a:r>
            <a:r>
              <a:rPr kumimoji="1" lang="zh-CN" altLang="en-US" sz="2800" b="1" dirty="0">
                <a:solidFill>
                  <a:schemeClr val="bg2">
                    <a:lumMod val="75000"/>
                  </a:schemeClr>
                </a:solidFill>
              </a:rPr>
              <a:t>获奖表彰</a:t>
            </a:r>
          </a:p>
        </p:txBody>
      </p:sp>
    </p:spTree>
    <p:extLst>
      <p:ext uri="{BB962C8B-B14F-4D97-AF65-F5344CB8AC3E}">
        <p14:creationId xmlns:p14="http://schemas.microsoft.com/office/powerpoint/2010/main" val="2427491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主持项目</a:t>
            </a:r>
            <a:r>
              <a:rPr kumimoji="1" lang="en-US" altLang="zh-CN" b="1" dirty="0">
                <a:latin typeface="Microsoft YaHei" panose="020B0503020204020204" pitchFamily="34" charset="-122"/>
                <a:ea typeface="Microsoft YaHei" panose="020B0503020204020204" pitchFamily="34" charset="-122"/>
              </a:rPr>
              <a:t>&amp;</a:t>
            </a:r>
            <a:r>
              <a:rPr kumimoji="1" lang="zh-CN" altLang="en-US" b="1" dirty="0">
                <a:latin typeface="Microsoft YaHei" panose="020B0503020204020204" pitchFamily="34" charset="-122"/>
                <a:ea typeface="Microsoft YaHei" panose="020B0503020204020204" pitchFamily="34" charset="-122"/>
              </a:rPr>
              <a:t>落地应用</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29</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E89B2CD-B6AC-AB5A-14A5-4B72E282EECD}"/>
              </a:ext>
            </a:extLst>
          </p:cNvPr>
          <p:cNvSpPr txBox="1"/>
          <p:nvPr/>
        </p:nvSpPr>
        <p:spPr>
          <a:xfrm>
            <a:off x="3837708" y="1690688"/>
            <a:ext cx="7374577" cy="3359831"/>
          </a:xfrm>
          <a:prstGeom prst="rect">
            <a:avLst/>
          </a:prstGeom>
          <a:noFill/>
        </p:spPr>
        <p:txBody>
          <a:bodyPr wrap="square" rtlCol="0">
            <a:spAutoFit/>
          </a:bodyPr>
          <a:lstStyle/>
          <a:p>
            <a:pPr marL="285750" indent="-285750">
              <a:lnSpc>
                <a:spcPct val="150000"/>
              </a:lnSpc>
              <a:buClr>
                <a:srgbClr val="FF0000"/>
              </a:buClr>
              <a:buSzPct val="50000"/>
              <a:buFont typeface="Wingdings" pitchFamily="2" charset="2"/>
              <a:buChar char="n"/>
            </a:pPr>
            <a:r>
              <a:rPr kumimoji="1" lang="zh-CN" altLang="en-US" sz="2400" b="1" dirty="0"/>
              <a:t>主持江苏省博士生创新项目 </a:t>
            </a:r>
            <a:r>
              <a:rPr kumimoji="1" lang="en-US" altLang="zh-CN" sz="2400" b="1" dirty="0"/>
              <a:t>–</a:t>
            </a:r>
            <a:r>
              <a:rPr kumimoji="1" lang="zh-CN" altLang="en-US" sz="2400" b="1" dirty="0"/>
              <a:t> </a:t>
            </a:r>
            <a:r>
              <a:rPr kumimoji="1" lang="zh-CN" altLang="en-US" sz="2400" dirty="0"/>
              <a:t>区域任播的测量及优化</a:t>
            </a:r>
            <a:r>
              <a:rPr kumimoji="1" lang="en-US" altLang="zh-CN" sz="2400" dirty="0"/>
              <a:t>(KYCX22_0154). 15,000</a:t>
            </a:r>
            <a:r>
              <a:rPr kumimoji="1" lang="zh-CN" altLang="en-US" sz="2400" dirty="0"/>
              <a:t>元；</a:t>
            </a:r>
            <a:endParaRPr kumimoji="1" lang="en-US" altLang="zh-CN" sz="2400" dirty="0"/>
          </a:p>
          <a:p>
            <a:pPr marL="285750" indent="-285750">
              <a:lnSpc>
                <a:spcPct val="150000"/>
              </a:lnSpc>
              <a:buClr>
                <a:srgbClr val="FF0000"/>
              </a:buClr>
              <a:buSzPct val="50000"/>
              <a:buFont typeface="Wingdings" pitchFamily="2" charset="2"/>
              <a:buChar char="n"/>
            </a:pPr>
            <a:r>
              <a:rPr kumimoji="1" lang="zh-CN" altLang="en-US" sz="2400" b="1" dirty="0"/>
              <a:t>与阿里云开展合作，现已将上述第三项工作落地，在阿里全球～</a:t>
            </a:r>
            <a:r>
              <a:rPr kumimoji="1" lang="en-US" altLang="zh-CN" sz="2400" b="1" dirty="0"/>
              <a:t>40</a:t>
            </a:r>
            <a:r>
              <a:rPr kumimoji="1" lang="zh-CN" altLang="en-US" sz="2400" b="1" dirty="0"/>
              <a:t>个</a:t>
            </a:r>
            <a:r>
              <a:rPr kumimoji="1" lang="en-US" altLang="zh-CN" sz="2400" b="1" dirty="0" err="1"/>
              <a:t>PoP</a:t>
            </a:r>
            <a:r>
              <a:rPr kumimoji="1" lang="zh-CN" altLang="en-US" sz="2400" b="1" dirty="0"/>
              <a:t>点规模的任播网络中部署优化方案，将本地接入率从</a:t>
            </a:r>
            <a:r>
              <a:rPr kumimoji="1" lang="en-US" altLang="zh-CN" sz="2400" b="1" dirty="0"/>
              <a:t>81%</a:t>
            </a:r>
            <a:r>
              <a:rPr kumimoji="1" lang="zh-CN" altLang="en-US" sz="2400" b="1" dirty="0"/>
              <a:t>提升到</a:t>
            </a:r>
            <a:r>
              <a:rPr kumimoji="1" lang="en-US" altLang="zh-CN" sz="2400" b="1" dirty="0"/>
              <a:t>95%</a:t>
            </a:r>
          </a:p>
          <a:p>
            <a:pPr marL="285750" indent="-285750">
              <a:lnSpc>
                <a:spcPct val="150000"/>
              </a:lnSpc>
              <a:buClr>
                <a:srgbClr val="FF0000"/>
              </a:buClr>
              <a:buSzPct val="50000"/>
              <a:buFont typeface="Wingdings" pitchFamily="2" charset="2"/>
              <a:buChar char="n"/>
            </a:pPr>
            <a:r>
              <a:rPr kumimoji="1" lang="zh-CN" altLang="en-US" sz="2400" b="1" dirty="0"/>
              <a:t>申请专利一篇</a:t>
            </a:r>
          </a:p>
        </p:txBody>
      </p:sp>
      <p:grpSp>
        <p:nvGrpSpPr>
          <p:cNvPr id="25" name="组合 24">
            <a:extLst>
              <a:ext uri="{FF2B5EF4-FFF2-40B4-BE49-F238E27FC236}">
                <a16:creationId xmlns:a16="http://schemas.microsoft.com/office/drawing/2014/main" id="{B5F9DF99-0227-49AC-F109-E2AF319BABD7}"/>
              </a:ext>
            </a:extLst>
          </p:cNvPr>
          <p:cNvGrpSpPr/>
          <p:nvPr/>
        </p:nvGrpSpPr>
        <p:grpSpPr>
          <a:xfrm>
            <a:off x="8033658" y="4452256"/>
            <a:ext cx="3817918" cy="1900859"/>
            <a:chOff x="6969109" y="4058748"/>
            <a:chExt cx="3282981" cy="2019762"/>
          </a:xfrm>
        </p:grpSpPr>
        <p:pic>
          <p:nvPicPr>
            <p:cNvPr id="13" name="图片 12">
              <a:extLst>
                <a:ext uri="{FF2B5EF4-FFF2-40B4-BE49-F238E27FC236}">
                  <a16:creationId xmlns:a16="http://schemas.microsoft.com/office/drawing/2014/main" id="{8FE0AA92-12EE-30EE-4660-448903DF7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9109" y="4058748"/>
              <a:ext cx="3282981" cy="2019762"/>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5" name="墨迹 14">
                  <a:extLst>
                    <a:ext uri="{FF2B5EF4-FFF2-40B4-BE49-F238E27FC236}">
                      <a16:creationId xmlns:a16="http://schemas.microsoft.com/office/drawing/2014/main" id="{5A39672D-368E-B622-E789-DD37FD008A24}"/>
                    </a:ext>
                  </a:extLst>
                </p14:cNvPr>
                <p14:cNvContentPartPr/>
                <p14:nvPr/>
              </p14:nvContentPartPr>
              <p14:xfrm>
                <a:off x="7456320" y="4975029"/>
                <a:ext cx="335520" cy="93600"/>
              </p14:xfrm>
            </p:contentPart>
          </mc:Choice>
          <mc:Fallback xmlns="">
            <p:pic>
              <p:nvPicPr>
                <p:cNvPr id="15" name="墨迹 14">
                  <a:extLst>
                    <a:ext uri="{FF2B5EF4-FFF2-40B4-BE49-F238E27FC236}">
                      <a16:creationId xmlns:a16="http://schemas.microsoft.com/office/drawing/2014/main" id="{5A39672D-368E-B622-E789-DD37FD008A24}"/>
                    </a:ext>
                  </a:extLst>
                </p:cNvPr>
                <p:cNvPicPr/>
                <p:nvPr/>
              </p:nvPicPr>
              <p:blipFill>
                <a:blip r:embed="rId4"/>
                <a:stretch>
                  <a:fillRect/>
                </a:stretch>
              </p:blipFill>
              <p:spPr>
                <a:xfrm>
                  <a:off x="7441154" y="4955927"/>
                  <a:ext cx="366163" cy="131422"/>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7" name="墨迹 16">
                <a:extLst>
                  <a:ext uri="{FF2B5EF4-FFF2-40B4-BE49-F238E27FC236}">
                    <a16:creationId xmlns:a16="http://schemas.microsoft.com/office/drawing/2014/main" id="{C4D8919F-2258-A163-94B3-43B17D284D01}"/>
                  </a:ext>
                </a:extLst>
              </p14:cNvPr>
              <p14:cNvContentPartPr/>
              <p14:nvPr/>
            </p14:nvContentPartPr>
            <p14:xfrm>
              <a:off x="1372320" y="3052989"/>
              <a:ext cx="1173960" cy="8640"/>
            </p14:xfrm>
          </p:contentPart>
        </mc:Choice>
        <mc:Fallback xmlns="">
          <p:pic>
            <p:nvPicPr>
              <p:cNvPr id="17" name="墨迹 16">
                <a:extLst>
                  <a:ext uri="{FF2B5EF4-FFF2-40B4-BE49-F238E27FC236}">
                    <a16:creationId xmlns:a16="http://schemas.microsoft.com/office/drawing/2014/main" id="{C4D8919F-2258-A163-94B3-43B17D284D01}"/>
                  </a:ext>
                </a:extLst>
              </p:cNvPr>
              <p:cNvPicPr/>
              <p:nvPr/>
            </p:nvPicPr>
            <p:blipFill>
              <a:blip r:embed="rId6"/>
              <a:stretch>
                <a:fillRect/>
              </a:stretch>
            </p:blipFill>
            <p:spPr>
              <a:xfrm>
                <a:off x="1354680" y="3034989"/>
                <a:ext cx="1209600" cy="44280"/>
              </a:xfrm>
              <a:prstGeom prst="rect">
                <a:avLst/>
              </a:prstGeom>
            </p:spPr>
          </p:pic>
        </mc:Fallback>
      </mc:AlternateContent>
      <p:grpSp>
        <p:nvGrpSpPr>
          <p:cNvPr id="22" name="组合 21">
            <a:extLst>
              <a:ext uri="{FF2B5EF4-FFF2-40B4-BE49-F238E27FC236}">
                <a16:creationId xmlns:a16="http://schemas.microsoft.com/office/drawing/2014/main" id="{8CE1E3C3-179F-72F1-54A2-095D85DA59EE}"/>
              </a:ext>
            </a:extLst>
          </p:cNvPr>
          <p:cNvGrpSpPr/>
          <p:nvPr/>
        </p:nvGrpSpPr>
        <p:grpSpPr>
          <a:xfrm>
            <a:off x="1342440" y="3026709"/>
            <a:ext cx="1212120" cy="267480"/>
            <a:chOff x="1342440" y="3026709"/>
            <a:chExt cx="1212120" cy="267480"/>
          </a:xfrm>
        </p:grpSpPr>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6" name="墨迹 15">
                  <a:extLst>
                    <a:ext uri="{FF2B5EF4-FFF2-40B4-BE49-F238E27FC236}">
                      <a16:creationId xmlns:a16="http://schemas.microsoft.com/office/drawing/2014/main" id="{3A40D9B1-C3EA-7F43-1063-A07A08C370E9}"/>
                    </a:ext>
                  </a:extLst>
                </p14:cNvPr>
                <p14:cNvContentPartPr/>
                <p14:nvPr/>
              </p14:nvContentPartPr>
              <p14:xfrm>
                <a:off x="1342440" y="3191949"/>
                <a:ext cx="680400" cy="102240"/>
              </p14:xfrm>
            </p:contentPart>
          </mc:Choice>
          <mc:Fallback xmlns="">
            <p:pic>
              <p:nvPicPr>
                <p:cNvPr id="16" name="墨迹 15">
                  <a:extLst>
                    <a:ext uri="{FF2B5EF4-FFF2-40B4-BE49-F238E27FC236}">
                      <a16:creationId xmlns:a16="http://schemas.microsoft.com/office/drawing/2014/main" id="{3A40D9B1-C3EA-7F43-1063-A07A08C370E9}"/>
                    </a:ext>
                  </a:extLst>
                </p:cNvPr>
                <p:cNvPicPr/>
                <p:nvPr/>
              </p:nvPicPr>
              <p:blipFill>
                <a:blip r:embed="rId8"/>
                <a:stretch>
                  <a:fillRect/>
                </a:stretch>
              </p:blipFill>
              <p:spPr>
                <a:xfrm>
                  <a:off x="1324440" y="3173949"/>
                  <a:ext cx="716040" cy="137880"/>
                </a:xfrm>
                <a:prstGeom prst="rect">
                  <a:avLst/>
                </a:prstGeom>
              </p:spPr>
            </p:pic>
          </mc:Fallback>
        </mc:AlternateContent>
        <p:grpSp>
          <p:nvGrpSpPr>
            <p:cNvPr id="21" name="组合 20">
              <a:extLst>
                <a:ext uri="{FF2B5EF4-FFF2-40B4-BE49-F238E27FC236}">
                  <a16:creationId xmlns:a16="http://schemas.microsoft.com/office/drawing/2014/main" id="{2F41EB21-D4DF-97AA-9333-C070DD9C1AA4}"/>
                </a:ext>
              </a:extLst>
            </p:cNvPr>
            <p:cNvGrpSpPr/>
            <p:nvPr/>
          </p:nvGrpSpPr>
          <p:grpSpPr>
            <a:xfrm>
              <a:off x="1388160" y="3026709"/>
              <a:ext cx="1166400" cy="32760"/>
              <a:chOff x="1388160" y="3026709"/>
              <a:chExt cx="1166400" cy="32760"/>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8" name="墨迹 17">
                    <a:extLst>
                      <a:ext uri="{FF2B5EF4-FFF2-40B4-BE49-F238E27FC236}">
                        <a16:creationId xmlns:a16="http://schemas.microsoft.com/office/drawing/2014/main" id="{CF041F5E-B6DE-117C-7B4F-5C428777DFC0}"/>
                      </a:ext>
                    </a:extLst>
                  </p14:cNvPr>
                  <p14:cNvContentPartPr/>
                  <p14:nvPr/>
                </p14:nvContentPartPr>
                <p14:xfrm>
                  <a:off x="1388160" y="3029589"/>
                  <a:ext cx="1166400" cy="29880"/>
                </p14:xfrm>
              </p:contentPart>
            </mc:Choice>
            <mc:Fallback xmlns="">
              <p:pic>
                <p:nvPicPr>
                  <p:cNvPr id="18" name="墨迹 17">
                    <a:extLst>
                      <a:ext uri="{FF2B5EF4-FFF2-40B4-BE49-F238E27FC236}">
                        <a16:creationId xmlns:a16="http://schemas.microsoft.com/office/drawing/2014/main" id="{CF041F5E-B6DE-117C-7B4F-5C428777DFC0}"/>
                      </a:ext>
                    </a:extLst>
                  </p:cNvPr>
                  <p:cNvPicPr/>
                  <p:nvPr/>
                </p:nvPicPr>
                <p:blipFill>
                  <a:blip r:embed="rId10"/>
                  <a:stretch>
                    <a:fillRect/>
                  </a:stretch>
                </p:blipFill>
                <p:spPr>
                  <a:xfrm>
                    <a:off x="1370160" y="3011949"/>
                    <a:ext cx="1202040" cy="65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9" name="墨迹 18">
                    <a:extLst>
                      <a:ext uri="{FF2B5EF4-FFF2-40B4-BE49-F238E27FC236}">
                        <a16:creationId xmlns:a16="http://schemas.microsoft.com/office/drawing/2014/main" id="{163F73C1-D19C-0EA5-6E93-3D0EBE90CEBA}"/>
                      </a:ext>
                    </a:extLst>
                  </p14:cNvPr>
                  <p14:cNvContentPartPr/>
                  <p14:nvPr/>
                </p14:nvContentPartPr>
                <p14:xfrm>
                  <a:off x="1864800" y="3030309"/>
                  <a:ext cx="360" cy="360"/>
                </p14:xfrm>
              </p:contentPart>
            </mc:Choice>
            <mc:Fallback xmlns="">
              <p:pic>
                <p:nvPicPr>
                  <p:cNvPr id="19" name="墨迹 18">
                    <a:extLst>
                      <a:ext uri="{FF2B5EF4-FFF2-40B4-BE49-F238E27FC236}">
                        <a16:creationId xmlns:a16="http://schemas.microsoft.com/office/drawing/2014/main" id="{163F73C1-D19C-0EA5-6E93-3D0EBE90CEBA}"/>
                      </a:ext>
                    </a:extLst>
                  </p:cNvPr>
                  <p:cNvPicPr/>
                  <p:nvPr/>
                </p:nvPicPr>
                <p:blipFill>
                  <a:blip r:embed="rId12"/>
                  <a:stretch>
                    <a:fillRect/>
                  </a:stretch>
                </p:blipFill>
                <p:spPr>
                  <a:xfrm>
                    <a:off x="1847160" y="3012309"/>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0" name="墨迹 19">
                    <a:extLst>
                      <a:ext uri="{FF2B5EF4-FFF2-40B4-BE49-F238E27FC236}">
                        <a16:creationId xmlns:a16="http://schemas.microsoft.com/office/drawing/2014/main" id="{EB8EDAEF-DEFF-1FFA-D8B7-E6E6672F47BA}"/>
                      </a:ext>
                    </a:extLst>
                  </p14:cNvPr>
                  <p14:cNvContentPartPr/>
                  <p14:nvPr/>
                </p14:nvContentPartPr>
                <p14:xfrm>
                  <a:off x="1864800" y="3026709"/>
                  <a:ext cx="373680" cy="14400"/>
                </p14:xfrm>
              </p:contentPart>
            </mc:Choice>
            <mc:Fallback xmlns="">
              <p:pic>
                <p:nvPicPr>
                  <p:cNvPr id="20" name="墨迹 19">
                    <a:extLst>
                      <a:ext uri="{FF2B5EF4-FFF2-40B4-BE49-F238E27FC236}">
                        <a16:creationId xmlns:a16="http://schemas.microsoft.com/office/drawing/2014/main" id="{EB8EDAEF-DEFF-1FFA-D8B7-E6E6672F47BA}"/>
                      </a:ext>
                    </a:extLst>
                  </p:cNvPr>
                  <p:cNvPicPr/>
                  <p:nvPr/>
                </p:nvPicPr>
                <p:blipFill>
                  <a:blip r:embed="rId14"/>
                  <a:stretch>
                    <a:fillRect/>
                  </a:stretch>
                </p:blipFill>
                <p:spPr>
                  <a:xfrm>
                    <a:off x="1847160" y="3009069"/>
                    <a:ext cx="409320" cy="50040"/>
                  </a:xfrm>
                  <a:prstGeom prst="rect">
                    <a:avLst/>
                  </a:prstGeom>
                </p:spPr>
              </p:pic>
            </mc:Fallback>
          </mc:AlternateContent>
        </p:grpSp>
      </p:grpSp>
      <p:grpSp>
        <p:nvGrpSpPr>
          <p:cNvPr id="24" name="组合 23">
            <a:extLst>
              <a:ext uri="{FF2B5EF4-FFF2-40B4-BE49-F238E27FC236}">
                <a16:creationId xmlns:a16="http://schemas.microsoft.com/office/drawing/2014/main" id="{E0EEEC87-293E-D244-1D36-E7DFA930F1ED}"/>
              </a:ext>
            </a:extLst>
          </p:cNvPr>
          <p:cNvGrpSpPr/>
          <p:nvPr/>
        </p:nvGrpSpPr>
        <p:grpSpPr>
          <a:xfrm>
            <a:off x="464522" y="1635268"/>
            <a:ext cx="3255424" cy="4604850"/>
            <a:chOff x="464522" y="1635268"/>
            <a:chExt cx="3255424" cy="4604850"/>
          </a:xfrm>
        </p:grpSpPr>
        <p:pic>
          <p:nvPicPr>
            <p:cNvPr id="11" name="图片 10">
              <a:extLst>
                <a:ext uri="{FF2B5EF4-FFF2-40B4-BE49-F238E27FC236}">
                  <a16:creationId xmlns:a16="http://schemas.microsoft.com/office/drawing/2014/main" id="{5854D2AE-4196-4223-23CB-835499B63E3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64522" y="1635268"/>
              <a:ext cx="3255424" cy="4604850"/>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3" name="墨迹 22">
                  <a:extLst>
                    <a:ext uri="{FF2B5EF4-FFF2-40B4-BE49-F238E27FC236}">
                      <a16:creationId xmlns:a16="http://schemas.microsoft.com/office/drawing/2014/main" id="{1FB61495-427F-2B29-FB27-461BC0D31FF0}"/>
                    </a:ext>
                  </a:extLst>
                </p14:cNvPr>
                <p14:cNvContentPartPr/>
                <p14:nvPr/>
              </p14:nvContentPartPr>
              <p14:xfrm>
                <a:off x="1359000" y="3426669"/>
                <a:ext cx="588960" cy="10800"/>
              </p14:xfrm>
            </p:contentPart>
          </mc:Choice>
          <mc:Fallback xmlns="">
            <p:pic>
              <p:nvPicPr>
                <p:cNvPr id="23" name="墨迹 22">
                  <a:extLst>
                    <a:ext uri="{FF2B5EF4-FFF2-40B4-BE49-F238E27FC236}">
                      <a16:creationId xmlns:a16="http://schemas.microsoft.com/office/drawing/2014/main" id="{1FB61495-427F-2B29-FB27-461BC0D31FF0}"/>
                    </a:ext>
                  </a:extLst>
                </p:cNvPr>
                <p:cNvPicPr/>
                <p:nvPr/>
              </p:nvPicPr>
              <p:blipFill>
                <a:blip r:embed="rId17"/>
                <a:stretch>
                  <a:fillRect/>
                </a:stretch>
              </p:blipFill>
              <p:spPr>
                <a:xfrm>
                  <a:off x="1341360" y="3408669"/>
                  <a:ext cx="624600" cy="46440"/>
                </a:xfrm>
                <a:prstGeom prst="rect">
                  <a:avLst/>
                </a:prstGeom>
              </p:spPr>
            </p:pic>
          </mc:Fallback>
        </mc:AlternateContent>
      </p:grpSp>
    </p:spTree>
    <p:extLst>
      <p:ext uri="{BB962C8B-B14F-4D97-AF65-F5344CB8AC3E}">
        <p14:creationId xmlns:p14="http://schemas.microsoft.com/office/powerpoint/2010/main" val="1655785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目录</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30</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482390A-8D13-2A75-EBB3-68512EEFCF67}"/>
              </a:ext>
            </a:extLst>
          </p:cNvPr>
          <p:cNvSpPr txBox="1"/>
          <p:nvPr/>
        </p:nvSpPr>
        <p:spPr>
          <a:xfrm>
            <a:off x="838200" y="1957388"/>
            <a:ext cx="3976688" cy="2246769"/>
          </a:xfrm>
          <a:prstGeom prst="rect">
            <a:avLst/>
          </a:prstGeom>
          <a:noFill/>
        </p:spPr>
        <p:txBody>
          <a:bodyPr wrap="square" rtlCol="0">
            <a:spAutoFit/>
          </a:bodyPr>
          <a:lstStyle/>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课程学习</a:t>
            </a:r>
            <a:r>
              <a:rPr kumimoji="1" lang="en-US" altLang="zh-CN" sz="2800" b="1" dirty="0">
                <a:solidFill>
                  <a:schemeClr val="bg2">
                    <a:lumMod val="75000"/>
                  </a:schemeClr>
                </a:solidFill>
              </a:rPr>
              <a:t>&amp;</a:t>
            </a:r>
            <a:r>
              <a:rPr kumimoji="1" lang="zh-CN" altLang="en-US" sz="2800" b="1" dirty="0">
                <a:solidFill>
                  <a:schemeClr val="bg2">
                    <a:lumMod val="75000"/>
                  </a:schemeClr>
                </a:solidFill>
              </a:rPr>
              <a:t>科研工作</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p>
          <a:p>
            <a:pPr marL="457200" indent="-457200">
              <a:buClr>
                <a:srgbClr val="C00000"/>
              </a:buClr>
              <a:buSzPct val="50000"/>
              <a:buFont typeface="Wingdings" pitchFamily="2" charset="0"/>
              <a:buChar char="n"/>
            </a:pPr>
            <a:r>
              <a:rPr kumimoji="1" lang="zh-CN" altLang="en-US" sz="2800" b="1" dirty="0">
                <a:solidFill>
                  <a:schemeClr val="bg2">
                    <a:lumMod val="75000"/>
                  </a:schemeClr>
                </a:solidFill>
              </a:rPr>
              <a:t>主持项目</a:t>
            </a:r>
            <a:r>
              <a:rPr kumimoji="1" lang="en-US" altLang="zh-CN" sz="2800" b="1" dirty="0">
                <a:solidFill>
                  <a:schemeClr val="bg2">
                    <a:lumMod val="75000"/>
                  </a:schemeClr>
                </a:solidFill>
              </a:rPr>
              <a:t>&amp;</a:t>
            </a:r>
            <a:r>
              <a:rPr kumimoji="1" lang="zh-CN" altLang="en-US" sz="2800" b="1" dirty="0">
                <a:solidFill>
                  <a:schemeClr val="bg2">
                    <a:lumMod val="75000"/>
                  </a:schemeClr>
                </a:solidFill>
              </a:rPr>
              <a:t>应用落地</a:t>
            </a: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endParaRPr kumimoji="1" lang="en-US" altLang="zh-CN" sz="2800" b="1" dirty="0">
              <a:solidFill>
                <a:schemeClr val="bg2">
                  <a:lumMod val="75000"/>
                </a:schemeClr>
              </a:solidFill>
            </a:endParaRPr>
          </a:p>
          <a:p>
            <a:pPr marL="457200" indent="-457200">
              <a:buClr>
                <a:srgbClr val="C00000"/>
              </a:buClr>
              <a:buSzPct val="50000"/>
              <a:buFont typeface="Wingdings" pitchFamily="2" charset="0"/>
              <a:buChar char="n"/>
            </a:pPr>
            <a:r>
              <a:rPr kumimoji="1" lang="zh-CN" altLang="en-US" sz="2800" b="1" dirty="0"/>
              <a:t>服务贡献</a:t>
            </a:r>
            <a:r>
              <a:rPr kumimoji="1" lang="en-US" altLang="zh-CN" sz="2800" b="1" dirty="0"/>
              <a:t>&amp;</a:t>
            </a:r>
            <a:r>
              <a:rPr kumimoji="1" lang="zh-CN" altLang="en-US" sz="2800" b="1" dirty="0"/>
              <a:t>获奖表彰</a:t>
            </a:r>
          </a:p>
        </p:txBody>
      </p:sp>
    </p:spTree>
    <p:extLst>
      <p:ext uri="{BB962C8B-B14F-4D97-AF65-F5344CB8AC3E}">
        <p14:creationId xmlns:p14="http://schemas.microsoft.com/office/powerpoint/2010/main" val="3879140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ACA84-64C1-7ED6-9ADF-BD3C9B86F70D}"/>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rPr>
              <a:t>服务贡献</a:t>
            </a:r>
            <a:r>
              <a:rPr kumimoji="1" lang="en-US" altLang="zh-CN" b="1" dirty="0">
                <a:latin typeface="Microsoft YaHei" panose="020B0503020204020204" pitchFamily="34" charset="-122"/>
                <a:ea typeface="Microsoft YaHei" panose="020B0503020204020204" pitchFamily="34" charset="-122"/>
              </a:rPr>
              <a:t>&amp;</a:t>
            </a:r>
            <a:r>
              <a:rPr kumimoji="1" lang="zh-CN" altLang="en-US" b="1" dirty="0">
                <a:latin typeface="Microsoft YaHei" panose="020B0503020204020204" pitchFamily="34" charset="-122"/>
                <a:ea typeface="Microsoft YaHei" panose="020B0503020204020204" pitchFamily="34" charset="-122"/>
              </a:rPr>
              <a:t>获奖表彰</a:t>
            </a:r>
          </a:p>
        </p:txBody>
      </p:sp>
      <p:sp>
        <p:nvSpPr>
          <p:cNvPr id="3" name="日期占位符 2">
            <a:extLst>
              <a:ext uri="{FF2B5EF4-FFF2-40B4-BE49-F238E27FC236}">
                <a16:creationId xmlns:a16="http://schemas.microsoft.com/office/drawing/2014/main" id="{261C181F-2DBB-3F51-C563-474170CC822E}"/>
              </a:ext>
            </a:extLst>
          </p:cNvPr>
          <p:cNvSpPr>
            <a:spLocks noGrp="1"/>
          </p:cNvSpPr>
          <p:nvPr>
            <p:ph type="dt" sz="half" idx="10"/>
          </p:nvPr>
        </p:nvSpPr>
        <p:spPr/>
        <p:txBody>
          <a:bodyPr/>
          <a:lstStyle/>
          <a:p>
            <a:pPr algn="r"/>
            <a:fld id="{32600EE8-1FA2-44F3-B56A-58EB2B03EE90}" type="datetime1">
              <a:rPr lang="zh-CN" altLang="en-US" sz="1500" smtClean="0">
                <a:solidFill>
                  <a:schemeClr val="bg1"/>
                </a:solidFill>
                <a:latin typeface="Times New Roman" panose="02020603050405020304" pitchFamily="18" charset="0"/>
                <a:cs typeface="Times New Roman" panose="02020603050405020304" pitchFamily="18" charset="0"/>
              </a:rPr>
              <a:t>2025/8/3</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7FF3204E-ABDE-6074-73FC-F09127B12695}"/>
              </a:ext>
            </a:extLst>
          </p:cNvPr>
          <p:cNvSpPr>
            <a:spLocks noGrp="1"/>
          </p:cNvSpPr>
          <p:nvPr>
            <p:ph type="sldNum" sz="quarter" idx="12"/>
          </p:nvPr>
        </p:nvSpPr>
        <p:spPr/>
        <p:txBody>
          <a:bodyPr/>
          <a:lstStyle/>
          <a:p>
            <a:pPr algn="ctr"/>
            <a:fld id="{B91BDC8C-2CCA-4422-809C-4566AB0B234F}" type="slidenum">
              <a:rPr lang="zh-CN" altLang="en-US" sz="1500" smtClean="0">
                <a:solidFill>
                  <a:schemeClr val="bg1"/>
                </a:solidFill>
                <a:latin typeface="Times New Roman" panose="02020603050405020304" pitchFamily="18" charset="0"/>
                <a:cs typeface="Times New Roman" panose="02020603050405020304" pitchFamily="18" charset="0"/>
              </a:rPr>
              <a:pPr algn="ctr"/>
              <a:t>31</a:t>
            </a:fld>
            <a:endParaRPr lang="zh-CN" altLang="en-US" sz="1500" dirty="0">
              <a:solidFill>
                <a:schemeClr val="bg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9642276D-61EB-5D34-B5AD-66BD63E2CC28}"/>
              </a:ext>
            </a:extLst>
          </p:cNvPr>
          <p:cNvCxnSpPr/>
          <p:nvPr/>
        </p:nvCxnSpPr>
        <p:spPr>
          <a:xfrm>
            <a:off x="838200" y="1458686"/>
            <a:ext cx="974271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CC1CD1F-1A82-2B3C-F1A6-27ECF9C91A63}"/>
              </a:ext>
            </a:extLst>
          </p:cNvPr>
          <p:cNvSpPr txBox="1"/>
          <p:nvPr/>
        </p:nvSpPr>
        <p:spPr>
          <a:xfrm>
            <a:off x="4138455" y="5465277"/>
            <a:ext cx="7916920" cy="830997"/>
          </a:xfrm>
          <a:prstGeom prst="rect">
            <a:avLst/>
          </a:prstGeom>
          <a:noFill/>
        </p:spPr>
        <p:txBody>
          <a:bodyPr wrap="square">
            <a:spAutoFit/>
          </a:bodyPr>
          <a:lstStyle/>
          <a:p>
            <a:r>
              <a:rPr kumimoji="1" lang="zh-CN" altLang="en-US" sz="4800" b="1" dirty="0">
                <a:latin typeface="SimHei" panose="02010609060101010101" pitchFamily="49" charset="-122"/>
                <a:ea typeface="SimHei" panose="02010609060101010101" pitchFamily="49" charset="-122"/>
              </a:rPr>
              <a:t>谢谢！</a:t>
            </a:r>
            <a:endParaRPr lang="zh-CN" altLang="en-US" sz="4800" dirty="0"/>
          </a:p>
        </p:txBody>
      </p:sp>
      <p:grpSp>
        <p:nvGrpSpPr>
          <p:cNvPr id="23" name="组合 22">
            <a:extLst>
              <a:ext uri="{FF2B5EF4-FFF2-40B4-BE49-F238E27FC236}">
                <a16:creationId xmlns:a16="http://schemas.microsoft.com/office/drawing/2014/main" id="{421C4357-5A2B-BB96-CD11-E2EE7C8D3AEE}"/>
              </a:ext>
            </a:extLst>
          </p:cNvPr>
          <p:cNvGrpSpPr/>
          <p:nvPr/>
        </p:nvGrpSpPr>
        <p:grpSpPr>
          <a:xfrm>
            <a:off x="6900918" y="1844988"/>
            <a:ext cx="4894527" cy="3168024"/>
            <a:chOff x="1498724" y="2442834"/>
            <a:chExt cx="5301198" cy="3752117"/>
          </a:xfrm>
        </p:grpSpPr>
        <p:pic>
          <p:nvPicPr>
            <p:cNvPr id="9" name="图片 8">
              <a:extLst>
                <a:ext uri="{FF2B5EF4-FFF2-40B4-BE49-F238E27FC236}">
                  <a16:creationId xmlns:a16="http://schemas.microsoft.com/office/drawing/2014/main" id="{4C4418E7-E9E8-681D-7582-C1D41F260B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8724" y="2442834"/>
              <a:ext cx="5301198" cy="3752117"/>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0" name="墨迹 19">
                  <a:extLst>
                    <a:ext uri="{FF2B5EF4-FFF2-40B4-BE49-F238E27FC236}">
                      <a16:creationId xmlns:a16="http://schemas.microsoft.com/office/drawing/2014/main" id="{2A90CAE4-6643-B39D-19CA-5A749EA8DF82}"/>
                    </a:ext>
                  </a:extLst>
                </p14:cNvPr>
                <p14:cNvContentPartPr/>
                <p14:nvPr/>
              </p14:nvContentPartPr>
              <p14:xfrm>
                <a:off x="3512520" y="4164669"/>
                <a:ext cx="1786320" cy="103680"/>
              </p14:xfrm>
            </p:contentPart>
          </mc:Choice>
          <mc:Fallback xmlns="">
            <p:pic>
              <p:nvPicPr>
                <p:cNvPr id="20" name="墨迹 19">
                  <a:extLst>
                    <a:ext uri="{FF2B5EF4-FFF2-40B4-BE49-F238E27FC236}">
                      <a16:creationId xmlns:a16="http://schemas.microsoft.com/office/drawing/2014/main" id="{2A90CAE4-6643-B39D-19CA-5A749EA8DF82}"/>
                    </a:ext>
                  </a:extLst>
                </p:cNvPr>
                <p:cNvPicPr/>
                <p:nvPr/>
              </p:nvPicPr>
              <p:blipFill>
                <a:blip r:embed="rId4"/>
                <a:stretch>
                  <a:fillRect/>
                </a:stretch>
              </p:blipFill>
              <p:spPr>
                <a:xfrm>
                  <a:off x="3493023" y="4143336"/>
                  <a:ext cx="1824924" cy="145920"/>
                </a:xfrm>
                <a:prstGeom prst="rect">
                  <a:avLst/>
                </a:prstGeom>
              </p:spPr>
            </p:pic>
          </mc:Fallback>
        </mc:AlternateContent>
      </p:grpSp>
      <p:grpSp>
        <p:nvGrpSpPr>
          <p:cNvPr id="22" name="组合 21">
            <a:extLst>
              <a:ext uri="{FF2B5EF4-FFF2-40B4-BE49-F238E27FC236}">
                <a16:creationId xmlns:a16="http://schemas.microsoft.com/office/drawing/2014/main" id="{961FDD55-F6A3-5479-E24B-F4B7CA9B2749}"/>
              </a:ext>
            </a:extLst>
          </p:cNvPr>
          <p:cNvGrpSpPr/>
          <p:nvPr/>
        </p:nvGrpSpPr>
        <p:grpSpPr>
          <a:xfrm>
            <a:off x="7113058" y="2005106"/>
            <a:ext cx="4943629" cy="3449012"/>
            <a:chOff x="1755080" y="2366184"/>
            <a:chExt cx="5301199" cy="3746097"/>
          </a:xfrm>
        </p:grpSpPr>
        <p:pic>
          <p:nvPicPr>
            <p:cNvPr id="11" name="图片 10">
              <a:extLst>
                <a:ext uri="{FF2B5EF4-FFF2-40B4-BE49-F238E27FC236}">
                  <a16:creationId xmlns:a16="http://schemas.microsoft.com/office/drawing/2014/main" id="{AF6C22C0-1B08-251F-EA73-2B03200FC7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5080" y="2366184"/>
              <a:ext cx="5301199" cy="3746097"/>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6">
              <p14:nvContentPartPr>
                <p14:cNvPr id="21" name="墨迹 20">
                  <a:extLst>
                    <a:ext uri="{FF2B5EF4-FFF2-40B4-BE49-F238E27FC236}">
                      <a16:creationId xmlns:a16="http://schemas.microsoft.com/office/drawing/2014/main" id="{A37B2CB9-6665-92B4-4A31-D9963141F71F}"/>
                    </a:ext>
                  </a:extLst>
                </p14:cNvPr>
                <p14:cNvContentPartPr/>
                <p14:nvPr/>
              </p14:nvContentPartPr>
              <p14:xfrm>
                <a:off x="3721860" y="3159959"/>
                <a:ext cx="1367640" cy="182520"/>
              </p14:xfrm>
            </p:contentPart>
          </mc:Choice>
          <mc:Fallback xmlns="">
            <p:pic>
              <p:nvPicPr>
                <p:cNvPr id="21" name="墨迹 20">
                  <a:extLst>
                    <a:ext uri="{FF2B5EF4-FFF2-40B4-BE49-F238E27FC236}">
                      <a16:creationId xmlns:a16="http://schemas.microsoft.com/office/drawing/2014/main" id="{A37B2CB9-6665-92B4-4A31-D9963141F71F}"/>
                    </a:ext>
                  </a:extLst>
                </p:cNvPr>
                <p:cNvPicPr/>
                <p:nvPr/>
              </p:nvPicPr>
              <p:blipFill>
                <a:blip r:embed="rId7"/>
                <a:stretch>
                  <a:fillRect/>
                </a:stretch>
              </p:blipFill>
              <p:spPr>
                <a:xfrm>
                  <a:off x="3702559" y="3140417"/>
                  <a:ext cx="1405855" cy="221213"/>
                </a:xfrm>
                <a:prstGeom prst="rect">
                  <a:avLst/>
                </a:prstGeom>
              </p:spPr>
            </p:pic>
          </mc:Fallback>
        </mc:AlternateContent>
      </p:grpSp>
      <p:grpSp>
        <p:nvGrpSpPr>
          <p:cNvPr id="26" name="组合 25">
            <a:extLst>
              <a:ext uri="{FF2B5EF4-FFF2-40B4-BE49-F238E27FC236}">
                <a16:creationId xmlns:a16="http://schemas.microsoft.com/office/drawing/2014/main" id="{B4A1CDD3-23AB-B988-7747-E60FC4A11A79}"/>
              </a:ext>
            </a:extLst>
          </p:cNvPr>
          <p:cNvGrpSpPr/>
          <p:nvPr/>
        </p:nvGrpSpPr>
        <p:grpSpPr>
          <a:xfrm>
            <a:off x="7565078" y="1694438"/>
            <a:ext cx="2454799" cy="4231036"/>
            <a:chOff x="6382529" y="1690688"/>
            <a:chExt cx="2454799" cy="4231036"/>
          </a:xfrm>
        </p:grpSpPr>
        <p:pic>
          <p:nvPicPr>
            <p:cNvPr id="17" name="图片 16">
              <a:extLst>
                <a:ext uri="{FF2B5EF4-FFF2-40B4-BE49-F238E27FC236}">
                  <a16:creationId xmlns:a16="http://schemas.microsoft.com/office/drawing/2014/main" id="{A58176A9-F53B-949C-81B2-C333865598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2529" y="1690688"/>
              <a:ext cx="2454799" cy="42310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5" name="墨迹 24">
                  <a:extLst>
                    <a:ext uri="{FF2B5EF4-FFF2-40B4-BE49-F238E27FC236}">
                      <a16:creationId xmlns:a16="http://schemas.microsoft.com/office/drawing/2014/main" id="{B0AC1A32-571C-0ED5-7518-F7A4AF24DF0A}"/>
                    </a:ext>
                  </a:extLst>
                </p14:cNvPr>
                <p14:cNvContentPartPr/>
                <p14:nvPr/>
              </p14:nvContentPartPr>
              <p14:xfrm>
                <a:off x="6914366" y="1890189"/>
                <a:ext cx="697320" cy="250560"/>
              </p14:xfrm>
            </p:contentPart>
          </mc:Choice>
          <mc:Fallback xmlns="">
            <p:pic>
              <p:nvPicPr>
                <p:cNvPr id="25" name="墨迹 24">
                  <a:extLst>
                    <a:ext uri="{FF2B5EF4-FFF2-40B4-BE49-F238E27FC236}">
                      <a16:creationId xmlns:a16="http://schemas.microsoft.com/office/drawing/2014/main" id="{B0AC1A32-571C-0ED5-7518-F7A4AF24DF0A}"/>
                    </a:ext>
                  </a:extLst>
                </p:cNvPr>
                <p:cNvPicPr/>
                <p:nvPr/>
              </p:nvPicPr>
              <p:blipFill>
                <a:blip r:embed="rId10"/>
                <a:stretch>
                  <a:fillRect/>
                </a:stretch>
              </p:blipFill>
              <p:spPr>
                <a:xfrm>
                  <a:off x="6896366" y="1872549"/>
                  <a:ext cx="732960" cy="286200"/>
                </a:xfrm>
                <a:prstGeom prst="rect">
                  <a:avLst/>
                </a:prstGeom>
              </p:spPr>
            </p:pic>
          </mc:Fallback>
        </mc:AlternateContent>
      </p:grpSp>
      <p:grpSp>
        <p:nvGrpSpPr>
          <p:cNvPr id="29" name="组合 28">
            <a:extLst>
              <a:ext uri="{FF2B5EF4-FFF2-40B4-BE49-F238E27FC236}">
                <a16:creationId xmlns:a16="http://schemas.microsoft.com/office/drawing/2014/main" id="{72F58BD0-F8D3-AE22-29DB-A063EE581269}"/>
              </a:ext>
            </a:extLst>
          </p:cNvPr>
          <p:cNvGrpSpPr/>
          <p:nvPr/>
        </p:nvGrpSpPr>
        <p:grpSpPr>
          <a:xfrm>
            <a:off x="8349890" y="1244860"/>
            <a:ext cx="3385598" cy="4969503"/>
            <a:chOff x="8366259" y="1169483"/>
            <a:chExt cx="3385598" cy="4969503"/>
          </a:xfrm>
        </p:grpSpPr>
        <p:pic>
          <p:nvPicPr>
            <p:cNvPr id="15" name="图片 14">
              <a:extLst>
                <a:ext uri="{FF2B5EF4-FFF2-40B4-BE49-F238E27FC236}">
                  <a16:creationId xmlns:a16="http://schemas.microsoft.com/office/drawing/2014/main" id="{6CDA0AF6-4326-FB01-1FA6-07E9D984F94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66259" y="1169483"/>
              <a:ext cx="3385598" cy="4969503"/>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27" name="墨迹 26">
                  <a:extLst>
                    <a:ext uri="{FF2B5EF4-FFF2-40B4-BE49-F238E27FC236}">
                      <a16:creationId xmlns:a16="http://schemas.microsoft.com/office/drawing/2014/main" id="{86C3FF55-902F-E8EF-203B-F9C9E475DB21}"/>
                    </a:ext>
                  </a:extLst>
                </p14:cNvPr>
                <p14:cNvContentPartPr/>
                <p14:nvPr/>
              </p14:nvContentPartPr>
              <p14:xfrm>
                <a:off x="9953846" y="1585989"/>
                <a:ext cx="250920" cy="31320"/>
              </p14:xfrm>
            </p:contentPart>
          </mc:Choice>
          <mc:Fallback xmlns="">
            <p:pic>
              <p:nvPicPr>
                <p:cNvPr id="27" name="墨迹 26">
                  <a:extLst>
                    <a:ext uri="{FF2B5EF4-FFF2-40B4-BE49-F238E27FC236}">
                      <a16:creationId xmlns:a16="http://schemas.microsoft.com/office/drawing/2014/main" id="{86C3FF55-902F-E8EF-203B-F9C9E475DB21}"/>
                    </a:ext>
                  </a:extLst>
                </p:cNvPr>
                <p:cNvPicPr/>
                <p:nvPr/>
              </p:nvPicPr>
              <p:blipFill>
                <a:blip r:embed="rId13"/>
                <a:stretch>
                  <a:fillRect/>
                </a:stretch>
              </p:blipFill>
              <p:spPr>
                <a:xfrm>
                  <a:off x="9936206" y="1567989"/>
                  <a:ext cx="286560" cy="6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8" name="墨迹 27">
                  <a:extLst>
                    <a:ext uri="{FF2B5EF4-FFF2-40B4-BE49-F238E27FC236}">
                      <a16:creationId xmlns:a16="http://schemas.microsoft.com/office/drawing/2014/main" id="{A9BA0751-E5B8-C2E5-9892-EED27991A454}"/>
                    </a:ext>
                  </a:extLst>
                </p14:cNvPr>
                <p14:cNvContentPartPr/>
                <p14:nvPr/>
              </p14:nvContentPartPr>
              <p14:xfrm>
                <a:off x="10321766" y="5586309"/>
                <a:ext cx="160920" cy="11520"/>
              </p14:xfrm>
            </p:contentPart>
          </mc:Choice>
          <mc:Fallback xmlns="">
            <p:pic>
              <p:nvPicPr>
                <p:cNvPr id="28" name="墨迹 27">
                  <a:extLst>
                    <a:ext uri="{FF2B5EF4-FFF2-40B4-BE49-F238E27FC236}">
                      <a16:creationId xmlns:a16="http://schemas.microsoft.com/office/drawing/2014/main" id="{A9BA0751-E5B8-C2E5-9892-EED27991A454}"/>
                    </a:ext>
                  </a:extLst>
                </p:cNvPr>
                <p:cNvPicPr/>
                <p:nvPr/>
              </p:nvPicPr>
              <p:blipFill>
                <a:blip r:embed="rId15"/>
                <a:stretch>
                  <a:fillRect/>
                </a:stretch>
              </p:blipFill>
              <p:spPr>
                <a:xfrm>
                  <a:off x="10304126" y="5568309"/>
                  <a:ext cx="196560" cy="47160"/>
                </a:xfrm>
                <a:prstGeom prst="rect">
                  <a:avLst/>
                </a:prstGeom>
              </p:spPr>
            </p:pic>
          </mc:Fallback>
        </mc:AlternateContent>
      </p:grpSp>
      <p:sp>
        <p:nvSpPr>
          <p:cNvPr id="5" name="文本框 4">
            <a:extLst>
              <a:ext uri="{FF2B5EF4-FFF2-40B4-BE49-F238E27FC236}">
                <a16:creationId xmlns:a16="http://schemas.microsoft.com/office/drawing/2014/main" id="{97962B23-92B3-4F5A-A3EE-B6B5EE0A11C7}"/>
              </a:ext>
            </a:extLst>
          </p:cNvPr>
          <p:cNvSpPr txBox="1"/>
          <p:nvPr/>
        </p:nvSpPr>
        <p:spPr>
          <a:xfrm>
            <a:off x="391221" y="1672294"/>
            <a:ext cx="6380063" cy="3785652"/>
          </a:xfrm>
          <a:prstGeom prst="rect">
            <a:avLst/>
          </a:prstGeom>
          <a:noFill/>
        </p:spPr>
        <p:txBody>
          <a:bodyPr wrap="square" rtlCol="0">
            <a:spAutoFit/>
          </a:bodyPr>
          <a:lstStyle/>
          <a:p>
            <a:pPr marL="285750" indent="-285750">
              <a:buClr>
                <a:srgbClr val="FF0000"/>
              </a:buClr>
              <a:buSzPct val="50000"/>
              <a:buFont typeface="Wingdings" pitchFamily="2" charset="2"/>
              <a:buChar char="n"/>
            </a:pPr>
            <a:r>
              <a:rPr kumimoji="1" lang="zh-CN" altLang="en-US" sz="2400" dirty="0"/>
              <a:t>参加</a:t>
            </a:r>
            <a:r>
              <a:rPr kumimoji="1" lang="en-US" altLang="zh-CN" sz="2400" dirty="0"/>
              <a:t>SIGCOMM’23</a:t>
            </a:r>
            <a:r>
              <a:rPr kumimoji="1" lang="zh-CN" altLang="en-US" sz="2400" dirty="0"/>
              <a:t>，</a:t>
            </a:r>
            <a:r>
              <a:rPr kumimoji="1" lang="en-US" altLang="zh-CN" sz="2400" dirty="0"/>
              <a:t>TRUC’23</a:t>
            </a:r>
            <a:r>
              <a:rPr kumimoji="1" lang="zh-CN" altLang="en-US" sz="2400" dirty="0"/>
              <a:t>会议，并上台报告</a:t>
            </a:r>
            <a:endParaRPr kumimoji="1" lang="en-US" altLang="zh-CN" sz="2400" dirty="0"/>
          </a:p>
          <a:p>
            <a:pPr marL="285750" indent="-285750">
              <a:buClr>
                <a:srgbClr val="FF0000"/>
              </a:buClr>
              <a:buSzPct val="50000"/>
              <a:buFont typeface="Wingdings" pitchFamily="2" charset="2"/>
              <a:buChar char="n"/>
            </a:pPr>
            <a:endParaRPr kumimoji="1" lang="en-US" altLang="zh-CN" sz="2400" dirty="0"/>
          </a:p>
          <a:p>
            <a:pPr marL="285750" indent="-285750">
              <a:buClr>
                <a:srgbClr val="FF0000"/>
              </a:buClr>
              <a:buSzPct val="50000"/>
              <a:buFont typeface="Wingdings" pitchFamily="2" charset="2"/>
              <a:buChar char="n"/>
            </a:pPr>
            <a:r>
              <a:rPr kumimoji="1" lang="en-US" altLang="zh-CN" sz="2400" dirty="0"/>
              <a:t>2023</a:t>
            </a:r>
            <a:r>
              <a:rPr kumimoji="1" lang="zh-CN" altLang="en-US" sz="2400" dirty="0"/>
              <a:t> 未来之光</a:t>
            </a:r>
            <a:r>
              <a:rPr kumimoji="1" lang="en-US" altLang="zh-CN" sz="2400" dirty="0"/>
              <a:t>—</a:t>
            </a:r>
            <a:r>
              <a:rPr kumimoji="1" lang="zh-CN" altLang="en-US" sz="2400" dirty="0"/>
              <a:t>未来网络科技创新大赛二等奖</a:t>
            </a:r>
            <a:endParaRPr kumimoji="1" lang="en-US" altLang="zh-CN" sz="2400" dirty="0"/>
          </a:p>
          <a:p>
            <a:pPr marL="285750" indent="-285750">
              <a:buClr>
                <a:srgbClr val="FF0000"/>
              </a:buClr>
              <a:buSzPct val="50000"/>
              <a:buFont typeface="Wingdings" pitchFamily="2" charset="2"/>
              <a:buChar char="n"/>
            </a:pPr>
            <a:endParaRPr kumimoji="1" lang="en-US" altLang="zh-CN" sz="2400" b="1" dirty="0"/>
          </a:p>
          <a:p>
            <a:pPr marL="285750" indent="-285750">
              <a:buClr>
                <a:srgbClr val="FF0000"/>
              </a:buClr>
              <a:buSzPct val="50000"/>
              <a:buFont typeface="Wingdings" pitchFamily="2" charset="2"/>
              <a:buChar char="n"/>
            </a:pPr>
            <a:r>
              <a:rPr kumimoji="1" lang="zh-CN" altLang="en-US" sz="2400" dirty="0"/>
              <a:t>协助导师审稿包括</a:t>
            </a:r>
            <a:r>
              <a:rPr kumimoji="1" lang="en-US" altLang="zh-CN" sz="2400" dirty="0"/>
              <a:t>ICNP</a:t>
            </a:r>
            <a:r>
              <a:rPr kumimoji="1" lang="zh-CN" altLang="en-US" sz="2400" dirty="0"/>
              <a:t>，</a:t>
            </a:r>
            <a:r>
              <a:rPr kumimoji="1" lang="en-US" altLang="zh-CN" sz="2400" dirty="0"/>
              <a:t>INFOCOM</a:t>
            </a:r>
            <a:r>
              <a:rPr kumimoji="1" lang="zh-CN" altLang="en-US" sz="2400" dirty="0"/>
              <a:t>在内的多个会议论文</a:t>
            </a:r>
            <a:endParaRPr kumimoji="1" lang="en-US" altLang="zh-CN" sz="2400" dirty="0"/>
          </a:p>
          <a:p>
            <a:pPr marL="285750" indent="-285750">
              <a:buClr>
                <a:srgbClr val="FF0000"/>
              </a:buClr>
              <a:buSzPct val="50000"/>
              <a:buFont typeface="Wingdings" pitchFamily="2" charset="2"/>
              <a:buChar char="n"/>
            </a:pPr>
            <a:endParaRPr kumimoji="1" lang="en-US" altLang="zh-CN" sz="2400" b="1" dirty="0"/>
          </a:p>
          <a:p>
            <a:pPr marL="285750" indent="-285750">
              <a:buClr>
                <a:srgbClr val="FF0000"/>
              </a:buClr>
              <a:buSzPct val="50000"/>
              <a:buFont typeface="Wingdings" pitchFamily="2" charset="2"/>
              <a:buChar char="n"/>
            </a:pPr>
            <a:r>
              <a:rPr kumimoji="1" lang="zh-CN" altLang="en-US" sz="2400" dirty="0"/>
              <a:t>参加南京大学研究生风采展示</a:t>
            </a:r>
          </a:p>
        </p:txBody>
      </p:sp>
    </p:spTree>
    <p:extLst>
      <p:ext uri="{BB962C8B-B14F-4D97-AF65-F5344CB8AC3E}">
        <p14:creationId xmlns:p14="http://schemas.microsoft.com/office/powerpoint/2010/main" val="333662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87964</TotalTime>
  <Words>3104</Words>
  <Application>Microsoft Macintosh PowerPoint</Application>
  <PresentationFormat>宽屏</PresentationFormat>
  <Paragraphs>446</Paragraphs>
  <Slides>31</Slides>
  <Notes>26</Notes>
  <HiddenSlides>4</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等线</vt:lpstr>
      <vt:lpstr>SimHei</vt:lpstr>
      <vt:lpstr>KaiTi</vt:lpstr>
      <vt:lpstr>Microsoft YaHei</vt:lpstr>
      <vt:lpstr>quote-cjk-patch</vt:lpstr>
      <vt:lpstr>Arial</vt:lpstr>
      <vt:lpstr>Calibri</vt:lpstr>
      <vt:lpstr>Calibri Light</vt:lpstr>
      <vt:lpstr>Cambria Math</vt:lpstr>
      <vt:lpstr>Courier New</vt:lpstr>
      <vt:lpstr>Source Sans Pro</vt:lpstr>
      <vt:lpstr>Times New Roman</vt:lpstr>
      <vt:lpstr>Wingdings</vt:lpstr>
      <vt:lpstr>Office 主题​​</vt:lpstr>
      <vt:lpstr>PowerPoint 演示文稿</vt:lpstr>
      <vt:lpstr>研究背景</vt:lpstr>
      <vt:lpstr>DNS-based v.s. IP Anycast-based</vt:lpstr>
      <vt:lpstr>目录</vt:lpstr>
      <vt:lpstr>研究背景</vt:lpstr>
      <vt:lpstr>研究内容</vt:lpstr>
      <vt:lpstr>研究结果---CDNProbe</vt:lpstr>
      <vt:lpstr>研究结果---AnyTool</vt:lpstr>
      <vt:lpstr>研究结果---区域任播测量</vt:lpstr>
      <vt:lpstr>研究结果---区域任播测量</vt:lpstr>
      <vt:lpstr>研究结果：多种原因导致路由低效</vt:lpstr>
      <vt:lpstr>研究结果：任播的路由翻转</vt:lpstr>
      <vt:lpstr>目录</vt:lpstr>
      <vt:lpstr>研究背景</vt:lpstr>
      <vt:lpstr>研究内容：max-min轮询</vt:lpstr>
      <vt:lpstr>研究内容：约束求解及冲突化解</vt:lpstr>
      <vt:lpstr>研究结果</vt:lpstr>
      <vt:lpstr>研究结果</vt:lpstr>
      <vt:lpstr>目录</vt:lpstr>
      <vt:lpstr>研究背景</vt:lpstr>
      <vt:lpstr>研究内容：AnyTuner</vt:lpstr>
      <vt:lpstr>研究内容：数据处理</vt:lpstr>
      <vt:lpstr>研究内容：推荐引擎</vt:lpstr>
      <vt:lpstr>研究内容：流量模型</vt:lpstr>
      <vt:lpstr>研究结果</vt:lpstr>
      <vt:lpstr>研究结果</vt:lpstr>
      <vt:lpstr>PowerPoint 演示文稿</vt:lpstr>
      <vt:lpstr>目录</vt:lpstr>
      <vt:lpstr>主持项目&amp;落地应用</vt:lpstr>
      <vt:lpstr>目录</vt:lpstr>
      <vt:lpstr>服务贡献&amp;获奖表彰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Zheng zhiwen</dc:creator>
  <cp:lastModifiedBy>周敏苑</cp:lastModifiedBy>
  <cp:revision>414</cp:revision>
  <dcterms:created xsi:type="dcterms:W3CDTF">2018-11-09T00:31:21Z</dcterms:created>
  <dcterms:modified xsi:type="dcterms:W3CDTF">2025-08-04T04:55:50Z</dcterms:modified>
</cp:coreProperties>
</file>